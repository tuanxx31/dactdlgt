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73" r:id="rId1"/>
  </p:sldMasterIdLst>
  <p:notesMasterIdLst>
    <p:notesMasterId r:id="rId21"/>
  </p:notesMasterIdLst>
  <p:handoutMasterIdLst>
    <p:handoutMasterId r:id="rId22"/>
  </p:handoutMasterIdLst>
  <p:sldIdLst>
    <p:sldId id="257" r:id="rId2"/>
    <p:sldId id="795" r:id="rId3"/>
    <p:sldId id="796" r:id="rId4"/>
    <p:sldId id="794" r:id="rId5"/>
    <p:sldId id="797" r:id="rId6"/>
    <p:sldId id="798" r:id="rId7"/>
    <p:sldId id="799" r:id="rId8"/>
    <p:sldId id="800" r:id="rId9"/>
    <p:sldId id="786" r:id="rId10"/>
    <p:sldId id="785" r:id="rId11"/>
    <p:sldId id="787" r:id="rId12"/>
    <p:sldId id="693" r:id="rId13"/>
    <p:sldId id="789" r:id="rId14"/>
    <p:sldId id="801" r:id="rId15"/>
    <p:sldId id="790" r:id="rId16"/>
    <p:sldId id="791" r:id="rId17"/>
    <p:sldId id="793" r:id="rId18"/>
    <p:sldId id="792" r:id="rId19"/>
    <p:sldId id="788" r:id="rId20"/>
  </p:sldIdLst>
  <p:sldSz cx="12192000" cy="6858000"/>
  <p:notesSz cx="7010400" cy="923607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909">
          <p15:clr>
            <a:srgbClr val="A4A3A4"/>
          </p15:clr>
        </p15:guide>
        <p15:guide id="2" pos="2208">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3F3A873-5E73-AF47-5168-60E826C34ABE}" name="Administrator" initials="A" userId="Administrator" providerId="None"/>
  <p188:author id="{E20E30FB-FDD4-3F3F-226B-97BBC10D6074}" name="NGUYỄN ĐÌNH TUẤN" initials="NĐT" userId="S::225748020110138@vinhuni.edu.vn::0ea88a28-be34-44ff-b601-f257fd69f996"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a:srgbClr val="FFCC66"/>
    <a:srgbClr val="33CC33"/>
    <a:srgbClr val="00FF00"/>
    <a:srgbClr val="0000FF"/>
    <a:srgbClr val="006600"/>
    <a:srgbClr val="FF99FF"/>
    <a:srgbClr val="FF9933"/>
    <a:srgbClr val="008000"/>
    <a:srgbClr val="CC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832" autoAdjust="0"/>
    <p:restoredTop sz="86384" autoAdjust="0"/>
  </p:normalViewPr>
  <p:slideViewPr>
    <p:cSldViewPr snapToGrid="0" snapToObjects="1">
      <p:cViewPr varScale="1">
        <p:scale>
          <a:sx n="134" d="100"/>
          <a:sy n="134" d="100"/>
        </p:scale>
        <p:origin x="288" y="176"/>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notesViewPr>
    <p:cSldViewPr snapToGrid="0" snapToObjects="1">
      <p:cViewPr varScale="1">
        <p:scale>
          <a:sx n="67" d="100"/>
          <a:sy n="67" d="100"/>
        </p:scale>
        <p:origin x="3198" y="60"/>
      </p:cViewPr>
      <p:guideLst>
        <p:guide orient="horz" pos="2909"/>
        <p:guide pos="220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 Id="rId27"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196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70338" y="0"/>
            <a:ext cx="3038475" cy="461963"/>
          </a:xfrm>
          <a:prstGeom prst="rect">
            <a:avLst/>
          </a:prstGeom>
        </p:spPr>
        <p:txBody>
          <a:bodyPr vert="horz" lIns="91440" tIns="45720" rIns="91440" bIns="45720" rtlCol="0"/>
          <a:lstStyle>
            <a:lvl1pPr algn="r">
              <a:defRPr sz="1200"/>
            </a:lvl1pPr>
          </a:lstStyle>
          <a:p>
            <a:fld id="{3E6BA238-A58C-4079-8897-443376D61BE7}" type="datetimeFigureOut">
              <a:rPr lang="en-US" smtClean="0"/>
              <a:t>4/22/26</a:t>
            </a:fld>
            <a:endParaRPr lang="en-US"/>
          </a:p>
        </p:txBody>
      </p:sp>
      <p:sp>
        <p:nvSpPr>
          <p:cNvPr id="4" name="Footer Placeholder 3"/>
          <p:cNvSpPr>
            <a:spLocks noGrp="1"/>
          </p:cNvSpPr>
          <p:nvPr>
            <p:ph type="ftr" sz="quarter" idx="2"/>
          </p:nvPr>
        </p:nvSpPr>
        <p:spPr>
          <a:xfrm>
            <a:off x="0" y="8772525"/>
            <a:ext cx="3038475" cy="461963"/>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70338" y="8772525"/>
            <a:ext cx="3038475" cy="461963"/>
          </a:xfrm>
          <a:prstGeom prst="rect">
            <a:avLst/>
          </a:prstGeom>
        </p:spPr>
        <p:txBody>
          <a:bodyPr vert="horz" lIns="91440" tIns="45720" rIns="91440" bIns="45720" rtlCol="0" anchor="b"/>
          <a:lstStyle>
            <a:lvl1pPr algn="r">
              <a:defRPr sz="1200"/>
            </a:lvl1pPr>
          </a:lstStyle>
          <a:p>
            <a:fld id="{801ECBA4-B815-421A-9B79-84900DE83244}" type="slidenum">
              <a:rPr lang="en-US" smtClean="0"/>
              <a:t>‹#›</a:t>
            </a:fld>
            <a:endParaRPr lang="en-US"/>
          </a:p>
        </p:txBody>
      </p:sp>
    </p:spTree>
    <p:extLst>
      <p:ext uri="{BB962C8B-B14F-4D97-AF65-F5344CB8AC3E}">
        <p14:creationId xmlns:p14="http://schemas.microsoft.com/office/powerpoint/2010/main" val="126601019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1804"/>
          </a:xfrm>
          <a:prstGeom prst="rect">
            <a:avLst/>
          </a:prstGeom>
        </p:spPr>
        <p:txBody>
          <a:bodyPr vert="horz" lIns="92830" tIns="46415" rIns="92830" bIns="46415" rtlCol="0"/>
          <a:lstStyle>
            <a:lvl1pPr algn="l">
              <a:defRPr sz="1200"/>
            </a:lvl1pPr>
          </a:lstStyle>
          <a:p>
            <a:endParaRPr lang="en-US"/>
          </a:p>
        </p:txBody>
      </p:sp>
      <p:sp>
        <p:nvSpPr>
          <p:cNvPr id="3" name="Date Placeholder 2"/>
          <p:cNvSpPr>
            <a:spLocks noGrp="1"/>
          </p:cNvSpPr>
          <p:nvPr>
            <p:ph type="dt" idx="1"/>
          </p:nvPr>
        </p:nvSpPr>
        <p:spPr>
          <a:xfrm>
            <a:off x="3970938" y="0"/>
            <a:ext cx="3037840" cy="461804"/>
          </a:xfrm>
          <a:prstGeom prst="rect">
            <a:avLst/>
          </a:prstGeom>
        </p:spPr>
        <p:txBody>
          <a:bodyPr vert="horz" lIns="92830" tIns="46415" rIns="92830" bIns="46415" rtlCol="0"/>
          <a:lstStyle>
            <a:lvl1pPr algn="r">
              <a:defRPr sz="1200"/>
            </a:lvl1pPr>
          </a:lstStyle>
          <a:p>
            <a:fld id="{E9897A2D-CCBE-0F41-A1E8-ACBA3362F021}" type="datetimeFigureOut">
              <a:rPr lang="en-US" smtClean="0"/>
              <a:pPr/>
              <a:t>4/22/26</a:t>
            </a:fld>
            <a:endParaRPr lang="en-US"/>
          </a:p>
        </p:txBody>
      </p:sp>
      <p:sp>
        <p:nvSpPr>
          <p:cNvPr id="4" name="Slide Image Placeholder 3"/>
          <p:cNvSpPr>
            <a:spLocks noGrp="1" noRot="1" noChangeAspect="1"/>
          </p:cNvSpPr>
          <p:nvPr>
            <p:ph type="sldImg" idx="2"/>
          </p:nvPr>
        </p:nvSpPr>
        <p:spPr>
          <a:xfrm>
            <a:off x="427038" y="692150"/>
            <a:ext cx="6156325" cy="3463925"/>
          </a:xfrm>
          <a:prstGeom prst="rect">
            <a:avLst/>
          </a:prstGeom>
          <a:noFill/>
          <a:ln w="12700">
            <a:solidFill>
              <a:prstClr val="black"/>
            </a:solidFill>
          </a:ln>
        </p:spPr>
        <p:txBody>
          <a:bodyPr vert="horz" lIns="92830" tIns="46415" rIns="92830" bIns="46415" rtlCol="0" anchor="ctr"/>
          <a:lstStyle/>
          <a:p>
            <a:endParaRPr lang="en-US"/>
          </a:p>
        </p:txBody>
      </p:sp>
      <p:sp>
        <p:nvSpPr>
          <p:cNvPr id="5" name="Notes Placeholder 4"/>
          <p:cNvSpPr>
            <a:spLocks noGrp="1"/>
          </p:cNvSpPr>
          <p:nvPr>
            <p:ph type="body" sz="quarter" idx="3"/>
          </p:nvPr>
        </p:nvSpPr>
        <p:spPr>
          <a:xfrm>
            <a:off x="701040" y="4387136"/>
            <a:ext cx="5608320" cy="4156234"/>
          </a:xfrm>
          <a:prstGeom prst="rect">
            <a:avLst/>
          </a:prstGeom>
        </p:spPr>
        <p:txBody>
          <a:bodyPr vert="horz" lIns="92830" tIns="46415" rIns="92830" bIns="46415"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2668"/>
            <a:ext cx="3037840" cy="461804"/>
          </a:xfrm>
          <a:prstGeom prst="rect">
            <a:avLst/>
          </a:prstGeom>
        </p:spPr>
        <p:txBody>
          <a:bodyPr vert="horz" lIns="92830" tIns="46415" rIns="92830" bIns="46415"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772668"/>
            <a:ext cx="3037840" cy="461804"/>
          </a:xfrm>
          <a:prstGeom prst="rect">
            <a:avLst/>
          </a:prstGeom>
        </p:spPr>
        <p:txBody>
          <a:bodyPr vert="horz" lIns="92830" tIns="46415" rIns="92830" bIns="46415" rtlCol="0" anchor="b"/>
          <a:lstStyle>
            <a:lvl1pPr algn="r">
              <a:defRPr sz="1200"/>
            </a:lvl1pPr>
          </a:lstStyle>
          <a:p>
            <a:fld id="{F7993446-AC8C-C146-B124-3E45B57DC633}" type="slidenum">
              <a:rPr lang="en-US" smtClean="0"/>
              <a:pPr/>
              <a:t>‹#›</a:t>
            </a:fld>
            <a:endParaRPr lang="en-US"/>
          </a:p>
        </p:txBody>
      </p:sp>
    </p:spTree>
    <p:extLst>
      <p:ext uri="{BB962C8B-B14F-4D97-AF65-F5344CB8AC3E}">
        <p14:creationId xmlns:p14="http://schemas.microsoft.com/office/powerpoint/2010/main" val="4288232294"/>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7038" y="692150"/>
            <a:ext cx="6156325" cy="3463925"/>
          </a:xfrm>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F7993446-AC8C-C146-B124-3E45B57DC633}" type="slidenum">
              <a:rPr lang="en-US" smtClean="0"/>
              <a:pPr/>
              <a:t>1</a:t>
            </a:fld>
            <a:endParaRPr lang="en-US"/>
          </a:p>
        </p:txBody>
      </p:sp>
    </p:spTree>
    <p:extLst>
      <p:ext uri="{BB962C8B-B14F-4D97-AF65-F5344CB8AC3E}">
        <p14:creationId xmlns:p14="http://schemas.microsoft.com/office/powerpoint/2010/main" val="6426627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273A36-A4A1-8E83-5303-B2C410E595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1853B4-1AA7-F62A-A3D2-92FB9F0EAAA9}"/>
              </a:ext>
            </a:extLst>
          </p:cNvPr>
          <p:cNvSpPr>
            <a:spLocks noGrp="1" noRot="1" noChangeAspect="1"/>
          </p:cNvSpPr>
          <p:nvPr>
            <p:ph type="sldImg"/>
          </p:nvPr>
        </p:nvSpPr>
        <p:spPr>
          <a:xfrm>
            <a:off x="427038" y="692150"/>
            <a:ext cx="6156325" cy="3463925"/>
          </a:xfrm>
        </p:spPr>
      </p:sp>
      <p:sp>
        <p:nvSpPr>
          <p:cNvPr id="3" name="Notes Placeholder 2">
            <a:extLst>
              <a:ext uri="{FF2B5EF4-FFF2-40B4-BE49-F238E27FC236}">
                <a16:creationId xmlns:a16="http://schemas.microsoft.com/office/drawing/2014/main" id="{E9F27131-C185-A941-141E-C6A17F9A76D9}"/>
              </a:ext>
            </a:extLst>
          </p:cNvPr>
          <p:cNvSpPr>
            <a:spLocks noGrp="1"/>
          </p:cNvSpPr>
          <p:nvPr>
            <p:ph type="body" idx="1"/>
          </p:nvPr>
        </p:nvSpPr>
        <p:spPr/>
        <p:txBody>
          <a:bodyPr/>
          <a:lstStyle/>
          <a:p>
            <a:endParaRPr lang="vi-VN" dirty="0"/>
          </a:p>
        </p:txBody>
      </p:sp>
      <p:sp>
        <p:nvSpPr>
          <p:cNvPr id="4" name="Slide Number Placeholder 3">
            <a:extLst>
              <a:ext uri="{FF2B5EF4-FFF2-40B4-BE49-F238E27FC236}">
                <a16:creationId xmlns:a16="http://schemas.microsoft.com/office/drawing/2014/main" id="{19352345-B486-FBF2-AA61-3FEBB6A81542}"/>
              </a:ext>
            </a:extLst>
          </p:cNvPr>
          <p:cNvSpPr>
            <a:spLocks noGrp="1"/>
          </p:cNvSpPr>
          <p:nvPr>
            <p:ph type="sldNum" sz="quarter" idx="10"/>
          </p:nvPr>
        </p:nvSpPr>
        <p:spPr/>
        <p:txBody>
          <a:bodyPr/>
          <a:lstStyle/>
          <a:p>
            <a:fld id="{F7993446-AC8C-C146-B124-3E45B57DC633}" type="slidenum">
              <a:rPr lang="en-US" smtClean="0"/>
              <a:pPr/>
              <a:t>2</a:t>
            </a:fld>
            <a:endParaRPr lang="en-US"/>
          </a:p>
        </p:txBody>
      </p:sp>
    </p:spTree>
    <p:extLst>
      <p:ext uri="{BB962C8B-B14F-4D97-AF65-F5344CB8AC3E}">
        <p14:creationId xmlns:p14="http://schemas.microsoft.com/office/powerpoint/2010/main" val="29125461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9B6866-794A-4A77-74A5-6295D81ABD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EB4A15-487F-23B7-93D9-1EF04145B241}"/>
              </a:ext>
            </a:extLst>
          </p:cNvPr>
          <p:cNvSpPr>
            <a:spLocks noGrp="1" noRot="1" noChangeAspect="1"/>
          </p:cNvSpPr>
          <p:nvPr>
            <p:ph type="sldImg"/>
          </p:nvPr>
        </p:nvSpPr>
        <p:spPr>
          <a:xfrm>
            <a:off x="427038" y="692150"/>
            <a:ext cx="6156325" cy="3463925"/>
          </a:xfrm>
        </p:spPr>
      </p:sp>
      <p:sp>
        <p:nvSpPr>
          <p:cNvPr id="3" name="Notes Placeholder 2">
            <a:extLst>
              <a:ext uri="{FF2B5EF4-FFF2-40B4-BE49-F238E27FC236}">
                <a16:creationId xmlns:a16="http://schemas.microsoft.com/office/drawing/2014/main" id="{FDE9E2CD-98D8-02D2-8733-B7168C72733E}"/>
              </a:ext>
            </a:extLst>
          </p:cNvPr>
          <p:cNvSpPr>
            <a:spLocks noGrp="1"/>
          </p:cNvSpPr>
          <p:nvPr>
            <p:ph type="body" idx="1"/>
          </p:nvPr>
        </p:nvSpPr>
        <p:spPr/>
        <p:txBody>
          <a:bodyPr/>
          <a:lstStyle/>
          <a:p>
            <a:endParaRPr lang="vi-VN" dirty="0"/>
          </a:p>
        </p:txBody>
      </p:sp>
      <p:sp>
        <p:nvSpPr>
          <p:cNvPr id="4" name="Slide Number Placeholder 3">
            <a:extLst>
              <a:ext uri="{FF2B5EF4-FFF2-40B4-BE49-F238E27FC236}">
                <a16:creationId xmlns:a16="http://schemas.microsoft.com/office/drawing/2014/main" id="{858C9EA5-F7A0-C1DA-A878-258AB0607C04}"/>
              </a:ext>
            </a:extLst>
          </p:cNvPr>
          <p:cNvSpPr>
            <a:spLocks noGrp="1"/>
          </p:cNvSpPr>
          <p:nvPr>
            <p:ph type="sldNum" sz="quarter" idx="10"/>
          </p:nvPr>
        </p:nvSpPr>
        <p:spPr/>
        <p:txBody>
          <a:bodyPr/>
          <a:lstStyle/>
          <a:p>
            <a:fld id="{F7993446-AC8C-C146-B124-3E45B57DC633}" type="slidenum">
              <a:rPr lang="en-US" smtClean="0"/>
              <a:pPr/>
              <a:t>3</a:t>
            </a:fld>
            <a:endParaRPr lang="en-US"/>
          </a:p>
        </p:txBody>
      </p:sp>
    </p:spTree>
    <p:extLst>
      <p:ext uri="{BB962C8B-B14F-4D97-AF65-F5344CB8AC3E}">
        <p14:creationId xmlns:p14="http://schemas.microsoft.com/office/powerpoint/2010/main" val="19630739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32D558-B2B6-D523-6E62-BBF119E09E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341D75-DEF0-CD41-47CE-2035F3C6482E}"/>
              </a:ext>
            </a:extLst>
          </p:cNvPr>
          <p:cNvSpPr>
            <a:spLocks noGrp="1" noRot="1" noChangeAspect="1"/>
          </p:cNvSpPr>
          <p:nvPr>
            <p:ph type="sldImg"/>
          </p:nvPr>
        </p:nvSpPr>
        <p:spPr>
          <a:xfrm>
            <a:off x="427038" y="692150"/>
            <a:ext cx="6156325" cy="3463925"/>
          </a:xfrm>
        </p:spPr>
      </p:sp>
      <p:sp>
        <p:nvSpPr>
          <p:cNvPr id="3" name="Notes Placeholder 2">
            <a:extLst>
              <a:ext uri="{FF2B5EF4-FFF2-40B4-BE49-F238E27FC236}">
                <a16:creationId xmlns:a16="http://schemas.microsoft.com/office/drawing/2014/main" id="{212F959B-1502-86E0-6A5E-BF0A935769F9}"/>
              </a:ext>
            </a:extLst>
          </p:cNvPr>
          <p:cNvSpPr>
            <a:spLocks noGrp="1"/>
          </p:cNvSpPr>
          <p:nvPr>
            <p:ph type="body" idx="1"/>
          </p:nvPr>
        </p:nvSpPr>
        <p:spPr/>
        <p:txBody>
          <a:bodyPr/>
          <a:lstStyle/>
          <a:p>
            <a:endParaRPr lang="vi-VN" dirty="0"/>
          </a:p>
        </p:txBody>
      </p:sp>
      <p:sp>
        <p:nvSpPr>
          <p:cNvPr id="4" name="Slide Number Placeholder 3">
            <a:extLst>
              <a:ext uri="{FF2B5EF4-FFF2-40B4-BE49-F238E27FC236}">
                <a16:creationId xmlns:a16="http://schemas.microsoft.com/office/drawing/2014/main" id="{2217287C-A729-0A0E-3553-136501222959}"/>
              </a:ext>
            </a:extLst>
          </p:cNvPr>
          <p:cNvSpPr>
            <a:spLocks noGrp="1"/>
          </p:cNvSpPr>
          <p:nvPr>
            <p:ph type="sldNum" sz="quarter" idx="10"/>
          </p:nvPr>
        </p:nvSpPr>
        <p:spPr/>
        <p:txBody>
          <a:bodyPr/>
          <a:lstStyle/>
          <a:p>
            <a:fld id="{F7993446-AC8C-C146-B124-3E45B57DC633}" type="slidenum">
              <a:rPr lang="en-US" smtClean="0"/>
              <a:pPr/>
              <a:t>4</a:t>
            </a:fld>
            <a:endParaRPr lang="en-US"/>
          </a:p>
        </p:txBody>
      </p:sp>
    </p:spTree>
    <p:extLst>
      <p:ext uri="{BB962C8B-B14F-4D97-AF65-F5344CB8AC3E}">
        <p14:creationId xmlns:p14="http://schemas.microsoft.com/office/powerpoint/2010/main" val="25682433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4EEAB7-18C0-7C1C-FDEA-1B07677116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08A99E-F227-1FA5-620E-09FA62CCBA65}"/>
              </a:ext>
            </a:extLst>
          </p:cNvPr>
          <p:cNvSpPr>
            <a:spLocks noGrp="1" noRot="1" noChangeAspect="1"/>
          </p:cNvSpPr>
          <p:nvPr>
            <p:ph type="sldImg"/>
          </p:nvPr>
        </p:nvSpPr>
        <p:spPr>
          <a:xfrm>
            <a:off x="427038" y="692150"/>
            <a:ext cx="6156325" cy="3463925"/>
          </a:xfrm>
        </p:spPr>
      </p:sp>
      <p:sp>
        <p:nvSpPr>
          <p:cNvPr id="3" name="Notes Placeholder 2">
            <a:extLst>
              <a:ext uri="{FF2B5EF4-FFF2-40B4-BE49-F238E27FC236}">
                <a16:creationId xmlns:a16="http://schemas.microsoft.com/office/drawing/2014/main" id="{06F09308-9A6B-160A-CD0E-72EBE84EFC16}"/>
              </a:ext>
            </a:extLst>
          </p:cNvPr>
          <p:cNvSpPr>
            <a:spLocks noGrp="1"/>
          </p:cNvSpPr>
          <p:nvPr>
            <p:ph type="body" idx="1"/>
          </p:nvPr>
        </p:nvSpPr>
        <p:spPr/>
        <p:txBody>
          <a:bodyPr/>
          <a:lstStyle/>
          <a:p>
            <a:endParaRPr lang="vi-VN" dirty="0"/>
          </a:p>
        </p:txBody>
      </p:sp>
      <p:sp>
        <p:nvSpPr>
          <p:cNvPr id="4" name="Slide Number Placeholder 3">
            <a:extLst>
              <a:ext uri="{FF2B5EF4-FFF2-40B4-BE49-F238E27FC236}">
                <a16:creationId xmlns:a16="http://schemas.microsoft.com/office/drawing/2014/main" id="{F1BFE485-7B7E-B4CE-D3B8-B088082329E9}"/>
              </a:ext>
            </a:extLst>
          </p:cNvPr>
          <p:cNvSpPr>
            <a:spLocks noGrp="1"/>
          </p:cNvSpPr>
          <p:nvPr>
            <p:ph type="sldNum" sz="quarter" idx="10"/>
          </p:nvPr>
        </p:nvSpPr>
        <p:spPr/>
        <p:txBody>
          <a:bodyPr/>
          <a:lstStyle/>
          <a:p>
            <a:fld id="{F7993446-AC8C-C146-B124-3E45B57DC633}" type="slidenum">
              <a:rPr lang="en-US" smtClean="0"/>
              <a:pPr/>
              <a:t>5</a:t>
            </a:fld>
            <a:endParaRPr lang="en-US"/>
          </a:p>
        </p:txBody>
      </p:sp>
    </p:spTree>
    <p:extLst>
      <p:ext uri="{BB962C8B-B14F-4D97-AF65-F5344CB8AC3E}">
        <p14:creationId xmlns:p14="http://schemas.microsoft.com/office/powerpoint/2010/main" val="6606458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3CFF64-6119-0C61-467A-F4BA185F0D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FFE999-B24E-7B9A-69AB-0ED74E8E859A}"/>
              </a:ext>
            </a:extLst>
          </p:cNvPr>
          <p:cNvSpPr>
            <a:spLocks noGrp="1" noRot="1" noChangeAspect="1"/>
          </p:cNvSpPr>
          <p:nvPr>
            <p:ph type="sldImg"/>
          </p:nvPr>
        </p:nvSpPr>
        <p:spPr>
          <a:xfrm>
            <a:off x="427038" y="692150"/>
            <a:ext cx="6156325" cy="3463925"/>
          </a:xfrm>
        </p:spPr>
      </p:sp>
      <p:sp>
        <p:nvSpPr>
          <p:cNvPr id="3" name="Notes Placeholder 2">
            <a:extLst>
              <a:ext uri="{FF2B5EF4-FFF2-40B4-BE49-F238E27FC236}">
                <a16:creationId xmlns:a16="http://schemas.microsoft.com/office/drawing/2014/main" id="{09933CF6-277E-F999-07A7-8C7FD4EA9A89}"/>
              </a:ext>
            </a:extLst>
          </p:cNvPr>
          <p:cNvSpPr>
            <a:spLocks noGrp="1"/>
          </p:cNvSpPr>
          <p:nvPr>
            <p:ph type="body" idx="1"/>
          </p:nvPr>
        </p:nvSpPr>
        <p:spPr/>
        <p:txBody>
          <a:bodyPr/>
          <a:lstStyle/>
          <a:p>
            <a:endParaRPr lang="vi-VN" dirty="0"/>
          </a:p>
        </p:txBody>
      </p:sp>
      <p:sp>
        <p:nvSpPr>
          <p:cNvPr id="4" name="Slide Number Placeholder 3">
            <a:extLst>
              <a:ext uri="{FF2B5EF4-FFF2-40B4-BE49-F238E27FC236}">
                <a16:creationId xmlns:a16="http://schemas.microsoft.com/office/drawing/2014/main" id="{CB56C032-A8A9-20FC-7FB2-177A9E2554CB}"/>
              </a:ext>
            </a:extLst>
          </p:cNvPr>
          <p:cNvSpPr>
            <a:spLocks noGrp="1"/>
          </p:cNvSpPr>
          <p:nvPr>
            <p:ph type="sldNum" sz="quarter" idx="10"/>
          </p:nvPr>
        </p:nvSpPr>
        <p:spPr/>
        <p:txBody>
          <a:bodyPr/>
          <a:lstStyle/>
          <a:p>
            <a:fld id="{F7993446-AC8C-C146-B124-3E45B57DC633}" type="slidenum">
              <a:rPr lang="en-US" smtClean="0"/>
              <a:pPr/>
              <a:t>6</a:t>
            </a:fld>
            <a:endParaRPr lang="en-US"/>
          </a:p>
        </p:txBody>
      </p:sp>
    </p:spTree>
    <p:extLst>
      <p:ext uri="{BB962C8B-B14F-4D97-AF65-F5344CB8AC3E}">
        <p14:creationId xmlns:p14="http://schemas.microsoft.com/office/powerpoint/2010/main" val="32643941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3F151D-298A-937F-61FA-3A811ACE9D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043DA2-ADC6-4E90-3C68-6FAA38EFB0E6}"/>
              </a:ext>
            </a:extLst>
          </p:cNvPr>
          <p:cNvSpPr>
            <a:spLocks noGrp="1" noRot="1" noChangeAspect="1"/>
          </p:cNvSpPr>
          <p:nvPr>
            <p:ph type="sldImg"/>
          </p:nvPr>
        </p:nvSpPr>
        <p:spPr>
          <a:xfrm>
            <a:off x="427038" y="692150"/>
            <a:ext cx="6156325" cy="3463925"/>
          </a:xfrm>
        </p:spPr>
      </p:sp>
      <p:sp>
        <p:nvSpPr>
          <p:cNvPr id="3" name="Notes Placeholder 2">
            <a:extLst>
              <a:ext uri="{FF2B5EF4-FFF2-40B4-BE49-F238E27FC236}">
                <a16:creationId xmlns:a16="http://schemas.microsoft.com/office/drawing/2014/main" id="{4B7034C8-DF15-827F-D95D-962AAC48B73A}"/>
              </a:ext>
            </a:extLst>
          </p:cNvPr>
          <p:cNvSpPr>
            <a:spLocks noGrp="1"/>
          </p:cNvSpPr>
          <p:nvPr>
            <p:ph type="body" idx="1"/>
          </p:nvPr>
        </p:nvSpPr>
        <p:spPr/>
        <p:txBody>
          <a:bodyPr/>
          <a:lstStyle/>
          <a:p>
            <a:endParaRPr lang="vi-VN" dirty="0"/>
          </a:p>
        </p:txBody>
      </p:sp>
      <p:sp>
        <p:nvSpPr>
          <p:cNvPr id="4" name="Slide Number Placeholder 3">
            <a:extLst>
              <a:ext uri="{FF2B5EF4-FFF2-40B4-BE49-F238E27FC236}">
                <a16:creationId xmlns:a16="http://schemas.microsoft.com/office/drawing/2014/main" id="{EACCBD0E-FA96-5501-3B01-C7A8F719DDA6}"/>
              </a:ext>
            </a:extLst>
          </p:cNvPr>
          <p:cNvSpPr>
            <a:spLocks noGrp="1"/>
          </p:cNvSpPr>
          <p:nvPr>
            <p:ph type="sldNum" sz="quarter" idx="10"/>
          </p:nvPr>
        </p:nvSpPr>
        <p:spPr/>
        <p:txBody>
          <a:bodyPr/>
          <a:lstStyle/>
          <a:p>
            <a:fld id="{F7993446-AC8C-C146-B124-3E45B57DC633}" type="slidenum">
              <a:rPr lang="en-US" smtClean="0"/>
              <a:pPr/>
              <a:t>7</a:t>
            </a:fld>
            <a:endParaRPr lang="en-US"/>
          </a:p>
        </p:txBody>
      </p:sp>
    </p:spTree>
    <p:extLst>
      <p:ext uri="{BB962C8B-B14F-4D97-AF65-F5344CB8AC3E}">
        <p14:creationId xmlns:p14="http://schemas.microsoft.com/office/powerpoint/2010/main" val="17922198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327634-AF86-6AC0-C18A-223A663462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D1DBA8-1DC4-CD14-B557-E3B4F54D91B2}"/>
              </a:ext>
            </a:extLst>
          </p:cNvPr>
          <p:cNvSpPr>
            <a:spLocks noGrp="1" noRot="1" noChangeAspect="1"/>
          </p:cNvSpPr>
          <p:nvPr>
            <p:ph type="sldImg"/>
          </p:nvPr>
        </p:nvSpPr>
        <p:spPr>
          <a:xfrm>
            <a:off x="427038" y="692150"/>
            <a:ext cx="6156325" cy="3463925"/>
          </a:xfrm>
        </p:spPr>
      </p:sp>
      <p:sp>
        <p:nvSpPr>
          <p:cNvPr id="3" name="Notes Placeholder 2">
            <a:extLst>
              <a:ext uri="{FF2B5EF4-FFF2-40B4-BE49-F238E27FC236}">
                <a16:creationId xmlns:a16="http://schemas.microsoft.com/office/drawing/2014/main" id="{08CE3418-80BF-DF24-5591-712EC700B587}"/>
              </a:ext>
            </a:extLst>
          </p:cNvPr>
          <p:cNvSpPr>
            <a:spLocks noGrp="1"/>
          </p:cNvSpPr>
          <p:nvPr>
            <p:ph type="body" idx="1"/>
          </p:nvPr>
        </p:nvSpPr>
        <p:spPr/>
        <p:txBody>
          <a:bodyPr/>
          <a:lstStyle/>
          <a:p>
            <a:endParaRPr lang="vi-VN" dirty="0"/>
          </a:p>
        </p:txBody>
      </p:sp>
      <p:sp>
        <p:nvSpPr>
          <p:cNvPr id="4" name="Slide Number Placeholder 3">
            <a:extLst>
              <a:ext uri="{FF2B5EF4-FFF2-40B4-BE49-F238E27FC236}">
                <a16:creationId xmlns:a16="http://schemas.microsoft.com/office/drawing/2014/main" id="{3DE8229E-2B66-1F1D-6CD2-558D74F21278}"/>
              </a:ext>
            </a:extLst>
          </p:cNvPr>
          <p:cNvSpPr>
            <a:spLocks noGrp="1"/>
          </p:cNvSpPr>
          <p:nvPr>
            <p:ph type="sldNum" sz="quarter" idx="10"/>
          </p:nvPr>
        </p:nvSpPr>
        <p:spPr/>
        <p:txBody>
          <a:bodyPr/>
          <a:lstStyle/>
          <a:p>
            <a:fld id="{F7993446-AC8C-C146-B124-3E45B57DC633}" type="slidenum">
              <a:rPr lang="en-US" smtClean="0"/>
              <a:pPr/>
              <a:t>8</a:t>
            </a:fld>
            <a:endParaRPr lang="en-US"/>
          </a:p>
        </p:txBody>
      </p:sp>
    </p:spTree>
    <p:extLst>
      <p:ext uri="{BB962C8B-B14F-4D97-AF65-F5344CB8AC3E}">
        <p14:creationId xmlns:p14="http://schemas.microsoft.com/office/powerpoint/2010/main" val="1936388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48A069-0BE2-F17F-DF3C-E6DCF146D4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78763C-065D-DA7F-DCEA-FB7DF0C76D1A}"/>
              </a:ext>
            </a:extLst>
          </p:cNvPr>
          <p:cNvSpPr>
            <a:spLocks noGrp="1" noRot="1" noChangeAspect="1"/>
          </p:cNvSpPr>
          <p:nvPr>
            <p:ph type="sldImg"/>
          </p:nvPr>
        </p:nvSpPr>
        <p:spPr>
          <a:xfrm>
            <a:off x="427038" y="692150"/>
            <a:ext cx="6156325" cy="3463925"/>
          </a:xfrm>
        </p:spPr>
      </p:sp>
      <p:sp>
        <p:nvSpPr>
          <p:cNvPr id="3" name="Notes Placeholder 2">
            <a:extLst>
              <a:ext uri="{FF2B5EF4-FFF2-40B4-BE49-F238E27FC236}">
                <a16:creationId xmlns:a16="http://schemas.microsoft.com/office/drawing/2014/main" id="{AAB9BAA1-DC1C-E54D-9EB5-9CA44538CA98}"/>
              </a:ext>
            </a:extLst>
          </p:cNvPr>
          <p:cNvSpPr>
            <a:spLocks noGrp="1"/>
          </p:cNvSpPr>
          <p:nvPr>
            <p:ph type="body" idx="1"/>
          </p:nvPr>
        </p:nvSpPr>
        <p:spPr/>
        <p:txBody>
          <a:bodyPr/>
          <a:lstStyle/>
          <a:p>
            <a:endParaRPr lang="vi-VN" dirty="0"/>
          </a:p>
        </p:txBody>
      </p:sp>
      <p:sp>
        <p:nvSpPr>
          <p:cNvPr id="4" name="Slide Number Placeholder 3">
            <a:extLst>
              <a:ext uri="{FF2B5EF4-FFF2-40B4-BE49-F238E27FC236}">
                <a16:creationId xmlns:a16="http://schemas.microsoft.com/office/drawing/2014/main" id="{FE5B8B20-5821-2AB2-45B3-584654BF5897}"/>
              </a:ext>
            </a:extLst>
          </p:cNvPr>
          <p:cNvSpPr>
            <a:spLocks noGrp="1"/>
          </p:cNvSpPr>
          <p:nvPr>
            <p:ph type="sldNum" sz="quarter" idx="10"/>
          </p:nvPr>
        </p:nvSpPr>
        <p:spPr/>
        <p:txBody>
          <a:bodyPr/>
          <a:lstStyle/>
          <a:p>
            <a:fld id="{F7993446-AC8C-C146-B124-3E45B57DC633}" type="slidenum">
              <a:rPr lang="en-US" smtClean="0"/>
              <a:pPr/>
              <a:t>9</a:t>
            </a:fld>
            <a:endParaRPr lang="en-US"/>
          </a:p>
        </p:txBody>
      </p:sp>
    </p:spTree>
    <p:extLst>
      <p:ext uri="{BB962C8B-B14F-4D97-AF65-F5344CB8AC3E}">
        <p14:creationId xmlns:p14="http://schemas.microsoft.com/office/powerpoint/2010/main" val="20358422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3F038A-E10B-D0C3-3A72-BED18F7F3F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9267C6-114F-F014-A1DF-AE5D78B14705}"/>
              </a:ext>
            </a:extLst>
          </p:cNvPr>
          <p:cNvSpPr>
            <a:spLocks noGrp="1" noRot="1" noChangeAspect="1"/>
          </p:cNvSpPr>
          <p:nvPr>
            <p:ph type="sldImg"/>
          </p:nvPr>
        </p:nvSpPr>
        <p:spPr>
          <a:xfrm>
            <a:off x="427038" y="692150"/>
            <a:ext cx="6156325" cy="3463925"/>
          </a:xfrm>
        </p:spPr>
      </p:sp>
      <p:sp>
        <p:nvSpPr>
          <p:cNvPr id="3" name="Notes Placeholder 2">
            <a:extLst>
              <a:ext uri="{FF2B5EF4-FFF2-40B4-BE49-F238E27FC236}">
                <a16:creationId xmlns:a16="http://schemas.microsoft.com/office/drawing/2014/main" id="{AAFB5EEB-F9CE-BB95-0370-5D44E5B1FCF3}"/>
              </a:ext>
            </a:extLst>
          </p:cNvPr>
          <p:cNvSpPr>
            <a:spLocks noGrp="1"/>
          </p:cNvSpPr>
          <p:nvPr>
            <p:ph type="body" idx="1"/>
          </p:nvPr>
        </p:nvSpPr>
        <p:spPr/>
        <p:txBody>
          <a:bodyPr/>
          <a:lstStyle/>
          <a:p>
            <a:endParaRPr lang="vi-VN" dirty="0"/>
          </a:p>
        </p:txBody>
      </p:sp>
      <p:sp>
        <p:nvSpPr>
          <p:cNvPr id="4" name="Slide Number Placeholder 3">
            <a:extLst>
              <a:ext uri="{FF2B5EF4-FFF2-40B4-BE49-F238E27FC236}">
                <a16:creationId xmlns:a16="http://schemas.microsoft.com/office/drawing/2014/main" id="{D7F8B624-2F4F-ABE8-3AA1-5BBDD11B9C10}"/>
              </a:ext>
            </a:extLst>
          </p:cNvPr>
          <p:cNvSpPr>
            <a:spLocks noGrp="1"/>
          </p:cNvSpPr>
          <p:nvPr>
            <p:ph type="sldNum" sz="quarter" idx="10"/>
          </p:nvPr>
        </p:nvSpPr>
        <p:spPr/>
        <p:txBody>
          <a:bodyPr/>
          <a:lstStyle/>
          <a:p>
            <a:fld id="{F7993446-AC8C-C146-B124-3E45B57DC633}" type="slidenum">
              <a:rPr lang="en-US" smtClean="0"/>
              <a:pPr/>
              <a:t>10</a:t>
            </a:fld>
            <a:endParaRPr lang="en-US"/>
          </a:p>
        </p:txBody>
      </p:sp>
    </p:spTree>
    <p:extLst>
      <p:ext uri="{BB962C8B-B14F-4D97-AF65-F5344CB8AC3E}">
        <p14:creationId xmlns:p14="http://schemas.microsoft.com/office/powerpoint/2010/main" val="22398213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0A1CA0-E1D4-2317-522F-234BC9026B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FEE6BE-6507-F4EB-79A1-A85644A9462E}"/>
              </a:ext>
            </a:extLst>
          </p:cNvPr>
          <p:cNvSpPr>
            <a:spLocks noGrp="1" noRot="1" noChangeAspect="1"/>
          </p:cNvSpPr>
          <p:nvPr>
            <p:ph type="sldImg"/>
          </p:nvPr>
        </p:nvSpPr>
        <p:spPr>
          <a:xfrm>
            <a:off x="427038" y="692150"/>
            <a:ext cx="6156325" cy="3463925"/>
          </a:xfrm>
        </p:spPr>
      </p:sp>
      <p:sp>
        <p:nvSpPr>
          <p:cNvPr id="3" name="Notes Placeholder 2">
            <a:extLst>
              <a:ext uri="{FF2B5EF4-FFF2-40B4-BE49-F238E27FC236}">
                <a16:creationId xmlns:a16="http://schemas.microsoft.com/office/drawing/2014/main" id="{F98BE016-1C48-E4AF-6637-86B1EAAE8EA5}"/>
              </a:ext>
            </a:extLst>
          </p:cNvPr>
          <p:cNvSpPr>
            <a:spLocks noGrp="1"/>
          </p:cNvSpPr>
          <p:nvPr>
            <p:ph type="body" idx="1"/>
          </p:nvPr>
        </p:nvSpPr>
        <p:spPr/>
        <p:txBody>
          <a:bodyPr/>
          <a:lstStyle/>
          <a:p>
            <a:endParaRPr lang="vi-VN" dirty="0"/>
          </a:p>
        </p:txBody>
      </p:sp>
      <p:sp>
        <p:nvSpPr>
          <p:cNvPr id="4" name="Slide Number Placeholder 3">
            <a:extLst>
              <a:ext uri="{FF2B5EF4-FFF2-40B4-BE49-F238E27FC236}">
                <a16:creationId xmlns:a16="http://schemas.microsoft.com/office/drawing/2014/main" id="{C80AC025-95AB-42FE-97B6-1DEEF8FECDEB}"/>
              </a:ext>
            </a:extLst>
          </p:cNvPr>
          <p:cNvSpPr>
            <a:spLocks noGrp="1"/>
          </p:cNvSpPr>
          <p:nvPr>
            <p:ph type="sldNum" sz="quarter" idx="10"/>
          </p:nvPr>
        </p:nvSpPr>
        <p:spPr/>
        <p:txBody>
          <a:bodyPr/>
          <a:lstStyle/>
          <a:p>
            <a:fld id="{F7993446-AC8C-C146-B124-3E45B57DC633}" type="slidenum">
              <a:rPr lang="en-US" smtClean="0"/>
              <a:pPr/>
              <a:t>11</a:t>
            </a:fld>
            <a:endParaRPr lang="en-US"/>
          </a:p>
        </p:txBody>
      </p:sp>
    </p:spTree>
    <p:extLst>
      <p:ext uri="{BB962C8B-B14F-4D97-AF65-F5344CB8AC3E}">
        <p14:creationId xmlns:p14="http://schemas.microsoft.com/office/powerpoint/2010/main" val="13746546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7038" y="692150"/>
            <a:ext cx="6156325" cy="3463925"/>
          </a:xfrm>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F7993446-AC8C-C146-B124-3E45B57DC633}" type="slidenum">
              <a:rPr lang="en-US" smtClean="0"/>
              <a:pPr/>
              <a:t>12</a:t>
            </a:fld>
            <a:endParaRPr lang="en-US"/>
          </a:p>
        </p:txBody>
      </p:sp>
    </p:spTree>
    <p:extLst>
      <p:ext uri="{BB962C8B-B14F-4D97-AF65-F5344CB8AC3E}">
        <p14:creationId xmlns:p14="http://schemas.microsoft.com/office/powerpoint/2010/main" val="27489213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2CCDAB-DFD7-BD8E-2531-BFEAB62FD1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FB32E2-FC1C-DB0C-662E-A121C9793470}"/>
              </a:ext>
            </a:extLst>
          </p:cNvPr>
          <p:cNvSpPr>
            <a:spLocks noGrp="1" noRot="1" noChangeAspect="1"/>
          </p:cNvSpPr>
          <p:nvPr>
            <p:ph type="sldImg"/>
          </p:nvPr>
        </p:nvSpPr>
        <p:spPr>
          <a:xfrm>
            <a:off x="427038" y="692150"/>
            <a:ext cx="6156325" cy="3463925"/>
          </a:xfrm>
        </p:spPr>
      </p:sp>
      <p:sp>
        <p:nvSpPr>
          <p:cNvPr id="3" name="Notes Placeholder 2">
            <a:extLst>
              <a:ext uri="{FF2B5EF4-FFF2-40B4-BE49-F238E27FC236}">
                <a16:creationId xmlns:a16="http://schemas.microsoft.com/office/drawing/2014/main" id="{EFF87A38-3A9C-525D-7239-3F8DA1F10C76}"/>
              </a:ext>
            </a:extLst>
          </p:cNvPr>
          <p:cNvSpPr>
            <a:spLocks noGrp="1"/>
          </p:cNvSpPr>
          <p:nvPr>
            <p:ph type="body" idx="1"/>
          </p:nvPr>
        </p:nvSpPr>
        <p:spPr/>
        <p:txBody>
          <a:bodyPr/>
          <a:lstStyle/>
          <a:p>
            <a:endParaRPr lang="vi-VN" dirty="0"/>
          </a:p>
        </p:txBody>
      </p:sp>
      <p:sp>
        <p:nvSpPr>
          <p:cNvPr id="4" name="Slide Number Placeholder 3">
            <a:extLst>
              <a:ext uri="{FF2B5EF4-FFF2-40B4-BE49-F238E27FC236}">
                <a16:creationId xmlns:a16="http://schemas.microsoft.com/office/drawing/2014/main" id="{042B61F9-8FE7-4D3B-B75D-D05DEC30BD83}"/>
              </a:ext>
            </a:extLst>
          </p:cNvPr>
          <p:cNvSpPr>
            <a:spLocks noGrp="1"/>
          </p:cNvSpPr>
          <p:nvPr>
            <p:ph type="sldNum" sz="quarter" idx="10"/>
          </p:nvPr>
        </p:nvSpPr>
        <p:spPr/>
        <p:txBody>
          <a:bodyPr/>
          <a:lstStyle/>
          <a:p>
            <a:fld id="{F7993446-AC8C-C146-B124-3E45B57DC633}" type="slidenum">
              <a:rPr lang="en-US" smtClean="0"/>
              <a:pPr/>
              <a:t>13</a:t>
            </a:fld>
            <a:endParaRPr lang="en-US"/>
          </a:p>
        </p:txBody>
      </p:sp>
    </p:spTree>
    <p:extLst>
      <p:ext uri="{BB962C8B-B14F-4D97-AF65-F5344CB8AC3E}">
        <p14:creationId xmlns:p14="http://schemas.microsoft.com/office/powerpoint/2010/main" val="1493221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D4EAF3-4AA8-7C8C-4A9F-74A5F1D14D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B2A4F4-AF08-1B0F-0E8A-D7EB10BDD4EB}"/>
              </a:ext>
            </a:extLst>
          </p:cNvPr>
          <p:cNvSpPr>
            <a:spLocks noGrp="1" noRot="1" noChangeAspect="1"/>
          </p:cNvSpPr>
          <p:nvPr>
            <p:ph type="sldImg"/>
          </p:nvPr>
        </p:nvSpPr>
        <p:spPr>
          <a:xfrm>
            <a:off x="427038" y="692150"/>
            <a:ext cx="6156325" cy="3463925"/>
          </a:xfrm>
        </p:spPr>
      </p:sp>
      <p:sp>
        <p:nvSpPr>
          <p:cNvPr id="3" name="Notes Placeholder 2">
            <a:extLst>
              <a:ext uri="{FF2B5EF4-FFF2-40B4-BE49-F238E27FC236}">
                <a16:creationId xmlns:a16="http://schemas.microsoft.com/office/drawing/2014/main" id="{A7DFB52C-007D-F4A8-1BFB-88204186F625}"/>
              </a:ext>
            </a:extLst>
          </p:cNvPr>
          <p:cNvSpPr>
            <a:spLocks noGrp="1"/>
          </p:cNvSpPr>
          <p:nvPr>
            <p:ph type="body" idx="1"/>
          </p:nvPr>
        </p:nvSpPr>
        <p:spPr/>
        <p:txBody>
          <a:bodyPr/>
          <a:lstStyle/>
          <a:p>
            <a:endParaRPr lang="vi-VN" dirty="0"/>
          </a:p>
        </p:txBody>
      </p:sp>
      <p:sp>
        <p:nvSpPr>
          <p:cNvPr id="4" name="Slide Number Placeholder 3">
            <a:extLst>
              <a:ext uri="{FF2B5EF4-FFF2-40B4-BE49-F238E27FC236}">
                <a16:creationId xmlns:a16="http://schemas.microsoft.com/office/drawing/2014/main" id="{D1CCF0FE-53E4-4404-6A46-47E6FC95CB7C}"/>
              </a:ext>
            </a:extLst>
          </p:cNvPr>
          <p:cNvSpPr>
            <a:spLocks noGrp="1"/>
          </p:cNvSpPr>
          <p:nvPr>
            <p:ph type="sldNum" sz="quarter" idx="10"/>
          </p:nvPr>
        </p:nvSpPr>
        <p:spPr/>
        <p:txBody>
          <a:bodyPr/>
          <a:lstStyle/>
          <a:p>
            <a:fld id="{F7993446-AC8C-C146-B124-3E45B57DC633}" type="slidenum">
              <a:rPr lang="en-US" smtClean="0"/>
              <a:pPr/>
              <a:t>14</a:t>
            </a:fld>
            <a:endParaRPr lang="en-US"/>
          </a:p>
        </p:txBody>
      </p:sp>
    </p:spTree>
    <p:extLst>
      <p:ext uri="{BB962C8B-B14F-4D97-AF65-F5344CB8AC3E}">
        <p14:creationId xmlns:p14="http://schemas.microsoft.com/office/powerpoint/2010/main" val="15644330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4CB17-BDAD-450D-8A2F-B939E9B9D3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45FDD7-D9DF-76C2-4813-FE1AF59D511C}"/>
              </a:ext>
            </a:extLst>
          </p:cNvPr>
          <p:cNvSpPr>
            <a:spLocks noGrp="1" noRot="1" noChangeAspect="1"/>
          </p:cNvSpPr>
          <p:nvPr>
            <p:ph type="sldImg"/>
          </p:nvPr>
        </p:nvSpPr>
        <p:spPr>
          <a:xfrm>
            <a:off x="427038" y="692150"/>
            <a:ext cx="6156325" cy="3463925"/>
          </a:xfrm>
        </p:spPr>
      </p:sp>
      <p:sp>
        <p:nvSpPr>
          <p:cNvPr id="3" name="Notes Placeholder 2">
            <a:extLst>
              <a:ext uri="{FF2B5EF4-FFF2-40B4-BE49-F238E27FC236}">
                <a16:creationId xmlns:a16="http://schemas.microsoft.com/office/drawing/2014/main" id="{48B220AF-4D6A-2107-6BC1-1224D6971927}"/>
              </a:ext>
            </a:extLst>
          </p:cNvPr>
          <p:cNvSpPr>
            <a:spLocks noGrp="1"/>
          </p:cNvSpPr>
          <p:nvPr>
            <p:ph type="body" idx="1"/>
          </p:nvPr>
        </p:nvSpPr>
        <p:spPr/>
        <p:txBody>
          <a:bodyPr/>
          <a:lstStyle/>
          <a:p>
            <a:endParaRPr lang="vi-VN" dirty="0"/>
          </a:p>
        </p:txBody>
      </p:sp>
      <p:sp>
        <p:nvSpPr>
          <p:cNvPr id="4" name="Slide Number Placeholder 3">
            <a:extLst>
              <a:ext uri="{FF2B5EF4-FFF2-40B4-BE49-F238E27FC236}">
                <a16:creationId xmlns:a16="http://schemas.microsoft.com/office/drawing/2014/main" id="{7945E0D3-3E07-FEC9-E6C5-539F06DA67E4}"/>
              </a:ext>
            </a:extLst>
          </p:cNvPr>
          <p:cNvSpPr>
            <a:spLocks noGrp="1"/>
          </p:cNvSpPr>
          <p:nvPr>
            <p:ph type="sldNum" sz="quarter" idx="10"/>
          </p:nvPr>
        </p:nvSpPr>
        <p:spPr/>
        <p:txBody>
          <a:bodyPr/>
          <a:lstStyle/>
          <a:p>
            <a:fld id="{F7993446-AC8C-C146-B124-3E45B57DC633}" type="slidenum">
              <a:rPr lang="en-US" smtClean="0"/>
              <a:pPr/>
              <a:t>15</a:t>
            </a:fld>
            <a:endParaRPr lang="en-US"/>
          </a:p>
        </p:txBody>
      </p:sp>
    </p:spTree>
    <p:extLst>
      <p:ext uri="{BB962C8B-B14F-4D97-AF65-F5344CB8AC3E}">
        <p14:creationId xmlns:p14="http://schemas.microsoft.com/office/powerpoint/2010/main" val="38760046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B85987-EAF7-273B-1679-1F7A271E29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09C7DA-F781-9068-0973-9ACAD4A56DA9}"/>
              </a:ext>
            </a:extLst>
          </p:cNvPr>
          <p:cNvSpPr>
            <a:spLocks noGrp="1" noRot="1" noChangeAspect="1"/>
          </p:cNvSpPr>
          <p:nvPr>
            <p:ph type="sldImg"/>
          </p:nvPr>
        </p:nvSpPr>
        <p:spPr>
          <a:xfrm>
            <a:off x="427038" y="692150"/>
            <a:ext cx="6156325" cy="3463925"/>
          </a:xfrm>
        </p:spPr>
      </p:sp>
      <p:sp>
        <p:nvSpPr>
          <p:cNvPr id="3" name="Notes Placeholder 2">
            <a:extLst>
              <a:ext uri="{FF2B5EF4-FFF2-40B4-BE49-F238E27FC236}">
                <a16:creationId xmlns:a16="http://schemas.microsoft.com/office/drawing/2014/main" id="{AD3057CF-2A93-B3BF-1E7D-E1428BF0B88C}"/>
              </a:ext>
            </a:extLst>
          </p:cNvPr>
          <p:cNvSpPr>
            <a:spLocks noGrp="1"/>
          </p:cNvSpPr>
          <p:nvPr>
            <p:ph type="body" idx="1"/>
          </p:nvPr>
        </p:nvSpPr>
        <p:spPr/>
        <p:txBody>
          <a:bodyPr/>
          <a:lstStyle/>
          <a:p>
            <a:endParaRPr lang="vi-VN" dirty="0"/>
          </a:p>
        </p:txBody>
      </p:sp>
      <p:sp>
        <p:nvSpPr>
          <p:cNvPr id="4" name="Slide Number Placeholder 3">
            <a:extLst>
              <a:ext uri="{FF2B5EF4-FFF2-40B4-BE49-F238E27FC236}">
                <a16:creationId xmlns:a16="http://schemas.microsoft.com/office/drawing/2014/main" id="{5973EC72-11C0-39BC-1762-F88CE9957F40}"/>
              </a:ext>
            </a:extLst>
          </p:cNvPr>
          <p:cNvSpPr>
            <a:spLocks noGrp="1"/>
          </p:cNvSpPr>
          <p:nvPr>
            <p:ph type="sldNum" sz="quarter" idx="10"/>
          </p:nvPr>
        </p:nvSpPr>
        <p:spPr/>
        <p:txBody>
          <a:bodyPr/>
          <a:lstStyle/>
          <a:p>
            <a:fld id="{F7993446-AC8C-C146-B124-3E45B57DC633}" type="slidenum">
              <a:rPr lang="en-US" smtClean="0"/>
              <a:pPr/>
              <a:t>16</a:t>
            </a:fld>
            <a:endParaRPr lang="en-US"/>
          </a:p>
        </p:txBody>
      </p:sp>
    </p:spTree>
    <p:extLst>
      <p:ext uri="{BB962C8B-B14F-4D97-AF65-F5344CB8AC3E}">
        <p14:creationId xmlns:p14="http://schemas.microsoft.com/office/powerpoint/2010/main" val="34000210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1C82BF-55CD-B73A-483A-7D58B04766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79C9B1-A505-E761-9B1D-FC8EE68689EF}"/>
              </a:ext>
            </a:extLst>
          </p:cNvPr>
          <p:cNvSpPr>
            <a:spLocks noGrp="1" noRot="1" noChangeAspect="1"/>
          </p:cNvSpPr>
          <p:nvPr>
            <p:ph type="sldImg"/>
          </p:nvPr>
        </p:nvSpPr>
        <p:spPr>
          <a:xfrm>
            <a:off x="427038" y="692150"/>
            <a:ext cx="6156325" cy="3463925"/>
          </a:xfrm>
        </p:spPr>
      </p:sp>
      <p:sp>
        <p:nvSpPr>
          <p:cNvPr id="3" name="Notes Placeholder 2">
            <a:extLst>
              <a:ext uri="{FF2B5EF4-FFF2-40B4-BE49-F238E27FC236}">
                <a16:creationId xmlns:a16="http://schemas.microsoft.com/office/drawing/2014/main" id="{436B0B2A-0931-CE75-6104-5FDF12448969}"/>
              </a:ext>
            </a:extLst>
          </p:cNvPr>
          <p:cNvSpPr>
            <a:spLocks noGrp="1"/>
          </p:cNvSpPr>
          <p:nvPr>
            <p:ph type="body" idx="1"/>
          </p:nvPr>
        </p:nvSpPr>
        <p:spPr/>
        <p:txBody>
          <a:bodyPr/>
          <a:lstStyle/>
          <a:p>
            <a:endParaRPr lang="vi-VN" dirty="0"/>
          </a:p>
        </p:txBody>
      </p:sp>
      <p:sp>
        <p:nvSpPr>
          <p:cNvPr id="4" name="Slide Number Placeholder 3">
            <a:extLst>
              <a:ext uri="{FF2B5EF4-FFF2-40B4-BE49-F238E27FC236}">
                <a16:creationId xmlns:a16="http://schemas.microsoft.com/office/drawing/2014/main" id="{ACC2D513-F8F2-A2E5-8717-0147B9E28B12}"/>
              </a:ext>
            </a:extLst>
          </p:cNvPr>
          <p:cNvSpPr>
            <a:spLocks noGrp="1"/>
          </p:cNvSpPr>
          <p:nvPr>
            <p:ph type="sldNum" sz="quarter" idx="10"/>
          </p:nvPr>
        </p:nvSpPr>
        <p:spPr/>
        <p:txBody>
          <a:bodyPr/>
          <a:lstStyle/>
          <a:p>
            <a:fld id="{F7993446-AC8C-C146-B124-3E45B57DC633}" type="slidenum">
              <a:rPr lang="en-US" smtClean="0"/>
              <a:pPr/>
              <a:t>17</a:t>
            </a:fld>
            <a:endParaRPr lang="en-US"/>
          </a:p>
        </p:txBody>
      </p:sp>
    </p:spTree>
    <p:extLst>
      <p:ext uri="{BB962C8B-B14F-4D97-AF65-F5344CB8AC3E}">
        <p14:creationId xmlns:p14="http://schemas.microsoft.com/office/powerpoint/2010/main" val="12191137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D7E0B-5DF3-8291-E7B9-E5F997258C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6C8499-C2F5-E42D-3816-DA1AE4E194E0}"/>
              </a:ext>
            </a:extLst>
          </p:cNvPr>
          <p:cNvSpPr>
            <a:spLocks noGrp="1" noRot="1" noChangeAspect="1"/>
          </p:cNvSpPr>
          <p:nvPr>
            <p:ph type="sldImg"/>
          </p:nvPr>
        </p:nvSpPr>
        <p:spPr>
          <a:xfrm>
            <a:off x="427038" y="692150"/>
            <a:ext cx="6156325" cy="3463925"/>
          </a:xfrm>
        </p:spPr>
      </p:sp>
      <p:sp>
        <p:nvSpPr>
          <p:cNvPr id="3" name="Notes Placeholder 2">
            <a:extLst>
              <a:ext uri="{FF2B5EF4-FFF2-40B4-BE49-F238E27FC236}">
                <a16:creationId xmlns:a16="http://schemas.microsoft.com/office/drawing/2014/main" id="{78586FD4-FE97-725A-E908-DA53DE6F0005}"/>
              </a:ext>
            </a:extLst>
          </p:cNvPr>
          <p:cNvSpPr>
            <a:spLocks noGrp="1"/>
          </p:cNvSpPr>
          <p:nvPr>
            <p:ph type="body" idx="1"/>
          </p:nvPr>
        </p:nvSpPr>
        <p:spPr/>
        <p:txBody>
          <a:bodyPr/>
          <a:lstStyle/>
          <a:p>
            <a:endParaRPr lang="vi-VN" dirty="0"/>
          </a:p>
        </p:txBody>
      </p:sp>
      <p:sp>
        <p:nvSpPr>
          <p:cNvPr id="4" name="Slide Number Placeholder 3">
            <a:extLst>
              <a:ext uri="{FF2B5EF4-FFF2-40B4-BE49-F238E27FC236}">
                <a16:creationId xmlns:a16="http://schemas.microsoft.com/office/drawing/2014/main" id="{7EE90257-ED61-A8F8-30DE-CD708A076E27}"/>
              </a:ext>
            </a:extLst>
          </p:cNvPr>
          <p:cNvSpPr>
            <a:spLocks noGrp="1"/>
          </p:cNvSpPr>
          <p:nvPr>
            <p:ph type="sldNum" sz="quarter" idx="10"/>
          </p:nvPr>
        </p:nvSpPr>
        <p:spPr/>
        <p:txBody>
          <a:bodyPr/>
          <a:lstStyle/>
          <a:p>
            <a:fld id="{F7993446-AC8C-C146-B124-3E45B57DC633}" type="slidenum">
              <a:rPr lang="en-US" smtClean="0"/>
              <a:pPr/>
              <a:t>18</a:t>
            </a:fld>
            <a:endParaRPr lang="en-US"/>
          </a:p>
        </p:txBody>
      </p:sp>
    </p:spTree>
    <p:extLst>
      <p:ext uri="{BB962C8B-B14F-4D97-AF65-F5344CB8AC3E}">
        <p14:creationId xmlns:p14="http://schemas.microsoft.com/office/powerpoint/2010/main" val="36678019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BE2BD9-A53D-D83F-303F-25CDBB35A1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525FE3-6691-6EFF-0C5F-2B9AB6237155}"/>
              </a:ext>
            </a:extLst>
          </p:cNvPr>
          <p:cNvSpPr>
            <a:spLocks noGrp="1" noRot="1" noChangeAspect="1"/>
          </p:cNvSpPr>
          <p:nvPr>
            <p:ph type="sldImg"/>
          </p:nvPr>
        </p:nvSpPr>
        <p:spPr>
          <a:xfrm>
            <a:off x="427038" y="692150"/>
            <a:ext cx="6156325" cy="3463925"/>
          </a:xfrm>
        </p:spPr>
      </p:sp>
      <p:sp>
        <p:nvSpPr>
          <p:cNvPr id="3" name="Notes Placeholder 2">
            <a:extLst>
              <a:ext uri="{FF2B5EF4-FFF2-40B4-BE49-F238E27FC236}">
                <a16:creationId xmlns:a16="http://schemas.microsoft.com/office/drawing/2014/main" id="{DEA203BA-D929-61AA-0D77-CB453039ADF2}"/>
              </a:ext>
            </a:extLst>
          </p:cNvPr>
          <p:cNvSpPr>
            <a:spLocks noGrp="1"/>
          </p:cNvSpPr>
          <p:nvPr>
            <p:ph type="body" idx="1"/>
          </p:nvPr>
        </p:nvSpPr>
        <p:spPr/>
        <p:txBody>
          <a:bodyPr/>
          <a:lstStyle/>
          <a:p>
            <a:endParaRPr lang="vi-VN" dirty="0"/>
          </a:p>
        </p:txBody>
      </p:sp>
      <p:sp>
        <p:nvSpPr>
          <p:cNvPr id="4" name="Slide Number Placeholder 3">
            <a:extLst>
              <a:ext uri="{FF2B5EF4-FFF2-40B4-BE49-F238E27FC236}">
                <a16:creationId xmlns:a16="http://schemas.microsoft.com/office/drawing/2014/main" id="{B6CAE6D4-94C1-722E-04A6-7099400EC819}"/>
              </a:ext>
            </a:extLst>
          </p:cNvPr>
          <p:cNvSpPr>
            <a:spLocks noGrp="1"/>
          </p:cNvSpPr>
          <p:nvPr>
            <p:ph type="sldNum" sz="quarter" idx="10"/>
          </p:nvPr>
        </p:nvSpPr>
        <p:spPr/>
        <p:txBody>
          <a:bodyPr/>
          <a:lstStyle/>
          <a:p>
            <a:fld id="{F7993446-AC8C-C146-B124-3E45B57DC633}" type="slidenum">
              <a:rPr lang="en-US" smtClean="0"/>
              <a:pPr/>
              <a:t>19</a:t>
            </a:fld>
            <a:endParaRPr lang="en-US"/>
          </a:p>
        </p:txBody>
      </p:sp>
    </p:spTree>
    <p:extLst>
      <p:ext uri="{BB962C8B-B14F-4D97-AF65-F5344CB8AC3E}">
        <p14:creationId xmlns:p14="http://schemas.microsoft.com/office/powerpoint/2010/main" val="9958774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Line 9"/>
          <p:cNvSpPr>
            <a:spLocks noChangeShapeType="1"/>
          </p:cNvSpPr>
          <p:nvPr/>
        </p:nvSpPr>
        <p:spPr bwMode="auto">
          <a:xfrm flipV="1">
            <a:off x="609600" y="3733800"/>
            <a:ext cx="5486400" cy="0"/>
          </a:xfrm>
          <a:prstGeom prst="line">
            <a:avLst/>
          </a:prstGeom>
          <a:noFill/>
          <a:ln w="73025">
            <a:solidFill>
              <a:schemeClr val="tx1">
                <a:lumMod val="75000"/>
                <a:lumOff val="25000"/>
              </a:schemeClr>
            </a:solidFill>
            <a:round/>
            <a:headEnd/>
            <a:tailEnd/>
          </a:ln>
          <a:effectLst/>
        </p:spPr>
        <p:txBody>
          <a:bodyPr>
            <a:prstTxWarp prst="textNoShape">
              <a:avLst/>
            </a:prstTxWarp>
          </a:bodyPr>
          <a:lstStyle/>
          <a:p>
            <a:pPr fontAlgn="auto">
              <a:spcBef>
                <a:spcPts val="0"/>
              </a:spcBef>
              <a:spcAft>
                <a:spcPts val="0"/>
              </a:spcAft>
              <a:defRPr/>
            </a:pPr>
            <a:endParaRPr lang="en-US" sz="1800">
              <a:latin typeface="+mn-lt"/>
              <a:ea typeface="+mn-ea"/>
              <a:cs typeface="+mn-cs"/>
            </a:endParaRPr>
          </a:p>
        </p:txBody>
      </p:sp>
      <p:sp>
        <p:nvSpPr>
          <p:cNvPr id="5" name="Line 10"/>
          <p:cNvSpPr>
            <a:spLocks noChangeShapeType="1"/>
          </p:cNvSpPr>
          <p:nvPr/>
        </p:nvSpPr>
        <p:spPr bwMode="auto">
          <a:xfrm flipV="1">
            <a:off x="6096000" y="3733800"/>
            <a:ext cx="5486400" cy="0"/>
          </a:xfrm>
          <a:prstGeom prst="line">
            <a:avLst/>
          </a:prstGeom>
          <a:noFill/>
          <a:ln w="73025">
            <a:solidFill>
              <a:srgbClr val="FF0000"/>
            </a:solidFill>
            <a:round/>
            <a:headEnd/>
            <a:tailEnd/>
          </a:ln>
          <a:effectLst/>
        </p:spPr>
        <p:txBody>
          <a:bodyPr>
            <a:prstTxWarp prst="textNoShape">
              <a:avLst/>
            </a:prstTxWarp>
          </a:bodyPr>
          <a:lstStyle/>
          <a:p>
            <a:pPr fontAlgn="auto">
              <a:spcBef>
                <a:spcPts val="0"/>
              </a:spcBef>
              <a:spcAft>
                <a:spcPts val="0"/>
              </a:spcAft>
              <a:defRPr/>
            </a:pPr>
            <a:endParaRPr lang="en-US" sz="1800">
              <a:latin typeface="+mn-lt"/>
              <a:ea typeface="+mn-ea"/>
              <a:cs typeface="+mn-cs"/>
            </a:endParaRPr>
          </a:p>
        </p:txBody>
      </p:sp>
      <p:sp>
        <p:nvSpPr>
          <p:cNvPr id="2" name="Title 1"/>
          <p:cNvSpPr>
            <a:spLocks noGrp="1"/>
          </p:cNvSpPr>
          <p:nvPr>
            <p:ph type="ctrTitle"/>
          </p:nvPr>
        </p:nvSpPr>
        <p:spPr>
          <a:xfrm>
            <a:off x="914400" y="2130426"/>
            <a:ext cx="10363200" cy="1470025"/>
          </a:xfrm>
        </p:spPr>
        <p:txBody>
          <a:bodyPr/>
          <a:lstStyle>
            <a:lvl1pPr>
              <a:defRPr>
                <a:solidFill>
                  <a:srgbClr val="009900"/>
                </a:solidFill>
                <a:latin typeface="Segoe UI Semibold" pitchFamily="34" charset="0"/>
              </a:defRPr>
            </a:lvl1pPr>
          </a:lstStyle>
          <a:p>
            <a:r>
              <a:rPr lang="en-US"/>
              <a:t>Click to edit Master title style</a:t>
            </a:r>
            <a:endParaRPr lang="en-US" dirty="0"/>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lumMod val="65000"/>
                    <a:lumOff val="35000"/>
                  </a:schemeClr>
                </a:solidFill>
                <a:latin typeface="Segoe WP"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6" name="Date Placeholder 3"/>
          <p:cNvSpPr>
            <a:spLocks noGrp="1"/>
          </p:cNvSpPr>
          <p:nvPr>
            <p:ph type="dt" sz="half" idx="10"/>
          </p:nvPr>
        </p:nvSpPr>
        <p:spPr/>
        <p:txBody>
          <a:bodyPr/>
          <a:lstStyle>
            <a:lvl1pPr>
              <a:defRPr/>
            </a:lvl1pPr>
          </a:lstStyle>
          <a:p>
            <a:fld id="{40CEA0DB-F637-4F86-97B3-0F90DEBF0595}" type="datetime1">
              <a:rPr lang="en-US" smtClean="0"/>
              <a:t>4/22/26</a:t>
            </a:fld>
            <a:endParaRPr lang="en-US"/>
          </a:p>
        </p:txBody>
      </p:sp>
      <p:sp>
        <p:nvSpPr>
          <p:cNvPr id="7" name="Footer Placeholder 4"/>
          <p:cNvSpPr>
            <a:spLocks noGrp="1"/>
          </p:cNvSpPr>
          <p:nvPr>
            <p:ph type="ftr" sz="quarter" idx="11"/>
          </p:nvPr>
        </p:nvSpPr>
        <p:spPr/>
        <p:txBody>
          <a:bodyPr/>
          <a:lstStyle>
            <a:lvl1pPr>
              <a:defRPr/>
            </a:lvl1pPr>
          </a:lstStyle>
          <a:p>
            <a:r>
              <a:rPr lang="vi-VN"/>
              <a:t>Phạm Văn Cảnh</a:t>
            </a:r>
            <a:endParaRPr lang="en-US"/>
          </a:p>
        </p:txBody>
      </p:sp>
      <p:sp>
        <p:nvSpPr>
          <p:cNvPr id="8" name="Slide Number Placeholder 5"/>
          <p:cNvSpPr>
            <a:spLocks noGrp="1"/>
          </p:cNvSpPr>
          <p:nvPr>
            <p:ph type="sldNum" sz="quarter" idx="12"/>
          </p:nvPr>
        </p:nvSpPr>
        <p:spPr/>
        <p:txBody>
          <a:bodyPr/>
          <a:lstStyle>
            <a:lvl1pPr>
              <a:defRPr/>
            </a:lvl1pPr>
          </a:lstStyle>
          <a:p>
            <a:fld id="{AFC56213-B4C4-4C5C-8EAE-01416D175C4F}"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Line 9"/>
          <p:cNvSpPr>
            <a:spLocks noChangeShapeType="1"/>
          </p:cNvSpPr>
          <p:nvPr/>
        </p:nvSpPr>
        <p:spPr bwMode="auto">
          <a:xfrm flipV="1">
            <a:off x="609600" y="1143000"/>
            <a:ext cx="5486400" cy="0"/>
          </a:xfrm>
          <a:prstGeom prst="line">
            <a:avLst/>
          </a:prstGeom>
          <a:noFill/>
          <a:ln w="73025">
            <a:solidFill>
              <a:schemeClr val="tx1">
                <a:lumMod val="75000"/>
                <a:lumOff val="25000"/>
              </a:schemeClr>
            </a:solidFill>
            <a:round/>
            <a:headEnd/>
            <a:tailEnd/>
          </a:ln>
          <a:effectLst/>
        </p:spPr>
        <p:txBody>
          <a:bodyPr>
            <a:prstTxWarp prst="textNoShape">
              <a:avLst/>
            </a:prstTxWarp>
          </a:bodyPr>
          <a:lstStyle/>
          <a:p>
            <a:pPr fontAlgn="auto">
              <a:spcBef>
                <a:spcPts val="0"/>
              </a:spcBef>
              <a:spcAft>
                <a:spcPts val="0"/>
              </a:spcAft>
              <a:defRPr/>
            </a:pPr>
            <a:endParaRPr lang="en-US" sz="1800">
              <a:latin typeface="+mn-lt"/>
              <a:ea typeface="+mn-ea"/>
              <a:cs typeface="+mn-cs"/>
            </a:endParaRPr>
          </a:p>
        </p:txBody>
      </p:sp>
      <p:sp>
        <p:nvSpPr>
          <p:cNvPr id="5" name="Line 10"/>
          <p:cNvSpPr>
            <a:spLocks noChangeShapeType="1"/>
          </p:cNvSpPr>
          <p:nvPr/>
        </p:nvSpPr>
        <p:spPr bwMode="auto">
          <a:xfrm flipV="1">
            <a:off x="6096000" y="1143000"/>
            <a:ext cx="5486400" cy="0"/>
          </a:xfrm>
          <a:prstGeom prst="line">
            <a:avLst/>
          </a:prstGeom>
          <a:noFill/>
          <a:ln w="73025">
            <a:solidFill>
              <a:srgbClr val="FF0000"/>
            </a:solidFill>
            <a:round/>
            <a:headEnd/>
            <a:tailEnd/>
          </a:ln>
          <a:effectLst/>
        </p:spPr>
        <p:txBody>
          <a:bodyPr>
            <a:prstTxWarp prst="textNoShape">
              <a:avLst/>
            </a:prstTxWarp>
          </a:bodyPr>
          <a:lstStyle/>
          <a:p>
            <a:pPr fontAlgn="auto">
              <a:spcBef>
                <a:spcPts val="0"/>
              </a:spcBef>
              <a:spcAft>
                <a:spcPts val="0"/>
              </a:spcAft>
              <a:defRPr/>
            </a:pPr>
            <a:endParaRPr lang="en-US" sz="1800">
              <a:latin typeface="+mn-lt"/>
              <a:ea typeface="+mn-ea"/>
              <a:cs typeface="+mn-cs"/>
            </a:endParaRPr>
          </a:p>
        </p:txBody>
      </p:sp>
      <p:sp>
        <p:nvSpPr>
          <p:cNvPr id="6" name="Line 9"/>
          <p:cNvSpPr>
            <a:spLocks noChangeShapeType="1"/>
          </p:cNvSpPr>
          <p:nvPr/>
        </p:nvSpPr>
        <p:spPr bwMode="auto">
          <a:xfrm flipV="1">
            <a:off x="609600" y="6248400"/>
            <a:ext cx="5486400" cy="0"/>
          </a:xfrm>
          <a:prstGeom prst="line">
            <a:avLst/>
          </a:prstGeom>
          <a:noFill/>
          <a:ln w="73025">
            <a:solidFill>
              <a:schemeClr val="tx1">
                <a:lumMod val="75000"/>
                <a:lumOff val="25000"/>
              </a:schemeClr>
            </a:solidFill>
            <a:round/>
            <a:headEnd/>
            <a:tailEnd/>
          </a:ln>
          <a:effectLst/>
        </p:spPr>
        <p:txBody>
          <a:bodyPr>
            <a:prstTxWarp prst="textNoShape">
              <a:avLst/>
            </a:prstTxWarp>
          </a:bodyPr>
          <a:lstStyle/>
          <a:p>
            <a:pPr fontAlgn="auto">
              <a:spcBef>
                <a:spcPts val="0"/>
              </a:spcBef>
              <a:spcAft>
                <a:spcPts val="0"/>
              </a:spcAft>
              <a:defRPr/>
            </a:pPr>
            <a:endParaRPr lang="en-US" sz="1800">
              <a:latin typeface="+mn-lt"/>
              <a:ea typeface="+mn-ea"/>
              <a:cs typeface="+mn-cs"/>
            </a:endParaRPr>
          </a:p>
        </p:txBody>
      </p:sp>
      <p:sp>
        <p:nvSpPr>
          <p:cNvPr id="7" name="Line 10"/>
          <p:cNvSpPr>
            <a:spLocks noChangeShapeType="1"/>
          </p:cNvSpPr>
          <p:nvPr/>
        </p:nvSpPr>
        <p:spPr bwMode="auto">
          <a:xfrm flipV="1">
            <a:off x="6096000" y="6248400"/>
            <a:ext cx="5486400" cy="0"/>
          </a:xfrm>
          <a:prstGeom prst="line">
            <a:avLst/>
          </a:prstGeom>
          <a:noFill/>
          <a:ln w="73025">
            <a:solidFill>
              <a:srgbClr val="FF0000"/>
            </a:solidFill>
            <a:round/>
            <a:headEnd/>
            <a:tailEnd/>
          </a:ln>
          <a:effectLst/>
        </p:spPr>
        <p:txBody>
          <a:bodyPr>
            <a:prstTxWarp prst="textNoShape">
              <a:avLst/>
            </a:prstTxWarp>
          </a:bodyPr>
          <a:lstStyle/>
          <a:p>
            <a:pPr fontAlgn="auto">
              <a:spcBef>
                <a:spcPts val="0"/>
              </a:spcBef>
              <a:spcAft>
                <a:spcPts val="0"/>
              </a:spcAft>
              <a:defRPr/>
            </a:pPr>
            <a:endParaRPr lang="en-US" sz="1800">
              <a:latin typeface="+mn-lt"/>
              <a:ea typeface="+mn-ea"/>
              <a:cs typeface="+mn-cs"/>
            </a:endParaRPr>
          </a:p>
        </p:txBody>
      </p:sp>
      <p:sp>
        <p:nvSpPr>
          <p:cNvPr id="2" name="Title 1"/>
          <p:cNvSpPr>
            <a:spLocks noGrp="1"/>
          </p:cNvSpPr>
          <p:nvPr>
            <p:ph type="title"/>
          </p:nvPr>
        </p:nvSpPr>
        <p:spPr>
          <a:xfrm>
            <a:off x="609600" y="152400"/>
            <a:ext cx="10972800" cy="792162"/>
          </a:xfrm>
        </p:spPr>
        <p:txBody>
          <a:bodyPr/>
          <a:lstStyle>
            <a:lvl1pPr>
              <a:defRPr>
                <a:solidFill>
                  <a:srgbClr val="009900"/>
                </a:solidFill>
                <a:latin typeface="Segoe UI Semibold" pitchFamily="34" charset="0"/>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marL="342900" indent="-342900">
              <a:buClr>
                <a:srgbClr val="009900"/>
              </a:buClr>
              <a:buSzPct val="120000"/>
              <a:buFont typeface="Wingdings" pitchFamily="2" charset="2"/>
              <a:buChar char="§"/>
              <a:defRPr>
                <a:solidFill>
                  <a:schemeClr val="tx1">
                    <a:lumMod val="65000"/>
                    <a:lumOff val="35000"/>
                  </a:schemeClr>
                </a:solidFill>
                <a:latin typeface="Segoe WP" pitchFamily="34" charset="0"/>
              </a:defRPr>
            </a:lvl1pPr>
            <a:lvl2pPr marL="742950" indent="-285750">
              <a:buClr>
                <a:schemeClr val="accent5"/>
              </a:buClr>
              <a:buSzPct val="120000"/>
              <a:buFont typeface="Arial" pitchFamily="34" charset="0"/>
              <a:buChar char="•"/>
              <a:defRPr>
                <a:solidFill>
                  <a:schemeClr val="tx1">
                    <a:lumMod val="65000"/>
                    <a:lumOff val="35000"/>
                  </a:schemeClr>
                </a:solidFill>
                <a:latin typeface="Segoe WP" pitchFamily="34" charset="0"/>
              </a:defRPr>
            </a:lvl2pPr>
            <a:lvl3pPr>
              <a:defRPr>
                <a:solidFill>
                  <a:schemeClr val="tx1">
                    <a:lumMod val="65000"/>
                    <a:lumOff val="35000"/>
                  </a:schemeClr>
                </a:solidFill>
                <a:latin typeface="Segoe WP" pitchFamily="34" charset="0"/>
              </a:defRPr>
            </a:lvl3pPr>
            <a:lvl4pPr>
              <a:defRPr>
                <a:solidFill>
                  <a:schemeClr val="tx1">
                    <a:lumMod val="65000"/>
                    <a:lumOff val="35000"/>
                  </a:schemeClr>
                </a:solidFill>
                <a:latin typeface="Segoe WP" pitchFamily="34" charset="0"/>
              </a:defRPr>
            </a:lvl4pPr>
            <a:lvl5pPr>
              <a:defRPr>
                <a:solidFill>
                  <a:schemeClr val="tx1">
                    <a:lumMod val="65000"/>
                    <a:lumOff val="35000"/>
                  </a:schemeClr>
                </a:solidFill>
                <a:latin typeface="Segoe WP"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Date Placeholder 3"/>
          <p:cNvSpPr>
            <a:spLocks noGrp="1"/>
          </p:cNvSpPr>
          <p:nvPr>
            <p:ph type="dt" sz="half" idx="10"/>
          </p:nvPr>
        </p:nvSpPr>
        <p:spPr>
          <a:xfrm>
            <a:off x="842683" y="6356351"/>
            <a:ext cx="2844800" cy="365125"/>
          </a:xfrm>
        </p:spPr>
        <p:txBody>
          <a:bodyPr/>
          <a:lstStyle>
            <a:lvl1pPr>
              <a:defRPr/>
            </a:lvl1pPr>
          </a:lstStyle>
          <a:p>
            <a:fld id="{9F42534C-D881-4337-BD56-E6DB179428CF}" type="datetime1">
              <a:rPr lang="en-US" smtClean="0"/>
              <a:t>4/22/26</a:t>
            </a:fld>
            <a:endParaRPr lang="en-US"/>
          </a:p>
        </p:txBody>
      </p:sp>
      <p:sp>
        <p:nvSpPr>
          <p:cNvPr id="10" name="Footer Placeholder 4"/>
          <p:cNvSpPr>
            <a:spLocks noGrp="1"/>
          </p:cNvSpPr>
          <p:nvPr>
            <p:ph type="ftr" sz="quarter" idx="11"/>
          </p:nvPr>
        </p:nvSpPr>
        <p:spPr/>
        <p:txBody>
          <a:bodyPr/>
          <a:lstStyle>
            <a:lvl1pPr>
              <a:defRPr/>
            </a:lvl1pPr>
          </a:lstStyle>
          <a:p>
            <a:r>
              <a:rPr lang="vi-VN"/>
              <a:t>Phạm Văn Cảnh</a:t>
            </a:r>
            <a:endParaRPr lang="en-US"/>
          </a:p>
        </p:txBody>
      </p:sp>
      <p:sp>
        <p:nvSpPr>
          <p:cNvPr id="11" name="Slide Number Placeholder 5"/>
          <p:cNvSpPr>
            <a:spLocks noGrp="1"/>
          </p:cNvSpPr>
          <p:nvPr>
            <p:ph type="sldNum" sz="quarter" idx="12"/>
          </p:nvPr>
        </p:nvSpPr>
        <p:spPr/>
        <p:txBody>
          <a:bodyPr/>
          <a:lstStyle>
            <a:lvl1pPr>
              <a:defRPr/>
            </a:lvl1pPr>
          </a:lstStyle>
          <a:p>
            <a:fld id="{4EB4ADB3-4D6A-144B-B124-08234FE3D04F}"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48B32ED3-EBBD-45F9-B8B1-1A9B6C85A7E4}" type="datetime1">
              <a:rPr lang="en-US" smtClean="0"/>
              <a:t>4/22/26</a:t>
            </a:fld>
            <a:endParaRPr lang="en-US"/>
          </a:p>
        </p:txBody>
      </p:sp>
      <p:sp>
        <p:nvSpPr>
          <p:cNvPr id="5" name="Footer Placeholder 4"/>
          <p:cNvSpPr>
            <a:spLocks noGrp="1"/>
          </p:cNvSpPr>
          <p:nvPr>
            <p:ph type="ftr" sz="quarter" idx="11"/>
          </p:nvPr>
        </p:nvSpPr>
        <p:spPr/>
        <p:txBody>
          <a:bodyPr/>
          <a:lstStyle>
            <a:lvl1pPr>
              <a:defRPr/>
            </a:lvl1pPr>
          </a:lstStyle>
          <a:p>
            <a:r>
              <a:rPr lang="vi-VN"/>
              <a:t>Phạm Văn Cảnh</a:t>
            </a:r>
            <a:endParaRPr lang="en-US"/>
          </a:p>
        </p:txBody>
      </p:sp>
      <p:sp>
        <p:nvSpPr>
          <p:cNvPr id="6" name="Slide Number Placeholder 5"/>
          <p:cNvSpPr>
            <a:spLocks noGrp="1"/>
          </p:cNvSpPr>
          <p:nvPr>
            <p:ph type="sldNum" sz="quarter" idx="12"/>
          </p:nvPr>
        </p:nvSpPr>
        <p:spPr/>
        <p:txBody>
          <a:bodyPr/>
          <a:lstStyle>
            <a:lvl1pPr>
              <a:defRPr/>
            </a:lvl1pPr>
          </a:lstStyle>
          <a:p>
            <a:fld id="{4EB4ADB3-4D6A-144B-B124-08234FE3D04F}"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Line 9"/>
          <p:cNvSpPr>
            <a:spLocks noChangeShapeType="1"/>
          </p:cNvSpPr>
          <p:nvPr/>
        </p:nvSpPr>
        <p:spPr bwMode="auto">
          <a:xfrm flipV="1">
            <a:off x="609600" y="1143000"/>
            <a:ext cx="5486400" cy="0"/>
          </a:xfrm>
          <a:prstGeom prst="line">
            <a:avLst/>
          </a:prstGeom>
          <a:noFill/>
          <a:ln w="73025">
            <a:solidFill>
              <a:schemeClr val="tx1">
                <a:lumMod val="75000"/>
                <a:lumOff val="25000"/>
              </a:schemeClr>
            </a:solidFill>
            <a:round/>
            <a:headEnd/>
            <a:tailEnd/>
          </a:ln>
          <a:effectLst/>
        </p:spPr>
        <p:txBody>
          <a:bodyPr>
            <a:prstTxWarp prst="textNoShape">
              <a:avLst/>
            </a:prstTxWarp>
          </a:bodyPr>
          <a:lstStyle/>
          <a:p>
            <a:pPr fontAlgn="auto">
              <a:spcBef>
                <a:spcPts val="0"/>
              </a:spcBef>
              <a:spcAft>
                <a:spcPts val="0"/>
              </a:spcAft>
              <a:defRPr/>
            </a:pPr>
            <a:endParaRPr lang="en-US" sz="1800">
              <a:latin typeface="+mn-lt"/>
              <a:ea typeface="+mn-ea"/>
              <a:cs typeface="+mn-cs"/>
            </a:endParaRPr>
          </a:p>
        </p:txBody>
      </p:sp>
      <p:sp>
        <p:nvSpPr>
          <p:cNvPr id="6" name="Line 10"/>
          <p:cNvSpPr>
            <a:spLocks noChangeShapeType="1"/>
          </p:cNvSpPr>
          <p:nvPr/>
        </p:nvSpPr>
        <p:spPr bwMode="auto">
          <a:xfrm flipV="1">
            <a:off x="6096000" y="1143000"/>
            <a:ext cx="5486400" cy="0"/>
          </a:xfrm>
          <a:prstGeom prst="line">
            <a:avLst/>
          </a:prstGeom>
          <a:noFill/>
          <a:ln w="73025">
            <a:solidFill>
              <a:srgbClr val="FF0000"/>
            </a:solidFill>
            <a:round/>
            <a:headEnd/>
            <a:tailEnd/>
          </a:ln>
          <a:effectLst/>
        </p:spPr>
        <p:txBody>
          <a:bodyPr>
            <a:prstTxWarp prst="textNoShape">
              <a:avLst/>
            </a:prstTxWarp>
          </a:bodyPr>
          <a:lstStyle/>
          <a:p>
            <a:pPr fontAlgn="auto">
              <a:spcBef>
                <a:spcPts val="0"/>
              </a:spcBef>
              <a:spcAft>
                <a:spcPts val="0"/>
              </a:spcAft>
              <a:defRPr/>
            </a:pPr>
            <a:endParaRPr lang="en-US" sz="1800">
              <a:latin typeface="+mn-lt"/>
              <a:ea typeface="+mn-ea"/>
              <a:cs typeface="+mn-cs"/>
            </a:endParaRPr>
          </a:p>
        </p:txBody>
      </p:sp>
      <p:pic>
        <p:nvPicPr>
          <p:cNvPr id="7" name="Picture 8" descr="logo"/>
          <p:cNvPicPr>
            <a:picLocks noChangeAspect="1" noChangeArrowheads="1"/>
          </p:cNvPicPr>
          <p:nvPr/>
        </p:nvPicPr>
        <p:blipFill>
          <a:blip r:embed="rId2"/>
          <a:srcRect/>
          <a:stretch>
            <a:fillRect/>
          </a:stretch>
        </p:blipFill>
        <p:spPr bwMode="auto">
          <a:xfrm>
            <a:off x="609600" y="6226176"/>
            <a:ext cx="2336800" cy="708025"/>
          </a:xfrm>
          <a:prstGeom prst="rect">
            <a:avLst/>
          </a:prstGeom>
          <a:noFill/>
          <a:ln w="9525">
            <a:noFill/>
            <a:miter lim="800000"/>
            <a:headEnd/>
            <a:tailEnd/>
          </a:ln>
        </p:spPr>
      </p:pic>
      <p:sp>
        <p:nvSpPr>
          <p:cNvPr id="8" name="Line 9"/>
          <p:cNvSpPr>
            <a:spLocks noChangeShapeType="1"/>
          </p:cNvSpPr>
          <p:nvPr/>
        </p:nvSpPr>
        <p:spPr bwMode="auto">
          <a:xfrm flipV="1">
            <a:off x="609600" y="6248400"/>
            <a:ext cx="5486400" cy="0"/>
          </a:xfrm>
          <a:prstGeom prst="line">
            <a:avLst/>
          </a:prstGeom>
          <a:noFill/>
          <a:ln w="73025">
            <a:solidFill>
              <a:schemeClr val="tx1">
                <a:lumMod val="75000"/>
                <a:lumOff val="25000"/>
              </a:schemeClr>
            </a:solidFill>
            <a:round/>
            <a:headEnd/>
            <a:tailEnd/>
          </a:ln>
          <a:effectLst/>
        </p:spPr>
        <p:txBody>
          <a:bodyPr>
            <a:prstTxWarp prst="textNoShape">
              <a:avLst/>
            </a:prstTxWarp>
          </a:bodyPr>
          <a:lstStyle/>
          <a:p>
            <a:pPr fontAlgn="auto">
              <a:spcBef>
                <a:spcPts val="0"/>
              </a:spcBef>
              <a:spcAft>
                <a:spcPts val="0"/>
              </a:spcAft>
              <a:defRPr/>
            </a:pPr>
            <a:endParaRPr lang="en-US" sz="1800">
              <a:latin typeface="+mn-lt"/>
              <a:ea typeface="+mn-ea"/>
              <a:cs typeface="+mn-cs"/>
            </a:endParaRPr>
          </a:p>
        </p:txBody>
      </p:sp>
      <p:sp>
        <p:nvSpPr>
          <p:cNvPr id="9" name="Line 10"/>
          <p:cNvSpPr>
            <a:spLocks noChangeShapeType="1"/>
          </p:cNvSpPr>
          <p:nvPr/>
        </p:nvSpPr>
        <p:spPr bwMode="auto">
          <a:xfrm flipV="1">
            <a:off x="6096000" y="6248400"/>
            <a:ext cx="5486400" cy="0"/>
          </a:xfrm>
          <a:prstGeom prst="line">
            <a:avLst/>
          </a:prstGeom>
          <a:noFill/>
          <a:ln w="73025">
            <a:solidFill>
              <a:srgbClr val="FF0000"/>
            </a:solidFill>
            <a:round/>
            <a:headEnd/>
            <a:tailEnd/>
          </a:ln>
          <a:effectLst/>
        </p:spPr>
        <p:txBody>
          <a:bodyPr>
            <a:prstTxWarp prst="textNoShape">
              <a:avLst/>
            </a:prstTxWarp>
          </a:bodyPr>
          <a:lstStyle/>
          <a:p>
            <a:pPr fontAlgn="auto">
              <a:spcBef>
                <a:spcPts val="0"/>
              </a:spcBef>
              <a:spcAft>
                <a:spcPts val="0"/>
              </a:spcAft>
              <a:defRPr/>
            </a:pPr>
            <a:endParaRPr lang="en-US" sz="1800">
              <a:latin typeface="+mn-lt"/>
              <a:ea typeface="+mn-ea"/>
              <a:cs typeface="+mn-cs"/>
            </a:endParaRPr>
          </a:p>
        </p:txBody>
      </p: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219201"/>
            <a:ext cx="5384800" cy="4906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219201"/>
            <a:ext cx="5384800" cy="4906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4"/>
          <p:cNvSpPr>
            <a:spLocks noGrp="1"/>
          </p:cNvSpPr>
          <p:nvPr>
            <p:ph type="dt" sz="half" idx="10"/>
          </p:nvPr>
        </p:nvSpPr>
        <p:spPr/>
        <p:txBody>
          <a:bodyPr/>
          <a:lstStyle>
            <a:lvl1pPr>
              <a:defRPr/>
            </a:lvl1pPr>
          </a:lstStyle>
          <a:p>
            <a:fld id="{D9EC465C-97D2-40C2-B70A-653E7DC7C5A8}" type="datetime1">
              <a:rPr lang="en-US" smtClean="0"/>
              <a:t>4/22/26</a:t>
            </a:fld>
            <a:endParaRPr lang="en-US"/>
          </a:p>
        </p:txBody>
      </p:sp>
      <p:sp>
        <p:nvSpPr>
          <p:cNvPr id="11" name="Footer Placeholder 5"/>
          <p:cNvSpPr>
            <a:spLocks noGrp="1"/>
          </p:cNvSpPr>
          <p:nvPr>
            <p:ph type="ftr" sz="quarter" idx="11"/>
          </p:nvPr>
        </p:nvSpPr>
        <p:spPr/>
        <p:txBody>
          <a:bodyPr/>
          <a:lstStyle>
            <a:lvl1pPr>
              <a:defRPr/>
            </a:lvl1pPr>
          </a:lstStyle>
          <a:p>
            <a:r>
              <a:rPr lang="vi-VN"/>
              <a:t>Phạm Văn Cảnh</a:t>
            </a:r>
            <a:endParaRPr lang="en-US"/>
          </a:p>
        </p:txBody>
      </p:sp>
      <p:sp>
        <p:nvSpPr>
          <p:cNvPr id="12" name="Slide Number Placeholder 6"/>
          <p:cNvSpPr>
            <a:spLocks noGrp="1"/>
          </p:cNvSpPr>
          <p:nvPr>
            <p:ph type="sldNum" sz="quarter" idx="12"/>
          </p:nvPr>
        </p:nvSpPr>
        <p:spPr/>
        <p:txBody>
          <a:bodyPr/>
          <a:lstStyle>
            <a:lvl1pPr>
              <a:defRPr/>
            </a:lvl1pPr>
          </a:lstStyle>
          <a:p>
            <a:fld id="{4EB4ADB3-4D6A-144B-B124-08234FE3D04F}"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3B76EEF6-5664-4BA3-BA14-0181F30D58D6}" type="datetime1">
              <a:rPr lang="en-US" smtClean="0"/>
              <a:t>4/22/26</a:t>
            </a:fld>
            <a:endParaRPr lang="en-US"/>
          </a:p>
        </p:txBody>
      </p:sp>
      <p:sp>
        <p:nvSpPr>
          <p:cNvPr id="8" name="Footer Placeholder 4"/>
          <p:cNvSpPr>
            <a:spLocks noGrp="1"/>
          </p:cNvSpPr>
          <p:nvPr>
            <p:ph type="ftr" sz="quarter" idx="11"/>
          </p:nvPr>
        </p:nvSpPr>
        <p:spPr/>
        <p:txBody>
          <a:bodyPr/>
          <a:lstStyle>
            <a:lvl1pPr>
              <a:defRPr/>
            </a:lvl1pPr>
          </a:lstStyle>
          <a:p>
            <a:r>
              <a:rPr lang="vi-VN"/>
              <a:t>Phạm Văn Cảnh</a:t>
            </a:r>
            <a:endParaRPr lang="en-US"/>
          </a:p>
        </p:txBody>
      </p:sp>
      <p:sp>
        <p:nvSpPr>
          <p:cNvPr id="9" name="Slide Number Placeholder 5"/>
          <p:cNvSpPr>
            <a:spLocks noGrp="1"/>
          </p:cNvSpPr>
          <p:nvPr>
            <p:ph type="sldNum" sz="quarter" idx="12"/>
          </p:nvPr>
        </p:nvSpPr>
        <p:spPr/>
        <p:txBody>
          <a:bodyPr/>
          <a:lstStyle>
            <a:lvl1pPr>
              <a:defRPr/>
            </a:lvl1pPr>
          </a:lstStyle>
          <a:p>
            <a:fld id="{4EB4ADB3-4D6A-144B-B124-08234FE3D04F}"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650B2F76-9F20-49EA-8646-ECCAFC8D7F5D}" type="datetime1">
              <a:rPr lang="en-US" smtClean="0"/>
              <a:t>4/22/26</a:t>
            </a:fld>
            <a:endParaRPr lang="en-US"/>
          </a:p>
        </p:txBody>
      </p:sp>
      <p:sp>
        <p:nvSpPr>
          <p:cNvPr id="4" name="Footer Placeholder 4"/>
          <p:cNvSpPr>
            <a:spLocks noGrp="1"/>
          </p:cNvSpPr>
          <p:nvPr>
            <p:ph type="ftr" sz="quarter" idx="11"/>
          </p:nvPr>
        </p:nvSpPr>
        <p:spPr/>
        <p:txBody>
          <a:bodyPr/>
          <a:lstStyle>
            <a:lvl1pPr>
              <a:defRPr/>
            </a:lvl1pPr>
          </a:lstStyle>
          <a:p>
            <a:r>
              <a:rPr lang="vi-VN"/>
              <a:t>Phạm Văn Cảnh</a:t>
            </a:r>
            <a:endParaRPr lang="en-US"/>
          </a:p>
        </p:txBody>
      </p:sp>
      <p:sp>
        <p:nvSpPr>
          <p:cNvPr id="5" name="Slide Number Placeholder 5"/>
          <p:cNvSpPr>
            <a:spLocks noGrp="1"/>
          </p:cNvSpPr>
          <p:nvPr>
            <p:ph type="sldNum" sz="quarter" idx="12"/>
          </p:nvPr>
        </p:nvSpPr>
        <p:spPr/>
        <p:txBody>
          <a:bodyPr/>
          <a:lstStyle>
            <a:lvl1pPr>
              <a:defRPr/>
            </a:lvl1pPr>
          </a:lstStyle>
          <a:p>
            <a:fld id="{4EB4ADB3-4D6A-144B-B124-08234FE3D04F}"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B6AA442C-775F-4254-8C9C-711D63E60AD6}" type="datetime1">
              <a:rPr lang="en-US" smtClean="0"/>
              <a:t>4/22/26</a:t>
            </a:fld>
            <a:endParaRPr lang="en-US"/>
          </a:p>
        </p:txBody>
      </p:sp>
      <p:sp>
        <p:nvSpPr>
          <p:cNvPr id="3" name="Footer Placeholder 4"/>
          <p:cNvSpPr>
            <a:spLocks noGrp="1"/>
          </p:cNvSpPr>
          <p:nvPr>
            <p:ph type="ftr" sz="quarter" idx="11"/>
          </p:nvPr>
        </p:nvSpPr>
        <p:spPr/>
        <p:txBody>
          <a:bodyPr/>
          <a:lstStyle>
            <a:lvl1pPr>
              <a:defRPr/>
            </a:lvl1pPr>
          </a:lstStyle>
          <a:p>
            <a:r>
              <a:rPr lang="vi-VN"/>
              <a:t>Phạm Văn Cảnh</a:t>
            </a:r>
            <a:endParaRPr lang="en-US"/>
          </a:p>
        </p:txBody>
      </p:sp>
      <p:sp>
        <p:nvSpPr>
          <p:cNvPr id="4" name="Slide Number Placeholder 5"/>
          <p:cNvSpPr>
            <a:spLocks noGrp="1"/>
          </p:cNvSpPr>
          <p:nvPr>
            <p:ph type="sldNum" sz="quarter" idx="12"/>
          </p:nvPr>
        </p:nvSpPr>
        <p:spPr/>
        <p:txBody>
          <a:bodyPr/>
          <a:lstStyle>
            <a:lvl1pPr>
              <a:defRPr/>
            </a:lvl1pPr>
          </a:lstStyle>
          <a:p>
            <a:fld id="{4EB4ADB3-4D6A-144B-B124-08234FE3D04F}"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FC798200-83E1-452C-8B10-B88EA23E2DE9}" type="datetime1">
              <a:rPr lang="en-US" smtClean="0"/>
              <a:t>4/22/26</a:t>
            </a:fld>
            <a:endParaRPr lang="en-US"/>
          </a:p>
        </p:txBody>
      </p:sp>
      <p:sp>
        <p:nvSpPr>
          <p:cNvPr id="6" name="Footer Placeholder 4"/>
          <p:cNvSpPr>
            <a:spLocks noGrp="1"/>
          </p:cNvSpPr>
          <p:nvPr>
            <p:ph type="ftr" sz="quarter" idx="11"/>
          </p:nvPr>
        </p:nvSpPr>
        <p:spPr/>
        <p:txBody>
          <a:bodyPr/>
          <a:lstStyle>
            <a:lvl1pPr>
              <a:defRPr/>
            </a:lvl1pPr>
          </a:lstStyle>
          <a:p>
            <a:r>
              <a:rPr lang="vi-VN"/>
              <a:t>Phạm Văn Cảnh</a:t>
            </a:r>
            <a:endParaRPr lang="en-US"/>
          </a:p>
        </p:txBody>
      </p:sp>
      <p:sp>
        <p:nvSpPr>
          <p:cNvPr id="7" name="Slide Number Placeholder 5"/>
          <p:cNvSpPr>
            <a:spLocks noGrp="1"/>
          </p:cNvSpPr>
          <p:nvPr>
            <p:ph type="sldNum" sz="quarter" idx="12"/>
          </p:nvPr>
        </p:nvSpPr>
        <p:spPr/>
        <p:txBody>
          <a:bodyPr/>
          <a:lstStyle>
            <a:lvl1pPr>
              <a:defRPr/>
            </a:lvl1pPr>
          </a:lstStyle>
          <a:p>
            <a:fld id="{4EB4ADB3-4D6A-144B-B124-08234FE3D04F}"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B1F58238-4F4B-4E1D-B04F-89F9977A3706}" type="datetime1">
              <a:rPr lang="en-US" smtClean="0"/>
              <a:t>4/22/26</a:t>
            </a:fld>
            <a:endParaRPr lang="en-US"/>
          </a:p>
        </p:txBody>
      </p:sp>
      <p:sp>
        <p:nvSpPr>
          <p:cNvPr id="6" name="Footer Placeholder 4"/>
          <p:cNvSpPr>
            <a:spLocks noGrp="1"/>
          </p:cNvSpPr>
          <p:nvPr>
            <p:ph type="ftr" sz="quarter" idx="11"/>
          </p:nvPr>
        </p:nvSpPr>
        <p:spPr/>
        <p:txBody>
          <a:bodyPr/>
          <a:lstStyle>
            <a:lvl1pPr>
              <a:defRPr/>
            </a:lvl1pPr>
          </a:lstStyle>
          <a:p>
            <a:r>
              <a:rPr lang="vi-VN"/>
              <a:t>Phạm Văn Cảnh</a:t>
            </a:r>
            <a:endParaRPr lang="en-US"/>
          </a:p>
        </p:txBody>
      </p:sp>
      <p:sp>
        <p:nvSpPr>
          <p:cNvPr id="7" name="Slide Number Placeholder 5"/>
          <p:cNvSpPr>
            <a:spLocks noGrp="1"/>
          </p:cNvSpPr>
          <p:nvPr>
            <p:ph type="sldNum" sz="quarter" idx="12"/>
          </p:nvPr>
        </p:nvSpPr>
        <p:spPr/>
        <p:txBody>
          <a:bodyPr/>
          <a:lstStyle>
            <a:lvl1pPr>
              <a:defRPr/>
            </a:lvl1pPr>
          </a:lstStyle>
          <a:p>
            <a:fld id="{4EB4ADB3-4D6A-144B-B124-08234FE3D04F}"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F2891E7F-8654-49A2-8C51-E42B5C71090B}" type="datetime1">
              <a:rPr lang="en-US" smtClean="0"/>
              <a:t>4/22/26</a:t>
            </a:fld>
            <a:endParaRPr lang="en-US"/>
          </a:p>
        </p:txBody>
      </p:sp>
      <p:sp>
        <p:nvSpPr>
          <p:cNvPr id="5" name="Footer Placeholder 4"/>
          <p:cNvSpPr>
            <a:spLocks noGrp="1"/>
          </p:cNvSpPr>
          <p:nvPr>
            <p:ph type="ftr" sz="quarter" idx="11"/>
          </p:nvPr>
        </p:nvSpPr>
        <p:spPr/>
        <p:txBody>
          <a:bodyPr/>
          <a:lstStyle>
            <a:lvl1pPr>
              <a:defRPr/>
            </a:lvl1pPr>
          </a:lstStyle>
          <a:p>
            <a:r>
              <a:rPr lang="vi-VN"/>
              <a:t>Phạm Văn Cảnh</a:t>
            </a:r>
            <a:endParaRPr lang="en-US"/>
          </a:p>
        </p:txBody>
      </p:sp>
      <p:sp>
        <p:nvSpPr>
          <p:cNvPr id="6" name="Slide Number Placeholder 5"/>
          <p:cNvSpPr>
            <a:spLocks noGrp="1"/>
          </p:cNvSpPr>
          <p:nvPr>
            <p:ph type="sldNum" sz="quarter" idx="12"/>
          </p:nvPr>
        </p:nvSpPr>
        <p:spPr/>
        <p:txBody>
          <a:bodyPr/>
          <a:lstStyle>
            <a:lvl1pPr>
              <a:defRPr/>
            </a:lvl1pPr>
          </a:lstStyle>
          <a:p>
            <a:fld id="{4EB4ADB3-4D6A-144B-B124-08234FE3D04F}"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5CBC92BA-FD1A-4637-9861-D9A2B25A57AB}" type="datetime1">
              <a:rPr lang="en-US" smtClean="0"/>
              <a:t>4/22/26</a:t>
            </a:fld>
            <a:endParaRPr lang="en-US"/>
          </a:p>
        </p:txBody>
      </p:sp>
      <p:sp>
        <p:nvSpPr>
          <p:cNvPr id="5" name="Footer Placeholder 4"/>
          <p:cNvSpPr>
            <a:spLocks noGrp="1"/>
          </p:cNvSpPr>
          <p:nvPr>
            <p:ph type="ftr" sz="quarter" idx="11"/>
          </p:nvPr>
        </p:nvSpPr>
        <p:spPr/>
        <p:txBody>
          <a:bodyPr/>
          <a:lstStyle>
            <a:lvl1pPr>
              <a:defRPr/>
            </a:lvl1pPr>
          </a:lstStyle>
          <a:p>
            <a:r>
              <a:rPr lang="vi-VN"/>
              <a:t>Phạm Văn Cảnh</a:t>
            </a:r>
            <a:endParaRPr lang="en-US"/>
          </a:p>
        </p:txBody>
      </p:sp>
      <p:sp>
        <p:nvSpPr>
          <p:cNvPr id="6" name="Slide Number Placeholder 5"/>
          <p:cNvSpPr>
            <a:spLocks noGrp="1"/>
          </p:cNvSpPr>
          <p:nvPr>
            <p:ph type="sldNum" sz="quarter" idx="12"/>
          </p:nvPr>
        </p:nvSpPr>
        <p:spPr/>
        <p:txBody>
          <a:bodyPr/>
          <a:lstStyle>
            <a:lvl1pPr>
              <a:defRPr/>
            </a:lvl1pPr>
          </a:lstStyle>
          <a:p>
            <a:fld id="{4EB4ADB3-4D6A-144B-B124-08234FE3D04F}"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10">
          <a:fgClr>
            <a:schemeClr val="accent1">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274638"/>
            <a:ext cx="10972800" cy="79216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219201"/>
            <a:ext cx="10972800" cy="4906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ea typeface="+mn-ea"/>
                <a:cs typeface="+mn-cs"/>
              </a:defRPr>
            </a:lvl1pPr>
          </a:lstStyle>
          <a:p>
            <a:fld id="{2F43B2A6-C40A-44E1-B411-9DE670901985}" type="datetime1">
              <a:rPr lang="en-US" smtClean="0"/>
              <a:t>4/22/26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tx1">
                    <a:tint val="75000"/>
                  </a:schemeClr>
                </a:solidFill>
                <a:latin typeface="+mn-lt"/>
                <a:ea typeface="+mn-ea"/>
                <a:cs typeface="+mn-cs"/>
              </a:defRPr>
            </a:lvl1pPr>
          </a:lstStyle>
          <a:p>
            <a:r>
              <a:rPr lang="vi-VN"/>
              <a:t>Phạm Văn Cảnh</a:t>
            </a:r>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ea typeface="+mn-ea"/>
                <a:cs typeface="+mn-cs"/>
              </a:defRPr>
            </a:lvl1pPr>
          </a:lstStyle>
          <a:p>
            <a:fld id="{4EB4ADB3-4D6A-144B-B124-08234FE3D04F}"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Lst>
  <p:hf hdr="0" ftr="0" dt="0"/>
  <p:txStyles>
    <p:titleStyle>
      <a:lvl1pPr algn="ctr" defTabSz="457200" rtl="0" eaLnBrk="1" fontAlgn="base" hangingPunct="1">
        <a:spcBef>
          <a:spcPct val="0"/>
        </a:spcBef>
        <a:spcAft>
          <a:spcPct val="0"/>
        </a:spcAft>
        <a:defRPr sz="4000" kern="1200">
          <a:solidFill>
            <a:schemeClr val="tx1"/>
          </a:solidFill>
          <a:latin typeface="+mj-lt"/>
          <a:ea typeface="ＭＳ Ｐゴシック" charset="-128"/>
          <a:cs typeface="ＭＳ Ｐゴシック" charset="-128"/>
        </a:defRPr>
      </a:lvl1pPr>
      <a:lvl2pPr algn="ctr" defTabSz="457200" rtl="0" eaLnBrk="1" fontAlgn="base" hangingPunct="1">
        <a:spcBef>
          <a:spcPct val="0"/>
        </a:spcBef>
        <a:spcAft>
          <a:spcPct val="0"/>
        </a:spcAft>
        <a:defRPr sz="40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40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40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40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40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40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40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4000">
          <a:solidFill>
            <a:schemeClr val="tx1"/>
          </a:solidFill>
          <a:latin typeface="Calibri" charset="0"/>
          <a:ea typeface="ＭＳ Ｐゴシック" charset="-128"/>
          <a:cs typeface="ＭＳ Ｐゴシック" charset="-128"/>
        </a:defRPr>
      </a:lvl9pPr>
    </p:titleStyle>
    <p:bodyStyle>
      <a:lvl1pPr marL="342900" indent="-342900" algn="l" defTabSz="457200" rtl="0" eaLnBrk="1" fontAlgn="base" hangingPunct="1">
        <a:spcBef>
          <a:spcPct val="20000"/>
        </a:spcBef>
        <a:spcAft>
          <a:spcPct val="0"/>
        </a:spcAft>
        <a:buClr>
          <a:srgbClr val="404040"/>
        </a:buClr>
        <a:buFont typeface="Arial" charset="0"/>
        <a:buChar char="•"/>
        <a:defRPr sz="2800" kern="1200">
          <a:solidFill>
            <a:schemeClr val="tx1"/>
          </a:solidFill>
          <a:latin typeface="+mn-lt"/>
          <a:ea typeface="ＭＳ Ｐゴシック" charset="-128"/>
          <a:cs typeface="ＭＳ Ｐゴシック" charset="-128"/>
        </a:defRPr>
      </a:lvl1pPr>
      <a:lvl2pPr marL="742950" indent="-285750" algn="l" defTabSz="457200" rtl="0" eaLnBrk="1" fontAlgn="base" hangingPunct="1">
        <a:spcBef>
          <a:spcPct val="20000"/>
        </a:spcBef>
        <a:spcAft>
          <a:spcPct val="0"/>
        </a:spcAft>
        <a:buClr>
          <a:srgbClr val="404040"/>
        </a:buClr>
        <a:buFont typeface="Arial" charset="0"/>
        <a:buChar char="–"/>
        <a:defRPr sz="2400" kern="1200">
          <a:solidFill>
            <a:schemeClr val="tx1"/>
          </a:solidFill>
          <a:latin typeface="+mn-lt"/>
          <a:ea typeface="ＭＳ Ｐゴシック" charset="-128"/>
          <a:cs typeface="+mn-cs"/>
        </a:defRPr>
      </a:lvl2pPr>
      <a:lvl3pPr marL="1143000" indent="-228600" algn="l" defTabSz="457200" rtl="0" eaLnBrk="1" fontAlgn="base" hangingPunct="1">
        <a:spcBef>
          <a:spcPct val="20000"/>
        </a:spcBef>
        <a:spcAft>
          <a:spcPct val="0"/>
        </a:spcAft>
        <a:buClr>
          <a:srgbClr val="404040"/>
        </a:buClr>
        <a:buFont typeface="Arial" charset="0"/>
        <a:buChar char="•"/>
        <a:defRPr sz="2000" kern="1200">
          <a:solidFill>
            <a:schemeClr val="tx1"/>
          </a:solidFill>
          <a:latin typeface="+mn-lt"/>
          <a:ea typeface="ＭＳ Ｐゴシック" charset="-128"/>
          <a:cs typeface="+mn-cs"/>
        </a:defRPr>
      </a:lvl3pPr>
      <a:lvl4pPr marL="1600200" indent="-228600" algn="l" defTabSz="457200" rtl="0" eaLnBrk="1" fontAlgn="base" hangingPunct="1">
        <a:spcBef>
          <a:spcPct val="20000"/>
        </a:spcBef>
        <a:spcAft>
          <a:spcPct val="0"/>
        </a:spcAft>
        <a:buClr>
          <a:srgbClr val="404040"/>
        </a:buClr>
        <a:buFont typeface="Arial" charset="0"/>
        <a:buChar char="–"/>
        <a:defRPr kern="1200">
          <a:solidFill>
            <a:schemeClr val="tx1"/>
          </a:solidFill>
          <a:latin typeface="+mn-lt"/>
          <a:ea typeface="ＭＳ Ｐゴシック" charset="-128"/>
          <a:cs typeface="+mn-cs"/>
        </a:defRPr>
      </a:lvl4pPr>
      <a:lvl5pPr marL="2057400" indent="-228600" algn="l" defTabSz="457200" rtl="0" eaLnBrk="1" fontAlgn="base" hangingPunct="1">
        <a:spcBef>
          <a:spcPct val="20000"/>
        </a:spcBef>
        <a:spcAft>
          <a:spcPct val="0"/>
        </a:spcAft>
        <a:buClr>
          <a:srgbClr val="404040"/>
        </a:buClr>
        <a:buFont typeface="Arial" charset="0"/>
        <a:buChar char="»"/>
        <a:defRPr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7.jp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7.jpg"/><Relationship Id="rId4" Type="http://schemas.openxmlformats.org/officeDocument/2006/relationships/image" Target="../media/image16.jpg"/></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423743" y="1412489"/>
            <a:ext cx="11344513" cy="1902759"/>
          </a:xfrm>
        </p:spPr>
        <p:txBody>
          <a:bodyPr>
            <a:normAutofit/>
          </a:bodyPr>
          <a:lstStyle/>
          <a:p>
            <a:r>
              <a:rPr lang="en-US" altLang="en-US" sz="3600" dirty="0">
                <a:solidFill>
                  <a:schemeClr val="tx1">
                    <a:lumMod val="95000"/>
                    <a:lumOff val="5000"/>
                  </a:schemeClr>
                </a:solidFill>
                <a:latin typeface="Inter Black" panose="02000503000000020004" charset="0"/>
                <a:ea typeface="Inter Black" panose="02000503000000020004" charset="0"/>
                <a:cs typeface="Inter Black" panose="02000503000000020004" charset="0"/>
              </a:rPr>
              <a:t>BÀI TOÁN ĐỊNH TUYẾN NHIỀU PHƯƠNG TIỆN VỚI RÀNG BUỘC TƯƠNG THÍCH (VRPCC) </a:t>
            </a:r>
          </a:p>
        </p:txBody>
      </p:sp>
      <p:sp>
        <p:nvSpPr>
          <p:cNvPr id="2" name="Slide Number Placeholder 1">
            <a:extLst>
              <a:ext uri="{FF2B5EF4-FFF2-40B4-BE49-F238E27FC236}">
                <a16:creationId xmlns:a16="http://schemas.microsoft.com/office/drawing/2014/main" id="{2AC5E3A6-8B94-4BCE-A48D-6695FFF437E5}"/>
              </a:ext>
            </a:extLst>
          </p:cNvPr>
          <p:cNvSpPr>
            <a:spLocks noGrp="1"/>
          </p:cNvSpPr>
          <p:nvPr>
            <p:ph type="sldNum" sz="quarter" idx="12"/>
          </p:nvPr>
        </p:nvSpPr>
        <p:spPr/>
        <p:txBody>
          <a:bodyPr/>
          <a:lstStyle/>
          <a:p>
            <a:fld id="{AFC56213-B4C4-4C5C-8EAE-01416D175C4F}" type="slidenum">
              <a:rPr lang="en-US" smtClean="0"/>
              <a:pPr/>
              <a:t>1</a:t>
            </a:fld>
            <a:endParaRPr lang="en-US" dirty="0"/>
          </a:p>
        </p:txBody>
      </p:sp>
      <p:pic>
        <p:nvPicPr>
          <p:cNvPr id="5" name="Hình ảnh 4" descr="Ảnh có chứa văn bản, Phông chữ, ảnh chụp màn hình, màu trắng&#10;&#10;Nội dung do AI tạo ra có thể không chính xác.">
            <a:extLst>
              <a:ext uri="{FF2B5EF4-FFF2-40B4-BE49-F238E27FC236}">
                <a16:creationId xmlns:a16="http://schemas.microsoft.com/office/drawing/2014/main" id="{F5B5EC6E-1E3C-3D89-FFAE-DE418B3820BA}"/>
              </a:ext>
            </a:extLst>
          </p:cNvPr>
          <p:cNvPicPr>
            <a:picLocks noChangeAspect="1"/>
          </p:cNvPicPr>
          <p:nvPr/>
        </p:nvPicPr>
        <p:blipFill>
          <a:blip r:embed="rId3"/>
          <a:stretch>
            <a:fillRect/>
          </a:stretch>
        </p:blipFill>
        <p:spPr>
          <a:xfrm>
            <a:off x="3304875" y="21037"/>
            <a:ext cx="5629500" cy="1465669"/>
          </a:xfrm>
          <a:prstGeom prst="rect">
            <a:avLst/>
          </a:prstGeom>
        </p:spPr>
      </p:pic>
      <p:pic>
        <p:nvPicPr>
          <p:cNvPr id="1028" name="Picture 4" descr="Tải mẫu logo đại học Vinh (VinhUni) file vector AI, EPS, JPEG, PNG, SVG">
            <a:extLst>
              <a:ext uri="{FF2B5EF4-FFF2-40B4-BE49-F238E27FC236}">
                <a16:creationId xmlns:a16="http://schemas.microsoft.com/office/drawing/2014/main" id="{BECC57D0-0319-4282-9AE0-AB3FD4E434E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339" y="28814"/>
            <a:ext cx="1462088" cy="1462088"/>
          </a:xfrm>
          <a:prstGeom prst="rect">
            <a:avLst/>
          </a:prstGeom>
          <a:noFill/>
          <a:extLst>
            <a:ext uri="{909E8E84-426E-40DD-AFC4-6F175D3DCCD1}">
              <a14:hiddenFill xmlns:a14="http://schemas.microsoft.com/office/drawing/2010/main">
                <a:solidFill>
                  <a:srgbClr val="FFFFFF"/>
                </a:solidFill>
              </a14:hiddenFill>
            </a:ext>
          </a:extLst>
        </p:spPr>
      </p:pic>
      <p:sp>
        <p:nvSpPr>
          <p:cNvPr id="11" name="Hộp Văn bản 10">
            <a:extLst>
              <a:ext uri="{FF2B5EF4-FFF2-40B4-BE49-F238E27FC236}">
                <a16:creationId xmlns:a16="http://schemas.microsoft.com/office/drawing/2014/main" id="{EE6211BE-3348-6B97-13C5-484D9ADBE51D}"/>
              </a:ext>
            </a:extLst>
          </p:cNvPr>
          <p:cNvSpPr txBox="1"/>
          <p:nvPr/>
        </p:nvSpPr>
        <p:spPr>
          <a:xfrm>
            <a:off x="6235659" y="4027083"/>
            <a:ext cx="6093618" cy="1911229"/>
          </a:xfrm>
          <a:prstGeom prst="rect">
            <a:avLst/>
          </a:prstGeom>
          <a:noFill/>
        </p:spPr>
        <p:txBody>
          <a:bodyPr wrap="square">
            <a:spAutoFit/>
          </a:bodyPr>
          <a:lstStyle/>
          <a:p>
            <a:pPr>
              <a:lnSpc>
                <a:spcPts val="2850"/>
              </a:lnSpc>
            </a:pPr>
            <a:r>
              <a:rPr lang="en-US" dirty="0">
                <a:solidFill>
                  <a:schemeClr val="tx1">
                    <a:lumMod val="95000"/>
                    <a:lumOff val="5000"/>
                  </a:schemeClr>
                </a:solidFill>
              </a:rPr>
              <a:t>GVHD: TS. Nguyễn Thị Uyên</a:t>
            </a:r>
          </a:p>
          <a:p>
            <a:pPr algn="ctr"/>
            <a:r>
              <a:rPr lang="en-US" dirty="0">
                <a:solidFill>
                  <a:schemeClr val="tx1">
                    <a:lumMod val="95000"/>
                    <a:lumOff val="5000"/>
                  </a:schemeClr>
                </a:solidFill>
              </a:rPr>
              <a:t>SV </a:t>
            </a:r>
            <a:r>
              <a:rPr lang="en-US" dirty="0" err="1">
                <a:solidFill>
                  <a:schemeClr val="tx1">
                    <a:lumMod val="95000"/>
                    <a:lumOff val="5000"/>
                  </a:schemeClr>
                </a:solidFill>
              </a:rPr>
              <a:t>Nhóm</a:t>
            </a:r>
            <a:r>
              <a:rPr lang="en-US" dirty="0">
                <a:solidFill>
                  <a:schemeClr val="tx1">
                    <a:lumMod val="95000"/>
                    <a:lumOff val="5000"/>
                  </a:schemeClr>
                </a:solidFill>
              </a:rPr>
              <a:t> 02: </a:t>
            </a:r>
            <a:r>
              <a:rPr lang="en-US" altLang="zh-CN" i="1" dirty="0" err="1">
                <a:solidFill>
                  <a:schemeClr val="tx1">
                    <a:lumMod val="95000"/>
                    <a:lumOff val="5000"/>
                  </a:schemeClr>
                </a:solidFill>
                <a:ea typeface="Inter Black" panose="02000503000000020004" charset="0"/>
                <a:cs typeface="Inter" panose="02000503000000020004" charset="0"/>
              </a:rPr>
              <a:t>Nguyễn</a:t>
            </a:r>
            <a:r>
              <a:rPr lang="en-US" altLang="zh-CN" i="1" dirty="0">
                <a:solidFill>
                  <a:schemeClr val="tx1">
                    <a:lumMod val="95000"/>
                    <a:lumOff val="5000"/>
                  </a:schemeClr>
                </a:solidFill>
                <a:ea typeface="Inter Black" panose="02000503000000020004" charset="0"/>
                <a:cs typeface="Inter" panose="02000503000000020004" charset="0"/>
              </a:rPr>
              <a:t> </a:t>
            </a:r>
            <a:r>
              <a:rPr lang="en-US" altLang="zh-CN" i="1" dirty="0" err="1">
                <a:solidFill>
                  <a:schemeClr val="tx1">
                    <a:lumMod val="95000"/>
                    <a:lumOff val="5000"/>
                  </a:schemeClr>
                </a:solidFill>
                <a:ea typeface="Inter Black" panose="02000503000000020004" charset="0"/>
                <a:cs typeface="Inter" panose="02000503000000020004" charset="0"/>
              </a:rPr>
              <a:t>Đình</a:t>
            </a:r>
            <a:r>
              <a:rPr lang="en-US" altLang="zh-CN" i="1" dirty="0">
                <a:solidFill>
                  <a:schemeClr val="tx1">
                    <a:lumMod val="95000"/>
                    <a:lumOff val="5000"/>
                  </a:schemeClr>
                </a:solidFill>
                <a:ea typeface="Inter Black" panose="02000503000000020004" charset="0"/>
                <a:cs typeface="Inter" panose="02000503000000020004" charset="0"/>
              </a:rPr>
              <a:t> </a:t>
            </a:r>
            <a:r>
              <a:rPr lang="en-US" altLang="zh-CN" i="1" dirty="0" err="1">
                <a:solidFill>
                  <a:schemeClr val="tx1">
                    <a:lumMod val="95000"/>
                    <a:lumOff val="5000"/>
                  </a:schemeClr>
                </a:solidFill>
                <a:ea typeface="Inter Black" panose="02000503000000020004" charset="0"/>
                <a:cs typeface="Inter" panose="02000503000000020004" charset="0"/>
              </a:rPr>
              <a:t>Tuấn</a:t>
            </a:r>
            <a:endParaRPr lang="en-US" altLang="zh-CN" i="1" dirty="0">
              <a:solidFill>
                <a:schemeClr val="tx1">
                  <a:lumMod val="95000"/>
                  <a:lumOff val="5000"/>
                </a:schemeClr>
              </a:solidFill>
              <a:ea typeface="Inter Black" panose="02000503000000020004" charset="0"/>
              <a:cs typeface="Inter" panose="02000503000000020004" charset="0"/>
            </a:endParaRPr>
          </a:p>
          <a:p>
            <a:pPr algn="ctr"/>
            <a:r>
              <a:rPr lang="en-US" altLang="zh-CN" i="1" dirty="0">
                <a:solidFill>
                  <a:schemeClr val="tx1">
                    <a:lumMod val="95000"/>
                    <a:lumOff val="5000"/>
                  </a:schemeClr>
                </a:solidFill>
                <a:ea typeface="Inter Black" panose="02000503000000020004" charset="0"/>
                <a:cs typeface="Inter" panose="02000503000000020004" charset="0"/>
              </a:rPr>
              <a:t>	   </a:t>
            </a:r>
            <a:r>
              <a:rPr lang="en-US" altLang="zh-CN" i="1" dirty="0" err="1">
                <a:solidFill>
                  <a:schemeClr val="tx1">
                    <a:lumMod val="95000"/>
                    <a:lumOff val="5000"/>
                  </a:schemeClr>
                </a:solidFill>
                <a:ea typeface="Inter Black" panose="02000503000000020004" charset="0"/>
                <a:cs typeface="Inter" panose="02000503000000020004" charset="0"/>
              </a:rPr>
              <a:t>Tô</a:t>
            </a:r>
            <a:r>
              <a:rPr lang="en-US" altLang="zh-CN" i="1" dirty="0">
                <a:solidFill>
                  <a:schemeClr val="tx1">
                    <a:lumMod val="95000"/>
                    <a:lumOff val="5000"/>
                  </a:schemeClr>
                </a:solidFill>
                <a:ea typeface="Inter Black" panose="02000503000000020004" charset="0"/>
                <a:cs typeface="Inter" panose="02000503000000020004" charset="0"/>
              </a:rPr>
              <a:t> Thị Thuỷ</a:t>
            </a:r>
          </a:p>
          <a:p>
            <a:pPr algn="ctr"/>
            <a:r>
              <a:rPr lang="en-US" altLang="zh-CN" i="1" dirty="0">
                <a:solidFill>
                  <a:schemeClr val="tx1">
                    <a:lumMod val="95000"/>
                    <a:lumOff val="5000"/>
                  </a:schemeClr>
                </a:solidFill>
                <a:ea typeface="Inter Black" panose="02000503000000020004" charset="0"/>
                <a:cs typeface="Inter" panose="02000503000000020004" charset="0"/>
              </a:rPr>
              <a:t>		   </a:t>
            </a:r>
            <a:r>
              <a:rPr lang="en-US" altLang="zh-CN" i="1" dirty="0" err="1">
                <a:solidFill>
                  <a:schemeClr val="tx1">
                    <a:lumMod val="95000"/>
                    <a:lumOff val="5000"/>
                  </a:schemeClr>
                </a:solidFill>
                <a:ea typeface="Inter Black" panose="02000503000000020004" charset="0"/>
                <a:cs typeface="Inter" panose="02000503000000020004" charset="0"/>
              </a:rPr>
              <a:t>Nguyễn</a:t>
            </a:r>
            <a:r>
              <a:rPr lang="en-US" altLang="zh-CN" i="1" dirty="0">
                <a:solidFill>
                  <a:schemeClr val="tx1">
                    <a:lumMod val="95000"/>
                    <a:lumOff val="5000"/>
                  </a:schemeClr>
                </a:solidFill>
                <a:ea typeface="Inter Black" panose="02000503000000020004" charset="0"/>
                <a:cs typeface="Inter" panose="02000503000000020004" charset="0"/>
              </a:rPr>
              <a:t> Thị </a:t>
            </a:r>
            <a:r>
              <a:rPr lang="en-US" altLang="zh-CN" i="1" dirty="0" err="1">
                <a:solidFill>
                  <a:schemeClr val="tx1">
                    <a:lumMod val="95000"/>
                    <a:lumOff val="5000"/>
                  </a:schemeClr>
                </a:solidFill>
                <a:ea typeface="Inter Black" panose="02000503000000020004" charset="0"/>
                <a:cs typeface="Inter" panose="02000503000000020004" charset="0"/>
              </a:rPr>
              <a:t>Tươi</a:t>
            </a:r>
            <a:endParaRPr lang="en-US" altLang="zh-CN" i="1" dirty="0">
              <a:solidFill>
                <a:schemeClr val="tx1">
                  <a:lumMod val="95000"/>
                  <a:lumOff val="5000"/>
                </a:schemeClr>
              </a:solidFill>
              <a:ea typeface="Inter Black" panose="02000503000000020004" charset="0"/>
              <a:cs typeface="Inter" panose="02000503000000020004" charset="0"/>
            </a:endParaRPr>
          </a:p>
          <a:p>
            <a:pPr algn="ctr"/>
            <a:r>
              <a:rPr lang="en-US" altLang="zh-CN" i="1" dirty="0">
                <a:solidFill>
                  <a:schemeClr val="tx1">
                    <a:lumMod val="95000"/>
                    <a:lumOff val="5000"/>
                  </a:schemeClr>
                </a:solidFill>
                <a:ea typeface="Inter Black" panose="02000503000000020004" charset="0"/>
                <a:cs typeface="Inter" panose="02000503000000020004" charset="0"/>
              </a:rPr>
              <a:t>		</a:t>
            </a:r>
            <a:r>
              <a:rPr lang="en-US" altLang="zh-CN" i="1" dirty="0" err="1">
                <a:solidFill>
                  <a:schemeClr val="tx1">
                    <a:lumMod val="95000"/>
                    <a:lumOff val="5000"/>
                  </a:schemeClr>
                </a:solidFill>
                <a:ea typeface="Inter Black" panose="02000503000000020004" charset="0"/>
                <a:cs typeface="Inter" panose="02000503000000020004" charset="0"/>
              </a:rPr>
              <a:t>Hồ</a:t>
            </a:r>
            <a:r>
              <a:rPr lang="en-US" altLang="zh-CN" i="1" dirty="0">
                <a:solidFill>
                  <a:schemeClr val="tx1">
                    <a:lumMod val="95000"/>
                    <a:lumOff val="5000"/>
                  </a:schemeClr>
                </a:solidFill>
                <a:ea typeface="Inter Black" panose="02000503000000020004" charset="0"/>
                <a:cs typeface="Inter" panose="02000503000000020004" charset="0"/>
              </a:rPr>
              <a:t> Quang Việt</a:t>
            </a:r>
            <a:endParaRPr lang="zh-CN" altLang="en-US" i="1" dirty="0">
              <a:solidFill>
                <a:schemeClr val="tx1">
                  <a:lumMod val="95000"/>
                  <a:lumOff val="5000"/>
                </a:schemeClr>
              </a:solidFill>
              <a:ea typeface="Inter Black" panose="02000503000000020004" charset="0"/>
              <a:cs typeface="Inter" panose="02000503000000020004" charset="0"/>
            </a:endParaRPr>
          </a:p>
          <a:p>
            <a:pPr>
              <a:lnSpc>
                <a:spcPts val="2850"/>
              </a:lnSpc>
            </a:pP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a:t>
            </a:r>
          </a:p>
        </p:txBody>
      </p:sp>
      <p:sp>
        <p:nvSpPr>
          <p:cNvPr id="3" name="TextBox 2">
            <a:extLst>
              <a:ext uri="{FF2B5EF4-FFF2-40B4-BE49-F238E27FC236}">
                <a16:creationId xmlns:a16="http://schemas.microsoft.com/office/drawing/2014/main" id="{7B54F683-F82B-7B48-34D9-04F4F59C2B88}"/>
              </a:ext>
            </a:extLst>
          </p:cNvPr>
          <p:cNvSpPr txBox="1"/>
          <p:nvPr/>
        </p:nvSpPr>
        <p:spPr>
          <a:xfrm>
            <a:off x="7378120" y="2870381"/>
            <a:ext cx="4390136" cy="738664"/>
          </a:xfrm>
          <a:prstGeom prst="rect">
            <a:avLst/>
          </a:prstGeom>
          <a:noFill/>
        </p:spPr>
        <p:txBody>
          <a:bodyPr wrap="square" rtlCol="0">
            <a:spAutoFit/>
          </a:bodyPr>
          <a:lstStyle/>
          <a:p>
            <a:r>
              <a:rPr lang="en-VN" sz="1400" i="1" dirty="0">
                <a:solidFill>
                  <a:schemeClr val="tx1">
                    <a:lumMod val="95000"/>
                    <a:lumOff val="5000"/>
                  </a:schemeClr>
                </a:solidFill>
                <a:ea typeface="Inter Black" panose="02000503000000020004" charset="0"/>
              </a:rPr>
              <a:t>Nguồn: Bài báo-</a:t>
            </a:r>
            <a:r>
              <a:rPr lang="en-US" sz="1400" i="1" dirty="0">
                <a:solidFill>
                  <a:schemeClr val="tx1">
                    <a:lumMod val="95000"/>
                    <a:lumOff val="5000"/>
                  </a:schemeClr>
                </a:solidFill>
                <a:ea typeface="Inter Black" panose="02000503000000020004" charset="0"/>
              </a:rPr>
              <a:t> </a:t>
            </a:r>
            <a:r>
              <a:rPr lang="en-US" sz="1400" dirty="0"/>
              <a:t>An Approximation Algorithm for Vehicle Routing with Compatibility Constraints</a:t>
            </a:r>
          </a:p>
          <a:p>
            <a:r>
              <a:rPr lang="en-US" sz="1400" dirty="0" err="1">
                <a:solidFill>
                  <a:schemeClr val="tx1">
                    <a:lumMod val="95000"/>
                    <a:lumOff val="5000"/>
                  </a:schemeClr>
                </a:solidFill>
              </a:rPr>
              <a:t>Tác</a:t>
            </a:r>
            <a:r>
              <a:rPr lang="en-US" sz="1400" dirty="0">
                <a:solidFill>
                  <a:schemeClr val="tx1">
                    <a:lumMod val="95000"/>
                    <a:lumOff val="5000"/>
                  </a:schemeClr>
                </a:solidFill>
              </a:rPr>
              <a:t> </a:t>
            </a:r>
            <a:r>
              <a:rPr lang="en-US" sz="1400" dirty="0" err="1">
                <a:solidFill>
                  <a:schemeClr val="tx1">
                    <a:lumMod val="95000"/>
                    <a:lumOff val="5000"/>
                  </a:schemeClr>
                </a:solidFill>
              </a:rPr>
              <a:t>giả:Miao</a:t>
            </a:r>
            <a:r>
              <a:rPr lang="en-US" sz="1400" dirty="0">
                <a:solidFill>
                  <a:schemeClr val="tx1">
                    <a:lumMod val="95000"/>
                    <a:lumOff val="5000"/>
                  </a:schemeClr>
                </a:solidFill>
              </a:rPr>
              <a:t> Yu, Viswanath Nagarajan, and </a:t>
            </a:r>
            <a:r>
              <a:rPr lang="en-US" sz="1400" dirty="0" err="1">
                <a:solidFill>
                  <a:schemeClr val="tx1">
                    <a:lumMod val="95000"/>
                    <a:lumOff val="5000"/>
                  </a:schemeClr>
                </a:solidFill>
              </a:rPr>
              <a:t>Siqian</a:t>
            </a:r>
            <a:r>
              <a:rPr lang="en-US" sz="1400" dirty="0">
                <a:solidFill>
                  <a:schemeClr val="tx1">
                    <a:lumMod val="95000"/>
                    <a:lumOff val="5000"/>
                  </a:schemeClr>
                </a:solidFill>
              </a:rPr>
              <a:t> Shen†</a:t>
            </a:r>
            <a:endParaRPr lang="zh-CN" altLang="en-US" sz="1400" i="1" dirty="0">
              <a:solidFill>
                <a:schemeClr val="tx1">
                  <a:lumMod val="95000"/>
                  <a:lumOff val="5000"/>
                </a:schemeClr>
              </a:solidFill>
              <a:ea typeface="Inter Black" panose="02000503000000020004" charset="0"/>
              <a:cs typeface="Inter" panose="020005030000000200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941937-0419-C68E-1B04-E624B7B176E4}"/>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4728EFF7-122D-30A8-E23F-3A77104BD01F}"/>
              </a:ext>
            </a:extLst>
          </p:cNvPr>
          <p:cNvSpPr>
            <a:spLocks noGrp="1"/>
          </p:cNvSpPr>
          <p:nvPr>
            <p:ph type="sldNum" sz="quarter" idx="12"/>
          </p:nvPr>
        </p:nvSpPr>
        <p:spPr/>
        <p:txBody>
          <a:bodyPr/>
          <a:lstStyle/>
          <a:p>
            <a:fld id="{4EB4ADB3-4D6A-144B-B124-08234FE3D04F}" type="slidenum">
              <a:rPr lang="en-US" smtClean="0"/>
              <a:pPr/>
              <a:t>2</a:t>
            </a:fld>
            <a:endParaRPr lang="en-US"/>
          </a:p>
        </p:txBody>
      </p:sp>
      <p:sp>
        <p:nvSpPr>
          <p:cNvPr id="2" name="Title 1">
            <a:extLst>
              <a:ext uri="{FF2B5EF4-FFF2-40B4-BE49-F238E27FC236}">
                <a16:creationId xmlns:a16="http://schemas.microsoft.com/office/drawing/2014/main" id="{87338C73-7A6A-FE9A-7CA8-8FEA297B598D}"/>
              </a:ext>
            </a:extLst>
          </p:cNvPr>
          <p:cNvSpPr>
            <a:spLocks noGrp="1"/>
          </p:cNvSpPr>
          <p:nvPr>
            <p:ph type="title"/>
          </p:nvPr>
        </p:nvSpPr>
        <p:spPr>
          <a:xfrm>
            <a:off x="1403314" y="107779"/>
            <a:ext cx="9385372" cy="792162"/>
          </a:xfrm>
        </p:spPr>
        <p:txBody>
          <a:bodyPr/>
          <a:lstStyle/>
          <a:p>
            <a:pPr>
              <a:spcBef>
                <a:spcPts val="0"/>
              </a:spcBef>
              <a:buSzPct val="100000"/>
            </a:pPr>
            <a:r>
              <a:rPr lang="vi-VN" sz="3200" b="1" dirty="0">
                <a:solidFill>
                  <a:srgbClr val="00B050"/>
                </a:solidFill>
                <a:latin typeface="Times New Roman" panose="02020603050405020304" pitchFamily="18" charset="0"/>
                <a:cs typeface="Times New Roman" panose="02020603050405020304" pitchFamily="18" charset="0"/>
              </a:rPr>
              <a:t>1</a:t>
            </a:r>
            <a:r>
              <a:rPr lang="en-US" sz="3200" b="1" dirty="0">
                <a:solidFill>
                  <a:srgbClr val="00B050"/>
                </a:solidFill>
                <a:latin typeface="Times New Roman" panose="02020603050405020304" pitchFamily="18" charset="0"/>
                <a:cs typeface="Times New Roman" panose="02020603050405020304" pitchFamily="18" charset="0"/>
              </a:rPr>
              <a:t>. </a:t>
            </a:r>
            <a:r>
              <a:rPr lang="vi-VN" sz="3200" b="1" dirty="0">
                <a:solidFill>
                  <a:srgbClr val="00B050"/>
                </a:solidFill>
                <a:latin typeface="Times New Roman" panose="02020603050405020304" pitchFamily="18" charset="0"/>
                <a:cs typeface="Times New Roman" panose="02020603050405020304" pitchFamily="18" charset="0"/>
              </a:rPr>
              <a:t>GIỚI THIỆU </a:t>
            </a:r>
            <a:r>
              <a:rPr lang="en-US" sz="3200" b="1" dirty="0">
                <a:latin typeface="Times New Roman" panose="02020603050405020304" pitchFamily="18" charset="0"/>
                <a:cs typeface="Times New Roman" panose="02020603050405020304" pitchFamily="18" charset="0"/>
              </a:rPr>
              <a:t>VRP</a:t>
            </a:r>
            <a:endParaRPr lang="en-US" sz="3200" b="1" dirty="0">
              <a:solidFill>
                <a:srgbClr val="00B050"/>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365A02A3-0939-2BB4-11EE-B509A85A014B}"/>
              </a:ext>
            </a:extLst>
          </p:cNvPr>
          <p:cNvSpPr txBox="1"/>
          <p:nvPr/>
        </p:nvSpPr>
        <p:spPr>
          <a:xfrm>
            <a:off x="4762051" y="1646324"/>
            <a:ext cx="6820349" cy="4156394"/>
          </a:xfrm>
          <a:prstGeom prst="rect">
            <a:avLst/>
          </a:prstGeom>
          <a:noFill/>
        </p:spPr>
        <p:txBody>
          <a:bodyPr wrap="square">
            <a:spAutoFit/>
          </a:bodyPr>
          <a:lstStyle/>
          <a:p>
            <a:pPr>
              <a:lnSpc>
                <a:spcPct val="150000"/>
              </a:lnSpc>
            </a:pPr>
            <a:r>
              <a:rPr lang="vi-VN" sz="2000" b="1" dirty="0">
                <a:latin typeface="+mj-lt"/>
              </a:rPr>
              <a:t>Bài toán định tuyến phương tiện (VRP</a:t>
            </a:r>
            <a:r>
              <a:rPr lang="vi-VN" sz="2000" dirty="0">
                <a:latin typeface="+mj-lt"/>
              </a:rPr>
              <a:t>) là bài toán tối ưu hóa tổ hợp cổ điển và được nghiên cứu rộng rãi,nhằm mục đích tìm ra quyết định định tuyến tối ưu cho một hoặc nhiều phương tiện di chuyển từ kho để phục</a:t>
            </a:r>
            <a:r>
              <a:rPr lang="en-US" sz="2000" dirty="0">
                <a:latin typeface="+mj-lt"/>
              </a:rPr>
              <a:t> </a:t>
            </a:r>
            <a:r>
              <a:rPr lang="vi-VN" sz="2000" dirty="0">
                <a:latin typeface="+mj-lt"/>
              </a:rPr>
              <a:t>vụ nhu cầu tại các địa điểm khác nhau.</a:t>
            </a:r>
            <a:endParaRPr lang="en-US" sz="2000" dirty="0">
              <a:latin typeface="+mj-lt"/>
            </a:endParaRPr>
          </a:p>
          <a:p>
            <a:pPr algn="just">
              <a:lnSpc>
                <a:spcPct val="150000"/>
              </a:lnSpc>
            </a:pPr>
            <a:r>
              <a:rPr lang="vi-VN" sz="2000" dirty="0">
                <a:latin typeface="+mj-lt"/>
              </a:rPr>
              <a:t>Lịch sử nghiên cứu VRP thường được chia thành hai nhóm chính:</a:t>
            </a:r>
            <a:endParaRPr lang="en-US" sz="2000" dirty="0">
              <a:latin typeface="+mj-lt"/>
            </a:endParaRPr>
          </a:p>
          <a:p>
            <a:pPr algn="just">
              <a:lnSpc>
                <a:spcPct val="150000"/>
              </a:lnSpc>
            </a:pPr>
            <a:r>
              <a:rPr lang="en-US" sz="2000" b="1" dirty="0">
                <a:latin typeface="+mj-lt"/>
              </a:rPr>
              <a:t>- </a:t>
            </a:r>
            <a:r>
              <a:rPr lang="vi-VN" sz="2000" b="1" dirty="0">
                <a:latin typeface="+mj-lt"/>
              </a:rPr>
              <a:t>VRP một phương tiện (Single-vehicle VRPs)</a:t>
            </a:r>
            <a:endParaRPr lang="en-US" sz="2000" b="1" dirty="0">
              <a:latin typeface="+mj-lt"/>
            </a:endParaRPr>
          </a:p>
          <a:p>
            <a:pPr algn="just">
              <a:lnSpc>
                <a:spcPct val="150000"/>
              </a:lnSpc>
            </a:pPr>
            <a:r>
              <a:rPr lang="en-US" sz="2000" b="1" dirty="0">
                <a:latin typeface="+mj-lt"/>
              </a:rPr>
              <a:t>- </a:t>
            </a:r>
            <a:r>
              <a:rPr lang="vi-VN" sz="2000" b="1" dirty="0">
                <a:latin typeface="+mj-lt"/>
              </a:rPr>
              <a:t>VRP nhiều phương </a:t>
            </a:r>
            <a:r>
              <a:rPr lang="vi-VN" b="1" dirty="0">
                <a:solidFill>
                  <a:schemeClr val="bg1"/>
                </a:solidFill>
              </a:rPr>
              <a:t>tiện (Multiple-vehicle VRPs) với mục tiêu Min-Sum</a:t>
            </a:r>
            <a:endParaRPr lang="en-US" sz="1200" dirty="0">
              <a:solidFill>
                <a:schemeClr val="bg1"/>
              </a:solidFill>
            </a:endParaRPr>
          </a:p>
        </p:txBody>
      </p:sp>
      <p:pic>
        <p:nvPicPr>
          <p:cNvPr id="3" name="Picture 2">
            <a:extLst>
              <a:ext uri="{FF2B5EF4-FFF2-40B4-BE49-F238E27FC236}">
                <a16:creationId xmlns:a16="http://schemas.microsoft.com/office/drawing/2014/main" id="{7312BB41-44AD-A829-CF07-C92BB76A36C2}"/>
              </a:ext>
            </a:extLst>
          </p:cNvPr>
          <p:cNvPicPr>
            <a:picLocks noChangeAspect="1"/>
          </p:cNvPicPr>
          <p:nvPr/>
        </p:nvPicPr>
        <p:blipFill>
          <a:blip r:embed="rId3"/>
          <a:stretch>
            <a:fillRect/>
          </a:stretch>
        </p:blipFill>
        <p:spPr>
          <a:xfrm>
            <a:off x="802494" y="2225998"/>
            <a:ext cx="3597383" cy="2411999"/>
          </a:xfrm>
          <a:prstGeom prst="rect">
            <a:avLst/>
          </a:prstGeom>
        </p:spPr>
      </p:pic>
    </p:spTree>
    <p:extLst>
      <p:ext uri="{BB962C8B-B14F-4D97-AF65-F5344CB8AC3E}">
        <p14:creationId xmlns:p14="http://schemas.microsoft.com/office/powerpoint/2010/main" val="32000724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CC883B-2ED8-8893-2C84-012817F8F61D}"/>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1D27EFBA-1BE3-C143-01D8-890A551277DC}"/>
              </a:ext>
            </a:extLst>
          </p:cNvPr>
          <p:cNvSpPr>
            <a:spLocks noGrp="1"/>
          </p:cNvSpPr>
          <p:nvPr>
            <p:ph type="sldNum" sz="quarter" idx="12"/>
          </p:nvPr>
        </p:nvSpPr>
        <p:spPr/>
        <p:txBody>
          <a:bodyPr/>
          <a:lstStyle/>
          <a:p>
            <a:fld id="{4EB4ADB3-4D6A-144B-B124-08234FE3D04F}" type="slidenum">
              <a:rPr lang="en-US" smtClean="0"/>
              <a:pPr/>
              <a:t>3</a:t>
            </a:fld>
            <a:endParaRPr lang="en-US"/>
          </a:p>
        </p:txBody>
      </p:sp>
      <p:sp>
        <p:nvSpPr>
          <p:cNvPr id="2" name="Title 1">
            <a:extLst>
              <a:ext uri="{FF2B5EF4-FFF2-40B4-BE49-F238E27FC236}">
                <a16:creationId xmlns:a16="http://schemas.microsoft.com/office/drawing/2014/main" id="{C289643F-257D-CE62-C871-E3AC5E9D2923}"/>
              </a:ext>
            </a:extLst>
          </p:cNvPr>
          <p:cNvSpPr>
            <a:spLocks noGrp="1"/>
          </p:cNvSpPr>
          <p:nvPr>
            <p:ph type="title"/>
          </p:nvPr>
        </p:nvSpPr>
        <p:spPr>
          <a:xfrm>
            <a:off x="1624519" y="136524"/>
            <a:ext cx="9385372" cy="792162"/>
          </a:xfrm>
        </p:spPr>
        <p:txBody>
          <a:bodyPr/>
          <a:lstStyle/>
          <a:p>
            <a:pPr>
              <a:spcBef>
                <a:spcPts val="0"/>
              </a:spcBef>
              <a:buSzPct val="100000"/>
            </a:pPr>
            <a:r>
              <a:rPr lang="vi-VN" sz="3200" b="1" dirty="0">
                <a:solidFill>
                  <a:srgbClr val="00B050"/>
                </a:solidFill>
                <a:latin typeface="Times New Roman" panose="02020603050405020304" pitchFamily="18" charset="0"/>
                <a:cs typeface="Times New Roman" panose="02020603050405020304" pitchFamily="18" charset="0"/>
              </a:rPr>
              <a:t>1</a:t>
            </a:r>
            <a:r>
              <a:rPr lang="en-US" sz="3200" b="1" dirty="0">
                <a:solidFill>
                  <a:srgbClr val="00B050"/>
                </a:solidFill>
                <a:latin typeface="Times New Roman" panose="02020603050405020304" pitchFamily="18" charset="0"/>
                <a:cs typeface="Times New Roman" panose="02020603050405020304" pitchFamily="18" charset="0"/>
              </a:rPr>
              <a:t>. </a:t>
            </a:r>
            <a:r>
              <a:rPr lang="vi-VN" sz="3200" b="1" dirty="0">
                <a:solidFill>
                  <a:srgbClr val="00B050"/>
                </a:solidFill>
                <a:latin typeface="Times New Roman" panose="02020603050405020304" pitchFamily="18" charset="0"/>
                <a:cs typeface="Times New Roman" panose="02020603050405020304" pitchFamily="18" charset="0"/>
              </a:rPr>
              <a:t>GIỚI THIỆU </a:t>
            </a:r>
            <a:r>
              <a:rPr lang="en-US" sz="3200" b="1" dirty="0">
                <a:latin typeface="Times New Roman" panose="02020603050405020304" pitchFamily="18" charset="0"/>
                <a:cs typeface="Times New Roman" panose="02020603050405020304" pitchFamily="18" charset="0"/>
              </a:rPr>
              <a:t>VRP</a:t>
            </a:r>
            <a:endParaRPr lang="en-US" sz="3200" b="1" dirty="0">
              <a:solidFill>
                <a:srgbClr val="00B050"/>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F4C53236-D9FF-E41D-2DAB-6B705FA897D0}"/>
              </a:ext>
            </a:extLst>
          </p:cNvPr>
          <p:cNvSpPr txBox="1"/>
          <p:nvPr/>
        </p:nvSpPr>
        <p:spPr>
          <a:xfrm>
            <a:off x="727934" y="2211981"/>
            <a:ext cx="4386149" cy="3150671"/>
          </a:xfrm>
          <a:prstGeom prst="rect">
            <a:avLst/>
          </a:prstGeom>
          <a:noFill/>
        </p:spPr>
        <p:txBody>
          <a:bodyPr wrap="square">
            <a:spAutoFit/>
          </a:bodyPr>
          <a:lstStyle/>
          <a:p>
            <a:pPr>
              <a:lnSpc>
                <a:spcPct val="150000"/>
              </a:lnSpc>
            </a:pPr>
            <a:r>
              <a:rPr lang="en-US" sz="2000" b="1" dirty="0" err="1">
                <a:latin typeface="Times New Roman" panose="02020603050405020304" pitchFamily="18" charset="0"/>
                <a:cs typeface="Times New Roman" panose="02020603050405020304" pitchFamily="18" charset="0"/>
              </a:rPr>
              <a:t>Đối</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với</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một</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phương</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tiện</a:t>
            </a:r>
            <a:r>
              <a:rPr lang="en-US" sz="2000" b="1" dirty="0">
                <a:latin typeface="Times New Roman" panose="02020603050405020304" pitchFamily="18" charset="0"/>
                <a:cs typeface="Times New Roman" panose="02020603050405020304" pitchFamily="18" charset="0"/>
              </a:rPr>
              <a:t>( Single –vehicle VRPs): </a:t>
            </a:r>
            <a:r>
              <a:rPr lang="en-US" sz="2000" dirty="0" err="1">
                <a:latin typeface="Times New Roman" panose="02020603050405020304" pitchFamily="18" charset="0"/>
                <a:cs typeface="Times New Roman" panose="02020603050405020304" pitchFamily="18" charset="0"/>
              </a:rPr>
              <a:t>Người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chào</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hàng</a:t>
            </a:r>
            <a:r>
              <a:rPr lang="en-US" sz="2000" dirty="0">
                <a:latin typeface="Times New Roman" panose="02020603050405020304" pitchFamily="18" charset="0"/>
                <a:cs typeface="Times New Roman" panose="02020603050405020304" pitchFamily="18" charset="0"/>
              </a:rPr>
              <a:t> (TSP) </a:t>
            </a:r>
            <a:r>
              <a:rPr lang="en-US" sz="2000" dirty="0" err="1">
                <a:latin typeface="Times New Roman" panose="02020603050405020304" pitchFamily="18" charset="0"/>
                <a:cs typeface="Times New Roman" panose="02020603050405020304" pitchFamily="18" charset="0"/>
              </a:rPr>
              <a:t>cơ</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bản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các</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biến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thể</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mở</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rộng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như</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bài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toán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định</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hướng</a:t>
            </a:r>
            <a:r>
              <a:rPr lang="en-US" sz="2000" dirty="0">
                <a:latin typeface="Times New Roman" panose="02020603050405020304" pitchFamily="18" charset="0"/>
                <a:cs typeface="Times New Roman" panose="02020603050405020304" pitchFamily="18" charset="0"/>
              </a:rPr>
              <a:t> (orienteering problem), TSP </a:t>
            </a:r>
            <a:r>
              <a:rPr lang="en-US" sz="2000" dirty="0" err="1">
                <a:latin typeface="Times New Roman" panose="02020603050405020304" pitchFamily="18" charset="0"/>
                <a:cs typeface="Times New Roman" panose="02020603050405020304" pitchFamily="18" charset="0"/>
              </a:rPr>
              <a:t>với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khung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thời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gian</a:t>
            </a:r>
            <a:r>
              <a:rPr lang="en-US" sz="2000" dirty="0">
                <a:latin typeface="Times New Roman" panose="02020603050405020304" pitchFamily="18" charset="0"/>
                <a:cs typeface="Times New Roman" panose="02020603050405020304" pitchFamily="18" charset="0"/>
              </a:rPr>
              <a:t>, TSP </a:t>
            </a:r>
            <a:r>
              <a:rPr lang="en-US" sz="2000" dirty="0" err="1">
                <a:latin typeface="Times New Roman" panose="02020603050405020304" pitchFamily="18" charset="0"/>
                <a:cs typeface="Times New Roman" panose="02020603050405020304" pitchFamily="18" charset="0"/>
              </a:rPr>
              <a:t>thu</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thập</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phần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thưởng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và</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bài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toán</a:t>
            </a:r>
            <a:r>
              <a:rPr lang="en-US" sz="2000" dirty="0">
                <a:latin typeface="Times New Roman" panose="02020603050405020304" pitchFamily="18" charset="0"/>
                <a:cs typeface="Times New Roman" panose="02020603050405020304" pitchFamily="18" charset="0"/>
              </a:rPr>
              <a:t> k-TSP</a:t>
            </a:r>
            <a:r>
              <a:rPr lang="vi-VN" sz="2000" b="1" dirty="0">
                <a:latin typeface="Times New Roman" panose="02020603050405020304" pitchFamily="18" charset="0"/>
                <a:cs typeface="Times New Roman" panose="02020603050405020304" pitchFamily="18" charset="0"/>
              </a:rPr>
              <a:t> tiện </a:t>
            </a:r>
            <a:r>
              <a:rPr lang="vi-VN" sz="1400" b="1" dirty="0">
                <a:solidFill>
                  <a:schemeClr val="bg1"/>
                </a:solidFill>
                <a:latin typeface="Times New Roman" panose="02020603050405020304" pitchFamily="18" charset="0"/>
                <a:cs typeface="Times New Roman" panose="02020603050405020304" pitchFamily="18" charset="0"/>
              </a:rPr>
              <a:t>(Multiple-vehicle </a:t>
            </a:r>
            <a:r>
              <a:rPr lang="vi-VN" sz="1400" b="1" dirty="0">
                <a:solidFill>
                  <a:schemeClr val="bg1"/>
                </a:solidFill>
              </a:rPr>
              <a:t>VRPs) với mục tiêu Min-Sum</a:t>
            </a:r>
            <a:endParaRPr lang="en-US" sz="1400" dirty="0">
              <a:solidFill>
                <a:schemeClr val="bg1"/>
              </a:solidFill>
            </a:endParaRPr>
          </a:p>
        </p:txBody>
      </p:sp>
      <p:sp>
        <p:nvSpPr>
          <p:cNvPr id="4" name="TextBox 3">
            <a:extLst>
              <a:ext uri="{FF2B5EF4-FFF2-40B4-BE49-F238E27FC236}">
                <a16:creationId xmlns:a16="http://schemas.microsoft.com/office/drawing/2014/main" id="{3ADC21D2-643A-D4A8-89CD-CD18ED961C86}"/>
              </a:ext>
            </a:extLst>
          </p:cNvPr>
          <p:cNvSpPr txBox="1"/>
          <p:nvPr/>
        </p:nvSpPr>
        <p:spPr>
          <a:xfrm>
            <a:off x="5659112" y="2211981"/>
            <a:ext cx="5804954" cy="3268652"/>
          </a:xfrm>
          <a:prstGeom prst="rect">
            <a:avLst/>
          </a:prstGeom>
          <a:noFill/>
        </p:spPr>
        <p:txBody>
          <a:bodyPr wrap="square">
            <a:spAutoFit/>
          </a:bodyPr>
          <a:lstStyle/>
          <a:p>
            <a:pPr algn="just">
              <a:lnSpc>
                <a:spcPct val="150000"/>
              </a:lnSpc>
            </a:pPr>
            <a:r>
              <a:rPr lang="en-US" sz="2000" b="1" dirty="0" err="1">
                <a:latin typeface="Times New Roman" panose="02020603050405020304" pitchFamily="18" charset="0"/>
                <a:cs typeface="Times New Roman" panose="02020603050405020304" pitchFamily="18" charset="0"/>
              </a:rPr>
              <a:t>Đối</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với</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nhiều</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phương</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tiện</a:t>
            </a:r>
            <a:r>
              <a:rPr lang="en-US" sz="2000" b="1" dirty="0">
                <a:latin typeface="Times New Roman" panose="02020603050405020304" pitchFamily="18" charset="0"/>
                <a:cs typeface="Times New Roman" panose="02020603050405020304" pitchFamily="18" charset="0"/>
              </a:rPr>
              <a:t>(</a:t>
            </a:r>
            <a:r>
              <a:rPr lang="en-US" sz="2000" b="1" dirty="0" err="1">
                <a:latin typeface="Times New Roman" panose="02020603050405020304" pitchFamily="18" charset="0"/>
                <a:cs typeface="Times New Roman" panose="02020603050405020304" pitchFamily="18" charset="0"/>
              </a:rPr>
              <a:t>Multipe</a:t>
            </a:r>
            <a:r>
              <a:rPr lang="en-US" sz="2000" b="1" dirty="0">
                <a:latin typeface="Times New Roman" panose="02020603050405020304" pitchFamily="18" charset="0"/>
                <a:cs typeface="Times New Roman" panose="02020603050405020304" pitchFamily="18" charset="0"/>
              </a:rPr>
              <a:t>–vehicle VRPs): </a:t>
            </a:r>
            <a:r>
              <a:rPr lang="en-US" sz="2000" dirty="0" err="1">
                <a:latin typeface="Times New Roman" panose="02020603050405020304" pitchFamily="18" charset="0"/>
                <a:cs typeface="Times New Roman" panose="02020603050405020304" pitchFamily="18" charset="0"/>
              </a:rPr>
              <a:t>Bài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toán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nhiều</a:t>
            </a:r>
            <a:r>
              <a:rPr lang="en-US" sz="2000" dirty="0">
                <a:latin typeface="Times New Roman" panose="02020603050405020304" pitchFamily="18" charset="0"/>
                <a:cs typeface="Times New Roman" panose="02020603050405020304" pitchFamily="18" charset="0"/>
              </a:rPr>
              <a:t> TSP, VRP </a:t>
            </a:r>
            <a:r>
              <a:rPr lang="en-US" sz="2000" dirty="0" err="1">
                <a:latin typeface="Times New Roman" panose="02020603050405020304" pitchFamily="18" charset="0"/>
                <a:cs typeface="Times New Roman" panose="02020603050405020304" pitchFamily="18" charset="0"/>
              </a:rPr>
              <a:t>có</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giới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hạn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sức</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chứa</a:t>
            </a:r>
            <a:r>
              <a:rPr lang="en-US" sz="2000" dirty="0">
                <a:latin typeface="Times New Roman" panose="02020603050405020304" pitchFamily="18" charset="0"/>
                <a:cs typeface="Times New Roman" panose="02020603050405020304" pitchFamily="18" charset="0"/>
              </a:rPr>
              <a:t>, VRP </a:t>
            </a:r>
            <a:r>
              <a:rPr lang="en-US" sz="2000" dirty="0" err="1">
                <a:latin typeface="Times New Roman" panose="02020603050405020304" pitchFamily="18" charset="0"/>
                <a:cs typeface="Times New Roman" panose="02020603050405020304" pitchFamily="18" charset="0"/>
              </a:rPr>
              <a:t>với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khung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thời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gian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và</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bài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toán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gọi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xe</a:t>
            </a:r>
            <a:r>
              <a:rPr lang="en-US" sz="2000" dirty="0">
                <a:latin typeface="Times New Roman" panose="02020603050405020304" pitchFamily="18" charset="0"/>
                <a:cs typeface="Times New Roman" panose="02020603050405020304" pitchFamily="18" charset="0"/>
              </a:rPr>
              <a:t>( dial-a-ride)</a:t>
            </a:r>
          </a:p>
          <a:p>
            <a:pPr algn="just">
              <a:lnSpc>
                <a:spcPct val="150000"/>
              </a:lnSpc>
            </a:pPr>
            <a:r>
              <a:rPr lang="en-US" sz="2000" dirty="0">
                <a:latin typeface="Times New Roman" panose="02020603050405020304" pitchFamily="18" charset="0"/>
                <a:cs typeface="Times New Roman" panose="02020603050405020304" pitchFamily="18" charset="0"/>
              </a:rPr>
              <a:t>-&gt; </a:t>
            </a:r>
            <a:r>
              <a:rPr lang="en-US" sz="2000" dirty="0" err="1">
                <a:latin typeface="Times New Roman" panose="02020603050405020304" pitchFamily="18" charset="0"/>
                <a:cs typeface="Times New Roman" panose="02020603050405020304" pitchFamily="18" charset="0"/>
              </a:rPr>
              <a:t>Tất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cả</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các</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nghiên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cứu</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truyền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thống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này</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đều</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tập</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trung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vào</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mục</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tiêu</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giảm</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thiểu</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tổng</a:t>
            </a:r>
            <a:r>
              <a:rPr lang="en-US" sz="2000" dirty="0">
                <a:latin typeface="Times New Roman" panose="02020603050405020304" pitchFamily="18" charset="0"/>
                <a:cs typeface="Times New Roman" panose="02020603050405020304" pitchFamily="18" charset="0"/>
              </a:rPr>
              <a:t> chi </a:t>
            </a:r>
            <a:r>
              <a:rPr lang="en-US" sz="2000" dirty="0" err="1">
                <a:latin typeface="Times New Roman" panose="02020603050405020304" pitchFamily="18" charset="0"/>
                <a:cs typeface="Times New Roman" panose="02020603050405020304" pitchFamily="18" charset="0"/>
              </a:rPr>
              <a:t>phí</a:t>
            </a:r>
            <a:r>
              <a:rPr lang="en-US" sz="2000" dirty="0">
                <a:latin typeface="Times New Roman" panose="02020603050405020304" pitchFamily="18" charset="0"/>
                <a:cs typeface="Times New Roman" panose="02020603050405020304" pitchFamily="18" charset="0"/>
              </a:rPr>
              <a:t> di </a:t>
            </a:r>
            <a:r>
              <a:rPr lang="en-US" sz="2000" dirty="0" err="1">
                <a:latin typeface="Times New Roman" panose="02020603050405020304" pitchFamily="18" charset="0"/>
                <a:cs typeface="Times New Roman" panose="02020603050405020304" pitchFamily="18" charset="0"/>
              </a:rPr>
              <a:t>chuyển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của</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toàn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bộ</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hệ</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thống</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vi-VN" sz="2000" b="1" dirty="0">
                <a:latin typeface="Times New Roman" panose="02020603050405020304" pitchFamily="18" charset="0"/>
                <a:cs typeface="Times New Roman" panose="02020603050405020304" pitchFamily="18" charset="0"/>
              </a:rPr>
              <a:t>tiện (Multiple-vehicle </a:t>
            </a:r>
            <a:r>
              <a:rPr lang="vi-VN" sz="1400" b="1" dirty="0">
                <a:solidFill>
                  <a:schemeClr val="bg1"/>
                </a:solidFill>
              </a:rPr>
              <a:t>VRPs) với mục tiêu Min-Sum</a:t>
            </a:r>
            <a:endParaRPr lang="en-US" sz="1400" dirty="0">
              <a:solidFill>
                <a:schemeClr val="bg1"/>
              </a:solidFill>
            </a:endParaRPr>
          </a:p>
        </p:txBody>
      </p:sp>
      <p:sp>
        <p:nvSpPr>
          <p:cNvPr id="9" name="Title 1">
            <a:extLst>
              <a:ext uri="{FF2B5EF4-FFF2-40B4-BE49-F238E27FC236}">
                <a16:creationId xmlns:a16="http://schemas.microsoft.com/office/drawing/2014/main" id="{C404B25E-64AA-8A37-38EA-854FCC32D707}"/>
              </a:ext>
            </a:extLst>
          </p:cNvPr>
          <p:cNvSpPr txBox="1">
            <a:spLocks/>
          </p:cNvSpPr>
          <p:nvPr/>
        </p:nvSpPr>
        <p:spPr bwMode="auto">
          <a:xfrm>
            <a:off x="-152426" y="1289407"/>
            <a:ext cx="4200300" cy="79216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defTabSz="457200" rtl="0" eaLnBrk="1" fontAlgn="base" hangingPunct="1">
              <a:spcBef>
                <a:spcPct val="0"/>
              </a:spcBef>
              <a:spcAft>
                <a:spcPct val="0"/>
              </a:spcAft>
              <a:defRPr sz="4000" kern="1200">
                <a:solidFill>
                  <a:srgbClr val="009900"/>
                </a:solidFill>
                <a:latin typeface="Segoe UI Semibold" pitchFamily="34" charset="0"/>
                <a:ea typeface="ＭＳ Ｐゴシック" charset="-128"/>
                <a:cs typeface="ＭＳ Ｐゴシック" charset="-128"/>
              </a:defRPr>
            </a:lvl1pPr>
            <a:lvl2pPr algn="ctr" defTabSz="457200" rtl="0" eaLnBrk="1" fontAlgn="base" hangingPunct="1">
              <a:spcBef>
                <a:spcPct val="0"/>
              </a:spcBef>
              <a:spcAft>
                <a:spcPct val="0"/>
              </a:spcAft>
              <a:defRPr sz="40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40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40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40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40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40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40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4000">
                <a:solidFill>
                  <a:schemeClr val="tx1"/>
                </a:solidFill>
                <a:latin typeface="Calibri" charset="0"/>
                <a:ea typeface="ＭＳ Ｐゴシック" charset="-128"/>
                <a:cs typeface="ＭＳ Ｐゴシック" charset="-128"/>
              </a:defRPr>
            </a:lvl9pPr>
          </a:lstStyle>
          <a:p>
            <a:pPr>
              <a:spcBef>
                <a:spcPts val="0"/>
              </a:spcBef>
              <a:buSzPct val="100000"/>
            </a:pPr>
            <a:r>
              <a:rPr lang="en-US" sz="2400" b="1" dirty="0">
                <a:solidFill>
                  <a:schemeClr val="tx1"/>
                </a:solidFill>
                <a:latin typeface="Times New Roman" panose="02020603050405020304" pitchFamily="18" charset="0"/>
                <a:cs typeface="Times New Roman" panose="02020603050405020304" pitchFamily="18" charset="0"/>
              </a:rPr>
              <a:t> </a:t>
            </a:r>
            <a:r>
              <a:rPr lang="vi-VN" sz="2800" b="1" i="1" dirty="0">
                <a:solidFill>
                  <a:schemeClr val="tx1"/>
                </a:solidFill>
                <a:latin typeface="Times New Roman" panose="02020603050405020304" pitchFamily="18" charset="0"/>
                <a:cs typeface="Times New Roman" panose="02020603050405020304" pitchFamily="18" charset="0"/>
              </a:rPr>
              <a:t>Phân loại VRP</a:t>
            </a:r>
            <a:endParaRPr lang="en-US" sz="2800" b="1" i="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446029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15F617-79B7-46E5-8383-60437025DC91}"/>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05163531-AE57-A0C0-C1DA-430DE0A6201B}"/>
              </a:ext>
            </a:extLst>
          </p:cNvPr>
          <p:cNvSpPr>
            <a:spLocks noGrp="1"/>
          </p:cNvSpPr>
          <p:nvPr>
            <p:ph type="sldNum" sz="quarter" idx="12"/>
          </p:nvPr>
        </p:nvSpPr>
        <p:spPr/>
        <p:txBody>
          <a:bodyPr/>
          <a:lstStyle/>
          <a:p>
            <a:fld id="{4EB4ADB3-4D6A-144B-B124-08234FE3D04F}" type="slidenum">
              <a:rPr lang="en-US" smtClean="0"/>
              <a:pPr/>
              <a:t>4</a:t>
            </a:fld>
            <a:endParaRPr lang="en-US"/>
          </a:p>
        </p:txBody>
      </p:sp>
      <p:sp>
        <p:nvSpPr>
          <p:cNvPr id="2" name="Title 1">
            <a:extLst>
              <a:ext uri="{FF2B5EF4-FFF2-40B4-BE49-F238E27FC236}">
                <a16:creationId xmlns:a16="http://schemas.microsoft.com/office/drawing/2014/main" id="{44F0FB8D-69B4-080E-0E0F-AEE6BB3BCBA0}"/>
              </a:ext>
            </a:extLst>
          </p:cNvPr>
          <p:cNvSpPr>
            <a:spLocks noGrp="1"/>
          </p:cNvSpPr>
          <p:nvPr>
            <p:ph type="title"/>
          </p:nvPr>
        </p:nvSpPr>
        <p:spPr>
          <a:xfrm>
            <a:off x="1624519" y="136524"/>
            <a:ext cx="9385372" cy="792162"/>
          </a:xfrm>
        </p:spPr>
        <p:txBody>
          <a:bodyPr/>
          <a:lstStyle/>
          <a:p>
            <a:pPr>
              <a:spcBef>
                <a:spcPts val="0"/>
              </a:spcBef>
              <a:buSzPct val="100000"/>
            </a:pPr>
            <a:r>
              <a:rPr lang="vi-VN" sz="3200" b="1" dirty="0">
                <a:solidFill>
                  <a:srgbClr val="00B050"/>
                </a:solidFill>
                <a:latin typeface="Times New Roman" panose="02020603050405020304" pitchFamily="18" charset="0"/>
                <a:cs typeface="Times New Roman" panose="02020603050405020304" pitchFamily="18" charset="0"/>
              </a:rPr>
              <a:t>1</a:t>
            </a:r>
            <a:r>
              <a:rPr lang="en-US" sz="3200" b="1" dirty="0">
                <a:solidFill>
                  <a:srgbClr val="00B050"/>
                </a:solidFill>
                <a:latin typeface="Times New Roman" panose="02020603050405020304" pitchFamily="18" charset="0"/>
                <a:cs typeface="Times New Roman" panose="02020603050405020304" pitchFamily="18" charset="0"/>
              </a:rPr>
              <a:t>. </a:t>
            </a:r>
            <a:r>
              <a:rPr lang="vi-VN" sz="3200" b="1" dirty="0">
                <a:solidFill>
                  <a:srgbClr val="00B050"/>
                </a:solidFill>
                <a:latin typeface="Times New Roman" panose="02020603050405020304" pitchFamily="18" charset="0"/>
                <a:cs typeface="Times New Roman" panose="02020603050405020304" pitchFamily="18" charset="0"/>
              </a:rPr>
              <a:t>GIỚI THIỆU </a:t>
            </a:r>
            <a:r>
              <a:rPr lang="en-US" sz="3200" b="1" dirty="0">
                <a:latin typeface="Times New Roman" panose="02020603050405020304" pitchFamily="18" charset="0"/>
                <a:cs typeface="Times New Roman" panose="02020603050405020304" pitchFamily="18" charset="0"/>
              </a:rPr>
              <a:t>VRP</a:t>
            </a:r>
            <a:endParaRPr lang="en-US" sz="3200" b="1" dirty="0">
              <a:solidFill>
                <a:srgbClr val="00B050"/>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0FEE234A-875A-36A0-AFD4-4CE538E79097}"/>
              </a:ext>
            </a:extLst>
          </p:cNvPr>
          <p:cNvSpPr txBox="1"/>
          <p:nvPr/>
        </p:nvSpPr>
        <p:spPr>
          <a:xfrm>
            <a:off x="627529" y="1220524"/>
            <a:ext cx="10936941" cy="4751942"/>
          </a:xfrm>
          <a:prstGeom prst="rect">
            <a:avLst/>
          </a:prstGeom>
          <a:noFill/>
        </p:spPr>
        <p:txBody>
          <a:bodyPr wrap="square">
            <a:spAutoFit/>
          </a:bodyPr>
          <a:lstStyle/>
          <a:p>
            <a:pPr algn="just">
              <a:lnSpc>
                <a:spcPct val="150000"/>
              </a:lnSpc>
            </a:pPr>
            <a:r>
              <a:rPr lang="vi-VN" sz="2400" b="1" i="1" dirty="0">
                <a:latin typeface="+mj-lt"/>
                <a:ea typeface="Inter Black" panose="02000503000000020004" charset="0"/>
                <a:sym typeface="Inter Black" panose="02000503000000020004" charset="0"/>
              </a:rPr>
              <a:t>Động lực</a:t>
            </a:r>
          </a:p>
          <a:p>
            <a:pPr algn="just">
              <a:lnSpc>
                <a:spcPct val="150000"/>
              </a:lnSpc>
            </a:pPr>
            <a:r>
              <a:rPr lang="vi-VN" sz="2000" b="1" dirty="0">
                <a:latin typeface="+mj-lt"/>
              </a:rPr>
              <a:t>Đáp ứng nhu cầu phục vụ cơ bản:</a:t>
            </a:r>
            <a:r>
              <a:rPr lang="vi-VN" sz="2000" dirty="0">
                <a:latin typeface="+mj-lt"/>
              </a:rPr>
              <a:t> Động lực cốt lõi của các bài toán VRP là tìm ra các quyết định định tuyến tối ưu cho một hoặc nhiều phương tiện xuất phát từ (các) bến bãi để đi phục vụ nhu cầu của khách hàng tại nhiều địa điểm khác nhau trong thực tế</a:t>
            </a:r>
            <a:endParaRPr lang="en-US" sz="2000" dirty="0">
              <a:latin typeface="+mj-lt"/>
            </a:endParaRPr>
          </a:p>
          <a:p>
            <a:pPr algn="just">
              <a:lnSpc>
                <a:spcPct val="150000"/>
              </a:lnSpc>
            </a:pPr>
            <a:r>
              <a:rPr lang="vi-VN" sz="2000" b="1" dirty="0">
                <a:latin typeface="+mj-lt"/>
              </a:rPr>
              <a:t>Tối ưu hóa chi phí hệ thống (Min-Sum):</a:t>
            </a:r>
            <a:r>
              <a:rPr lang="vi-VN" sz="2000" dirty="0">
                <a:latin typeface="+mj-lt"/>
              </a:rPr>
              <a:t> Tùy thuộc vào từng ứng dụng cụ thể, động lực phổ biến nhất trong phần lớn các tài liệu nghiên cứu về VRP nhiều phương tiện là nhằm </a:t>
            </a:r>
            <a:r>
              <a:rPr lang="vi-VN" sz="2000" b="1" dirty="0">
                <a:latin typeface="+mj-lt"/>
              </a:rPr>
              <a:t>giảm thiểu tổng chi phí di chuyển</a:t>
            </a:r>
            <a:r>
              <a:rPr lang="vi-VN" sz="2000" dirty="0">
                <a:latin typeface="+mj-lt"/>
              </a:rPr>
              <a:t> của tất cả các phương tiện cộng lại</a:t>
            </a:r>
            <a:endParaRPr lang="en-US" sz="2000" dirty="0">
              <a:latin typeface="+mj-lt"/>
            </a:endParaRPr>
          </a:p>
          <a:p>
            <a:pPr algn="just">
              <a:lnSpc>
                <a:spcPct val="150000"/>
              </a:lnSpc>
            </a:pPr>
            <a:r>
              <a:rPr lang="vi-VN" sz="2000" b="1" dirty="0">
                <a:latin typeface="+mj-lt"/>
              </a:rPr>
              <a:t>Cân bằng thời gian/quãng đường (Min-Max):</a:t>
            </a:r>
            <a:r>
              <a:rPr lang="vi-VN" sz="2000" dirty="0">
                <a:latin typeface="+mj-lt"/>
              </a:rPr>
              <a:t> Bên cạnh việc giảm tổng chi phí, khi hệ thống vận hành nhiều phương tiện, một động lực rất tự nhiên khác là </a:t>
            </a:r>
            <a:r>
              <a:rPr lang="vi-VN" sz="2000" b="1" dirty="0">
                <a:latin typeface="+mj-lt"/>
              </a:rPr>
              <a:t>tối thiểu hóa makespan</a:t>
            </a:r>
            <a:r>
              <a:rPr lang="vi-VN" sz="2000" dirty="0">
                <a:latin typeface="+mj-lt"/>
              </a:rPr>
              <a:t> (tức là giảm thiểu quãng đường hoặc chi phí di chuyển lớn nhất của bất kỳ chiếc xe nào)</a:t>
            </a:r>
            <a:endParaRPr lang="en-US" sz="2000" dirty="0">
              <a:latin typeface="+mj-lt"/>
            </a:endParaRPr>
          </a:p>
        </p:txBody>
      </p:sp>
    </p:spTree>
    <p:extLst>
      <p:ext uri="{BB962C8B-B14F-4D97-AF65-F5344CB8AC3E}">
        <p14:creationId xmlns:p14="http://schemas.microsoft.com/office/powerpoint/2010/main" val="14744441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286E7-A187-12C5-E333-77FCA742B60B}"/>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8B3891CA-7295-4972-3A12-A882D8E84EFA}"/>
              </a:ext>
            </a:extLst>
          </p:cNvPr>
          <p:cNvSpPr>
            <a:spLocks noGrp="1"/>
          </p:cNvSpPr>
          <p:nvPr>
            <p:ph type="sldNum" sz="quarter" idx="12"/>
          </p:nvPr>
        </p:nvSpPr>
        <p:spPr/>
        <p:txBody>
          <a:bodyPr/>
          <a:lstStyle/>
          <a:p>
            <a:fld id="{4EB4ADB3-4D6A-144B-B124-08234FE3D04F}" type="slidenum">
              <a:rPr lang="en-US" smtClean="0"/>
              <a:pPr/>
              <a:t>5</a:t>
            </a:fld>
            <a:endParaRPr lang="en-US"/>
          </a:p>
        </p:txBody>
      </p:sp>
      <p:sp>
        <p:nvSpPr>
          <p:cNvPr id="2" name="Title 1">
            <a:extLst>
              <a:ext uri="{FF2B5EF4-FFF2-40B4-BE49-F238E27FC236}">
                <a16:creationId xmlns:a16="http://schemas.microsoft.com/office/drawing/2014/main" id="{00A8EA95-E04A-3860-2296-17F7FEADCC3A}"/>
              </a:ext>
            </a:extLst>
          </p:cNvPr>
          <p:cNvSpPr>
            <a:spLocks noGrp="1"/>
          </p:cNvSpPr>
          <p:nvPr>
            <p:ph type="title"/>
          </p:nvPr>
        </p:nvSpPr>
        <p:spPr>
          <a:xfrm>
            <a:off x="1624519" y="136524"/>
            <a:ext cx="9385372" cy="792162"/>
          </a:xfrm>
        </p:spPr>
        <p:txBody>
          <a:bodyPr/>
          <a:lstStyle/>
          <a:p>
            <a:pPr>
              <a:spcBef>
                <a:spcPts val="0"/>
              </a:spcBef>
              <a:buSzPct val="100000"/>
            </a:pPr>
            <a:r>
              <a:rPr lang="vi-VN" sz="3200" b="1" dirty="0">
                <a:solidFill>
                  <a:srgbClr val="00B050"/>
                </a:solidFill>
                <a:latin typeface="Times New Roman" panose="02020603050405020304" pitchFamily="18" charset="0"/>
                <a:cs typeface="Times New Roman" panose="02020603050405020304" pitchFamily="18" charset="0"/>
              </a:rPr>
              <a:t>1</a:t>
            </a:r>
            <a:r>
              <a:rPr lang="en-US" sz="3200" b="1" dirty="0">
                <a:solidFill>
                  <a:srgbClr val="00B050"/>
                </a:solidFill>
                <a:latin typeface="Times New Roman" panose="02020603050405020304" pitchFamily="18" charset="0"/>
                <a:cs typeface="Times New Roman" panose="02020603050405020304" pitchFamily="18" charset="0"/>
              </a:rPr>
              <a:t>. </a:t>
            </a:r>
            <a:r>
              <a:rPr lang="vi-VN" sz="3200" b="1" dirty="0">
                <a:solidFill>
                  <a:srgbClr val="00B050"/>
                </a:solidFill>
                <a:latin typeface="Times New Roman" panose="02020603050405020304" pitchFamily="18" charset="0"/>
                <a:cs typeface="Times New Roman" panose="02020603050405020304" pitchFamily="18" charset="0"/>
              </a:rPr>
              <a:t>GIỚI THIỆU </a:t>
            </a:r>
            <a:r>
              <a:rPr lang="en-US" sz="3200" b="1" dirty="0">
                <a:latin typeface="Times New Roman" panose="02020603050405020304" pitchFamily="18" charset="0"/>
                <a:cs typeface="Times New Roman" panose="02020603050405020304" pitchFamily="18" charset="0"/>
              </a:rPr>
              <a:t>VRP</a:t>
            </a:r>
            <a:endParaRPr lang="en-US" sz="3200" b="1" dirty="0">
              <a:solidFill>
                <a:srgbClr val="00B050"/>
              </a:solidFill>
              <a:latin typeface="Times New Roman" panose="02020603050405020304" pitchFamily="18" charset="0"/>
              <a:cs typeface="Times New Roman" panose="02020603050405020304" pitchFamily="18" charset="0"/>
            </a:endParaRPr>
          </a:p>
        </p:txBody>
      </p:sp>
      <p:sp>
        <p:nvSpPr>
          <p:cNvPr id="3" name="Title 1">
            <a:extLst>
              <a:ext uri="{FF2B5EF4-FFF2-40B4-BE49-F238E27FC236}">
                <a16:creationId xmlns:a16="http://schemas.microsoft.com/office/drawing/2014/main" id="{26A6DD8E-E70F-D638-BE25-CA7C1AA8BB1F}"/>
              </a:ext>
            </a:extLst>
          </p:cNvPr>
          <p:cNvSpPr txBox="1">
            <a:spLocks/>
          </p:cNvSpPr>
          <p:nvPr/>
        </p:nvSpPr>
        <p:spPr bwMode="auto">
          <a:xfrm>
            <a:off x="310151" y="1184068"/>
            <a:ext cx="4885791" cy="79216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defTabSz="457200" rtl="0" eaLnBrk="1" fontAlgn="base" hangingPunct="1">
              <a:spcBef>
                <a:spcPct val="0"/>
              </a:spcBef>
              <a:spcAft>
                <a:spcPct val="0"/>
              </a:spcAft>
              <a:defRPr sz="4000" kern="1200">
                <a:solidFill>
                  <a:srgbClr val="009900"/>
                </a:solidFill>
                <a:latin typeface="Segoe UI Semibold" pitchFamily="34" charset="0"/>
                <a:ea typeface="ＭＳ Ｐゴシック" charset="-128"/>
                <a:cs typeface="ＭＳ Ｐゴシック" charset="-128"/>
              </a:defRPr>
            </a:lvl1pPr>
            <a:lvl2pPr algn="ctr" defTabSz="457200" rtl="0" eaLnBrk="1" fontAlgn="base" hangingPunct="1">
              <a:spcBef>
                <a:spcPct val="0"/>
              </a:spcBef>
              <a:spcAft>
                <a:spcPct val="0"/>
              </a:spcAft>
              <a:defRPr sz="40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40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40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40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40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40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40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4000">
                <a:solidFill>
                  <a:schemeClr val="tx1"/>
                </a:solidFill>
                <a:latin typeface="Calibri" charset="0"/>
                <a:ea typeface="ＭＳ Ｐゴシック" charset="-128"/>
                <a:cs typeface="ＭＳ Ｐゴシック" charset="-128"/>
              </a:defRPr>
            </a:lvl9pPr>
          </a:lstStyle>
          <a:p>
            <a:pPr>
              <a:spcBef>
                <a:spcPts val="0"/>
              </a:spcBef>
              <a:buSzPct val="100000"/>
            </a:pPr>
            <a:r>
              <a:rPr lang="en-US" sz="2400" b="1" dirty="0">
                <a:solidFill>
                  <a:schemeClr val="tx1"/>
                </a:solidFill>
                <a:latin typeface="Times New Roman" panose="02020603050405020304" pitchFamily="18" charset="0"/>
                <a:cs typeface="Times New Roman" panose="02020603050405020304" pitchFamily="18" charset="0"/>
              </a:rPr>
              <a:t> </a:t>
            </a:r>
            <a:r>
              <a:rPr lang="vi-VN" sz="2800" b="1" i="1" dirty="0">
                <a:solidFill>
                  <a:schemeClr val="tx1"/>
                </a:solidFill>
                <a:latin typeface="Times New Roman" panose="02020603050405020304" pitchFamily="18" charset="0"/>
                <a:cs typeface="Times New Roman" panose="02020603050405020304" pitchFamily="18" charset="0"/>
              </a:rPr>
              <a:t>Những thách thức của VRP</a:t>
            </a:r>
            <a:endParaRPr lang="en-US" sz="2800" i="1" dirty="0">
              <a:solidFill>
                <a:schemeClr val="tx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7E43FEEC-41DC-1ECB-E2E5-ABFC292CE1DF}"/>
              </a:ext>
            </a:extLst>
          </p:cNvPr>
          <p:cNvSpPr txBox="1"/>
          <p:nvPr/>
        </p:nvSpPr>
        <p:spPr>
          <a:xfrm>
            <a:off x="692075" y="1976230"/>
            <a:ext cx="7798100" cy="1889620"/>
          </a:xfrm>
          <a:prstGeom prst="rect">
            <a:avLst/>
          </a:prstGeom>
          <a:noFill/>
        </p:spPr>
        <p:txBody>
          <a:bodyPr wrap="square">
            <a:spAutoFit/>
          </a:bodyPr>
          <a:lstStyle/>
          <a:p>
            <a:pPr>
              <a:lnSpc>
                <a:spcPct val="150000"/>
              </a:lnSpc>
            </a:pPr>
            <a:r>
              <a:rPr lang="vi-VN" sz="2000" dirty="0">
                <a:latin typeface="+mj-lt"/>
              </a:rPr>
              <a:t>- Bản chất là bài toán Tối ưu hóa Tổ hợp (Combinatorial Optimization)</a:t>
            </a:r>
            <a:endParaRPr lang="en-US" sz="2000" dirty="0">
              <a:latin typeface="+mj-lt"/>
            </a:endParaRPr>
          </a:p>
          <a:p>
            <a:pPr>
              <a:lnSpc>
                <a:spcPct val="150000"/>
              </a:lnSpc>
            </a:pPr>
            <a:r>
              <a:rPr lang="vi-VN" sz="2000" dirty="0">
                <a:latin typeface="+mj-lt"/>
              </a:rPr>
              <a:t>- Độ khó ngay từ biến thể cơ bản nhất</a:t>
            </a:r>
          </a:p>
          <a:p>
            <a:pPr>
              <a:lnSpc>
                <a:spcPct val="150000"/>
              </a:lnSpc>
            </a:pPr>
            <a:r>
              <a:rPr lang="vi-VN" sz="2000" dirty="0">
                <a:latin typeface="+mj-lt"/>
              </a:rPr>
              <a:t>-  Sự phức tạp khi tích hợp các ràng buộc thực tế</a:t>
            </a:r>
            <a:endParaRPr lang="en-US" sz="2000" dirty="0">
              <a:latin typeface="+mj-lt"/>
            </a:endParaRPr>
          </a:p>
          <a:p>
            <a:pPr>
              <a:lnSpc>
                <a:spcPct val="150000"/>
              </a:lnSpc>
            </a:pPr>
            <a:r>
              <a:rPr lang="vi-VN" sz="2000" dirty="0">
                <a:latin typeface="+mj-lt"/>
              </a:rPr>
              <a:t>- Thách thức thiết kế thuật toán cho mục tiêu Min-Max</a:t>
            </a:r>
            <a:endParaRPr lang="en-US" sz="2000" dirty="0">
              <a:effectLst/>
              <a:latin typeface="+mj-lt"/>
            </a:endParaRPr>
          </a:p>
        </p:txBody>
      </p:sp>
      <p:pic>
        <p:nvPicPr>
          <p:cNvPr id="10" name="Picture 9">
            <a:extLst>
              <a:ext uri="{FF2B5EF4-FFF2-40B4-BE49-F238E27FC236}">
                <a16:creationId xmlns:a16="http://schemas.microsoft.com/office/drawing/2014/main" id="{75651F3E-EFF0-1897-C821-2C93F0EAD675}"/>
              </a:ext>
            </a:extLst>
          </p:cNvPr>
          <p:cNvPicPr>
            <a:picLocks noChangeAspect="1"/>
          </p:cNvPicPr>
          <p:nvPr/>
        </p:nvPicPr>
        <p:blipFill>
          <a:blip r:embed="rId3"/>
          <a:stretch>
            <a:fillRect/>
          </a:stretch>
        </p:blipFill>
        <p:spPr>
          <a:xfrm>
            <a:off x="6734286" y="2549562"/>
            <a:ext cx="4765639" cy="3478335"/>
          </a:xfrm>
          <a:prstGeom prst="rect">
            <a:avLst/>
          </a:prstGeom>
        </p:spPr>
      </p:pic>
    </p:spTree>
    <p:extLst>
      <p:ext uri="{BB962C8B-B14F-4D97-AF65-F5344CB8AC3E}">
        <p14:creationId xmlns:p14="http://schemas.microsoft.com/office/powerpoint/2010/main" val="8696458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42719B-002A-D54E-FE48-C2BCC5F66D60}"/>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BA89B37F-EDC1-1C69-3D07-B05C46B12EF6}"/>
              </a:ext>
            </a:extLst>
          </p:cNvPr>
          <p:cNvSpPr>
            <a:spLocks noGrp="1"/>
          </p:cNvSpPr>
          <p:nvPr>
            <p:ph type="sldNum" sz="quarter" idx="12"/>
          </p:nvPr>
        </p:nvSpPr>
        <p:spPr/>
        <p:txBody>
          <a:bodyPr/>
          <a:lstStyle/>
          <a:p>
            <a:fld id="{4EB4ADB3-4D6A-144B-B124-08234FE3D04F}" type="slidenum">
              <a:rPr lang="en-US" smtClean="0"/>
              <a:pPr/>
              <a:t>6</a:t>
            </a:fld>
            <a:endParaRPr lang="en-US"/>
          </a:p>
        </p:txBody>
      </p:sp>
      <p:sp>
        <p:nvSpPr>
          <p:cNvPr id="2" name="Title 1">
            <a:extLst>
              <a:ext uri="{FF2B5EF4-FFF2-40B4-BE49-F238E27FC236}">
                <a16:creationId xmlns:a16="http://schemas.microsoft.com/office/drawing/2014/main" id="{1ECFC5DC-EAED-EE66-A61D-2F9A2B7342F2}"/>
              </a:ext>
            </a:extLst>
          </p:cNvPr>
          <p:cNvSpPr>
            <a:spLocks noGrp="1"/>
          </p:cNvSpPr>
          <p:nvPr>
            <p:ph type="title"/>
          </p:nvPr>
        </p:nvSpPr>
        <p:spPr>
          <a:xfrm>
            <a:off x="1624519" y="136524"/>
            <a:ext cx="9385372" cy="792162"/>
          </a:xfrm>
        </p:spPr>
        <p:txBody>
          <a:bodyPr/>
          <a:lstStyle/>
          <a:p>
            <a:pPr>
              <a:spcBef>
                <a:spcPts val="0"/>
              </a:spcBef>
              <a:buSzPct val="100000"/>
            </a:pPr>
            <a:r>
              <a:rPr lang="vi-VN" sz="3200" b="1" dirty="0">
                <a:solidFill>
                  <a:srgbClr val="00B050"/>
                </a:solidFill>
                <a:latin typeface="Times New Roman" panose="02020603050405020304" pitchFamily="18" charset="0"/>
                <a:cs typeface="Times New Roman" panose="02020603050405020304" pitchFamily="18" charset="0"/>
              </a:rPr>
              <a:t>2</a:t>
            </a:r>
            <a:r>
              <a:rPr lang="en-US" sz="3200" b="1" dirty="0">
                <a:solidFill>
                  <a:srgbClr val="00B050"/>
                </a:solidFill>
                <a:latin typeface="Times New Roman" panose="02020603050405020304" pitchFamily="18" charset="0"/>
                <a:cs typeface="Times New Roman" panose="02020603050405020304" pitchFamily="18" charset="0"/>
              </a:rPr>
              <a:t>. </a:t>
            </a:r>
            <a:r>
              <a:rPr lang="vi-VN" sz="3200" b="1" dirty="0">
                <a:solidFill>
                  <a:srgbClr val="00B050"/>
                </a:solidFill>
                <a:latin typeface="Times New Roman" panose="02020603050405020304" pitchFamily="18" charset="0"/>
                <a:cs typeface="Times New Roman" panose="02020603050405020304" pitchFamily="18" charset="0"/>
              </a:rPr>
              <a:t>VRPCC VỚI RÀNG BUỘC TƯƠNG THÍCH</a:t>
            </a:r>
            <a:endParaRPr lang="en-US" sz="3200" b="1" dirty="0">
              <a:solidFill>
                <a:srgbClr val="00B050"/>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8FF9B004-D078-F1B9-4F90-A76FFA316317}"/>
              </a:ext>
            </a:extLst>
          </p:cNvPr>
          <p:cNvSpPr txBox="1"/>
          <p:nvPr/>
        </p:nvSpPr>
        <p:spPr>
          <a:xfrm>
            <a:off x="801444" y="1563841"/>
            <a:ext cx="10589111" cy="3730317"/>
          </a:xfrm>
          <a:prstGeom prst="rect">
            <a:avLst/>
          </a:prstGeom>
          <a:noFill/>
        </p:spPr>
        <p:txBody>
          <a:bodyPr wrap="square">
            <a:spAutoFit/>
          </a:bodyPr>
          <a:lstStyle/>
          <a:p>
            <a:pPr>
              <a:lnSpc>
                <a:spcPct val="150000"/>
              </a:lnSpc>
            </a:pPr>
            <a:r>
              <a:rPr lang="en-US" sz="2000" dirty="0">
                <a:latin typeface="Times New Roman" panose="02020603050405020304" pitchFamily="18" charset="0"/>
                <a:cs typeface="Times New Roman" panose="02020603050405020304" pitchFamily="18" charset="0"/>
              </a:rPr>
              <a:t>T</a:t>
            </a:r>
            <a:r>
              <a:rPr lang="vi-VN" sz="2000" dirty="0">
                <a:latin typeface="Times New Roman" panose="02020603050405020304" pitchFamily="18" charset="0"/>
                <a:cs typeface="Times New Roman" panose="02020603050405020304" pitchFamily="18" charset="0"/>
              </a:rPr>
              <a:t>ừ nền tảng trên, bài báo tập trung vào việc nghiên cứu một biến thể phức tạp hơn nhằm lấp đầy khoảng trống học thuật:</a:t>
            </a:r>
            <a:r>
              <a:rPr lang="en-US" sz="2000" dirty="0">
                <a:latin typeface="Times New Roman" panose="02020603050405020304" pitchFamily="18" charset="0"/>
                <a:cs typeface="Times New Roman" panose="02020603050405020304" pitchFamily="18" charset="0"/>
              </a:rPr>
              <a:t> B</a:t>
            </a:r>
            <a:r>
              <a:rPr lang="vi-VN" sz="2000" dirty="0">
                <a:latin typeface="Times New Roman" panose="02020603050405020304" pitchFamily="18" charset="0"/>
                <a:cs typeface="Times New Roman" panose="02020603050405020304" pitchFamily="18" charset="0"/>
              </a:rPr>
              <a:t>ài toán định tuyến nhiều phương tiện với mục tiêu tối thiểu hóa makespan và có thêm ràng buộc tương thích</a:t>
            </a:r>
            <a:endParaRPr lang="en-US" sz="2000" dirty="0">
              <a:latin typeface="Times New Roman" panose="02020603050405020304" pitchFamily="18" charset="0"/>
              <a:cs typeface="Times New Roman" panose="02020603050405020304" pitchFamily="18" charset="0"/>
            </a:endParaRPr>
          </a:p>
          <a:p>
            <a:pPr>
              <a:lnSpc>
                <a:spcPct val="150000"/>
              </a:lnSpc>
            </a:pPr>
            <a:r>
              <a:rPr lang="vi-VN" sz="2000" b="1" dirty="0">
                <a:latin typeface="Times New Roman" panose="02020603050405020304" pitchFamily="18" charset="0"/>
                <a:cs typeface="Times New Roman" panose="02020603050405020304" pitchFamily="18" charset="0"/>
              </a:rPr>
              <a:t>VRPCC</a:t>
            </a:r>
            <a:r>
              <a:rPr lang="vi-VN" sz="2000" dirty="0">
                <a:latin typeface="Times New Roman" panose="02020603050405020304" pitchFamily="18" charset="0"/>
                <a:cs typeface="Times New Roman" panose="02020603050405020304" pitchFamily="18" charset="0"/>
              </a:rPr>
              <a:t> là bài toán định tuyến nhiều xe trên một đồ thị, trong đó:</a:t>
            </a:r>
          </a:p>
          <a:p>
            <a:pPr>
              <a:lnSpc>
                <a:spcPct val="150000"/>
              </a:lnSpc>
            </a:pPr>
            <a:r>
              <a:rPr lang="vi-VN" sz="2000" dirty="0">
                <a:latin typeface="Times New Roman" panose="02020603050405020304" pitchFamily="18" charset="0"/>
                <a:cs typeface="Times New Roman" panose="02020603050405020304" pitchFamily="18" charset="0"/>
              </a:rPr>
              <a:t>Mỗi khách hàng phải được phục vụ đúng một lần.</a:t>
            </a:r>
          </a:p>
          <a:p>
            <a:pPr>
              <a:lnSpc>
                <a:spcPct val="150000"/>
              </a:lnSpc>
            </a:pPr>
            <a:r>
              <a:rPr lang="vi-VN" sz="2000" dirty="0">
                <a:latin typeface="Times New Roman" panose="02020603050405020304" pitchFamily="18" charset="0"/>
                <a:cs typeface="Times New Roman" panose="02020603050405020304" pitchFamily="18" charset="0"/>
              </a:rPr>
              <a:t>Mỗi xe chỉ được phép phục vụ một tập con khách hàng nhất định (ràng buộc tương thích).</a:t>
            </a:r>
            <a:r>
              <a:rPr lang="en-US" sz="2000" dirty="0">
                <a:latin typeface="Times New Roman" panose="02020603050405020304" pitchFamily="18" charset="0"/>
                <a:cs typeface="Times New Roman" panose="02020603050405020304" pitchFamily="18" charset="0"/>
              </a:rPr>
              <a:t> </a:t>
            </a:r>
            <a:r>
              <a:rPr lang="vi-VN" sz="2000" dirty="0">
                <a:latin typeface="Times New Roman" panose="02020603050405020304" pitchFamily="18" charset="0"/>
                <a:cs typeface="Times New Roman" panose="02020603050405020304" pitchFamily="18" charset="0"/>
              </a:rPr>
              <a:t>Mỗi xe xuất phát và quay về depot.</a:t>
            </a:r>
            <a:endParaRPr lang="en-US" sz="2000" dirty="0">
              <a:latin typeface="Times New Roman" panose="02020603050405020304" pitchFamily="18" charset="0"/>
              <a:cs typeface="Times New Roman" panose="02020603050405020304" pitchFamily="18" charset="0"/>
            </a:endParaRPr>
          </a:p>
          <a:p>
            <a:pPr>
              <a:lnSpc>
                <a:spcPct val="150000"/>
              </a:lnSpc>
            </a:pPr>
            <a:r>
              <a:rPr lang="vi-VN" sz="2000" dirty="0">
                <a:latin typeface="Times New Roman" panose="02020603050405020304" pitchFamily="18" charset="0"/>
                <a:cs typeface="Times New Roman" panose="02020603050405020304" pitchFamily="18" charset="0"/>
              </a:rPr>
              <a:t>Mục tiêu thường là </a:t>
            </a:r>
            <a:r>
              <a:rPr lang="vi-VN" sz="2000" b="1" dirty="0">
                <a:latin typeface="Times New Roman" panose="02020603050405020304" pitchFamily="18" charset="0"/>
                <a:cs typeface="Times New Roman" panose="02020603050405020304" pitchFamily="18" charset="0"/>
              </a:rPr>
              <a:t>tối thiểu hóa tuyến dài nhất (makespan)</a:t>
            </a:r>
            <a:r>
              <a:rPr lang="vi-VN" sz="2000" dirty="0">
                <a:latin typeface="Times New Roman" panose="02020603050405020304" pitchFamily="18" charset="0"/>
                <a:cs typeface="Times New Roman" panose="02020603050405020304" pitchFamily="18" charset="0"/>
              </a:rPr>
              <a:t> để cân bằng tải</a:t>
            </a:r>
          </a:p>
        </p:txBody>
      </p:sp>
    </p:spTree>
    <p:extLst>
      <p:ext uri="{BB962C8B-B14F-4D97-AF65-F5344CB8AC3E}">
        <p14:creationId xmlns:p14="http://schemas.microsoft.com/office/powerpoint/2010/main" val="17068596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534A08-9D23-2471-1D44-FD45A41F6BA7}"/>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1C9514AE-6CCE-DE39-184D-2D485A8B3944}"/>
              </a:ext>
            </a:extLst>
          </p:cNvPr>
          <p:cNvSpPr>
            <a:spLocks noGrp="1"/>
          </p:cNvSpPr>
          <p:nvPr>
            <p:ph type="sldNum" sz="quarter" idx="12"/>
          </p:nvPr>
        </p:nvSpPr>
        <p:spPr/>
        <p:txBody>
          <a:bodyPr/>
          <a:lstStyle/>
          <a:p>
            <a:fld id="{4EB4ADB3-4D6A-144B-B124-08234FE3D04F}" type="slidenum">
              <a:rPr lang="en-US" smtClean="0"/>
              <a:pPr/>
              <a:t>7</a:t>
            </a:fld>
            <a:endParaRPr lang="en-US"/>
          </a:p>
        </p:txBody>
      </p:sp>
      <p:sp>
        <p:nvSpPr>
          <p:cNvPr id="2" name="Title 1">
            <a:extLst>
              <a:ext uri="{FF2B5EF4-FFF2-40B4-BE49-F238E27FC236}">
                <a16:creationId xmlns:a16="http://schemas.microsoft.com/office/drawing/2014/main" id="{08A6B678-9F43-5EF7-ACC3-33C615D69CA3}"/>
              </a:ext>
            </a:extLst>
          </p:cNvPr>
          <p:cNvSpPr>
            <a:spLocks noGrp="1"/>
          </p:cNvSpPr>
          <p:nvPr>
            <p:ph type="title"/>
          </p:nvPr>
        </p:nvSpPr>
        <p:spPr>
          <a:xfrm>
            <a:off x="1624519" y="136524"/>
            <a:ext cx="9385372" cy="792162"/>
          </a:xfrm>
        </p:spPr>
        <p:txBody>
          <a:bodyPr/>
          <a:lstStyle/>
          <a:p>
            <a:pPr>
              <a:spcBef>
                <a:spcPts val="0"/>
              </a:spcBef>
              <a:buSzPct val="100000"/>
            </a:pPr>
            <a:r>
              <a:rPr lang="vi-VN" sz="3200" b="1" dirty="0">
                <a:solidFill>
                  <a:srgbClr val="00B050"/>
                </a:solidFill>
                <a:latin typeface="Times New Roman" panose="02020603050405020304" pitchFamily="18" charset="0"/>
                <a:cs typeface="Times New Roman" panose="02020603050405020304" pitchFamily="18" charset="0"/>
              </a:rPr>
              <a:t>2</a:t>
            </a:r>
            <a:r>
              <a:rPr lang="en-US" sz="3200" b="1" dirty="0">
                <a:solidFill>
                  <a:srgbClr val="00B050"/>
                </a:solidFill>
                <a:latin typeface="Times New Roman" panose="02020603050405020304" pitchFamily="18" charset="0"/>
                <a:cs typeface="Times New Roman" panose="02020603050405020304" pitchFamily="18" charset="0"/>
              </a:rPr>
              <a:t>. </a:t>
            </a:r>
            <a:r>
              <a:rPr lang="vi-VN" sz="3200" b="1" dirty="0">
                <a:solidFill>
                  <a:srgbClr val="00B050"/>
                </a:solidFill>
                <a:latin typeface="Times New Roman" panose="02020603050405020304" pitchFamily="18" charset="0"/>
                <a:cs typeface="Times New Roman" panose="02020603050405020304" pitchFamily="18" charset="0"/>
              </a:rPr>
              <a:t>VRPCC VỚI RÀNG BUỘC TƯƠNG THÍCH</a:t>
            </a:r>
            <a:endParaRPr lang="en-US" sz="3200" b="1" dirty="0">
              <a:solidFill>
                <a:srgbClr val="00B050"/>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D4AD94DC-34FC-B470-44A8-A27A62D4FD43}"/>
              </a:ext>
            </a:extLst>
          </p:cNvPr>
          <p:cNvSpPr txBox="1"/>
          <p:nvPr/>
        </p:nvSpPr>
        <p:spPr>
          <a:xfrm>
            <a:off x="809514" y="1505666"/>
            <a:ext cx="5720378" cy="4191981"/>
          </a:xfrm>
          <a:prstGeom prst="rect">
            <a:avLst/>
          </a:prstGeom>
          <a:noFill/>
        </p:spPr>
        <p:txBody>
          <a:bodyPr wrap="square">
            <a:spAutoFit/>
          </a:bodyPr>
          <a:lstStyle/>
          <a:p>
            <a:pPr>
              <a:lnSpc>
                <a:spcPct val="150000"/>
              </a:lnSpc>
            </a:pPr>
            <a:r>
              <a:rPr lang="en-US" sz="2000" b="1" i="1" dirty="0" err="1">
                <a:latin typeface="Times New Roman" panose="02020603050405020304" pitchFamily="18" charset="0"/>
                <a:cs typeface="Times New Roman" panose="02020603050405020304" pitchFamily="18" charset="0"/>
              </a:rPr>
              <a:t>Ví</a:t>
            </a:r>
            <a:r>
              <a:rPr lang="en-US" sz="2000" b="1" i="1" dirty="0">
                <a:latin typeface="Times New Roman" panose="02020603050405020304" pitchFamily="18" charset="0"/>
                <a:cs typeface="Times New Roman" panose="02020603050405020304" pitchFamily="18" charset="0"/>
              </a:rPr>
              <a:t> </a:t>
            </a:r>
            <a:r>
              <a:rPr lang="en-US" sz="2000" b="1" i="1" dirty="0" err="1">
                <a:latin typeface="Times New Roman" panose="02020603050405020304" pitchFamily="18" charset="0"/>
                <a:cs typeface="Times New Roman" panose="02020603050405020304" pitchFamily="18" charset="0"/>
              </a:rPr>
              <a:t>dụ</a:t>
            </a:r>
            <a:r>
              <a:rPr lang="en-US" sz="2000" b="1" i="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 </a:t>
            </a:r>
            <a:r>
              <a:rPr lang="vi-VN" sz="2000" dirty="0">
                <a:latin typeface="Times New Roman" panose="02020603050405020304" pitchFamily="18" charset="0"/>
                <a:cs typeface="Times New Roman" panose="02020603050405020304" pitchFamily="18" charset="0"/>
              </a:rPr>
              <a:t>Một công ty có:</a:t>
            </a:r>
            <a:r>
              <a:rPr lang="en-US" sz="2000" dirty="0">
                <a:latin typeface="Times New Roman" panose="02020603050405020304" pitchFamily="18" charset="0"/>
                <a:cs typeface="Times New Roman" panose="02020603050405020304" pitchFamily="18" charset="0"/>
              </a:rPr>
              <a:t> 1</a:t>
            </a:r>
            <a:r>
              <a:rPr lang="vi-VN" sz="2000" dirty="0">
                <a:latin typeface="Times New Roman" panose="02020603050405020304" pitchFamily="18" charset="0"/>
                <a:cs typeface="Times New Roman" panose="02020603050405020304" pitchFamily="18" charset="0"/>
              </a:rPr>
              <a:t> depot</a:t>
            </a:r>
            <a:r>
              <a:rPr lang="en-US" sz="2000" dirty="0">
                <a:latin typeface="Times New Roman" panose="02020603050405020304" pitchFamily="18" charset="0"/>
                <a:cs typeface="Times New Roman" panose="02020603050405020304" pitchFamily="18" charset="0"/>
              </a:rPr>
              <a:t>, </a:t>
            </a:r>
            <a:r>
              <a:rPr lang="vi-VN" sz="2000" dirty="0">
                <a:latin typeface="Times New Roman" panose="02020603050405020304" pitchFamily="18" charset="0"/>
                <a:cs typeface="Times New Roman" panose="02020603050405020304" pitchFamily="18" charset="0"/>
              </a:rPr>
              <a:t>2 xe</a:t>
            </a:r>
            <a:r>
              <a:rPr lang="en-US" sz="2000" dirty="0">
                <a:latin typeface="Times New Roman" panose="02020603050405020304" pitchFamily="18" charset="0"/>
                <a:cs typeface="Times New Roman" panose="02020603050405020304" pitchFamily="18" charset="0"/>
              </a:rPr>
              <a:t>, </a:t>
            </a:r>
            <a:r>
              <a:rPr lang="vi-VN" sz="2000" dirty="0">
                <a:latin typeface="Times New Roman" panose="02020603050405020304" pitchFamily="18" charset="0"/>
                <a:cs typeface="Times New Roman" panose="02020603050405020304" pitchFamily="18" charset="0"/>
              </a:rPr>
              <a:t>4 khách hàng</a:t>
            </a:r>
            <a:r>
              <a:rPr lang="en-US" sz="2000" dirty="0">
                <a:latin typeface="Times New Roman" panose="02020603050405020304" pitchFamily="18" charset="0"/>
                <a:cs typeface="Times New Roman" panose="02020603050405020304" pitchFamily="18" charset="0"/>
              </a:rPr>
              <a:t>. </a:t>
            </a:r>
            <a:r>
              <a:rPr lang="vi-VN" sz="2000" dirty="0">
                <a:latin typeface="Times New Roman" panose="02020603050405020304" pitchFamily="18" charset="0"/>
                <a:cs typeface="Times New Roman" panose="02020603050405020304" pitchFamily="18" charset="0"/>
              </a:rPr>
              <a:t>Trong đó:</a:t>
            </a:r>
          </a:p>
          <a:p>
            <a:pPr>
              <a:lnSpc>
                <a:spcPct val="150000"/>
              </a:lnSpc>
            </a:pPr>
            <a:r>
              <a:rPr lang="vi-VN" sz="2000" dirty="0">
                <a:latin typeface="Times New Roman" panose="02020603050405020304" pitchFamily="18" charset="0"/>
                <a:cs typeface="Times New Roman" panose="02020603050405020304" pitchFamily="18" charset="0"/>
              </a:rPr>
              <a:t>Xe 1 chỉ phục vụ khách hàng A và B</a:t>
            </a:r>
            <a:r>
              <a:rPr lang="en-US" sz="2000" dirty="0">
                <a:latin typeface="Times New Roman" panose="02020603050405020304" pitchFamily="18" charset="0"/>
                <a:cs typeface="Times New Roman" panose="02020603050405020304" pitchFamily="18" charset="0"/>
              </a:rPr>
              <a:t>. </a:t>
            </a:r>
            <a:r>
              <a:rPr lang="vi-VN" sz="2000" dirty="0">
                <a:latin typeface="Times New Roman" panose="02020603050405020304" pitchFamily="18" charset="0"/>
                <a:cs typeface="Times New Roman" panose="02020603050405020304" pitchFamily="18" charset="0"/>
              </a:rPr>
              <a:t>Xe 2 chỉ phục vụ khách hàng C và D</a:t>
            </a:r>
          </a:p>
          <a:p>
            <a:pPr>
              <a:lnSpc>
                <a:spcPct val="150000"/>
              </a:lnSpc>
            </a:pPr>
            <a:r>
              <a:rPr lang="vi-VN" sz="2000" b="1" dirty="0">
                <a:latin typeface="Times New Roman" panose="02020603050405020304" pitchFamily="18" charset="0"/>
                <a:cs typeface="Times New Roman" panose="02020603050405020304" pitchFamily="18" charset="0"/>
              </a:rPr>
              <a:t>Yêu cầu:</a:t>
            </a:r>
          </a:p>
          <a:p>
            <a:pPr>
              <a:lnSpc>
                <a:spcPct val="150000"/>
              </a:lnSpc>
            </a:pPr>
            <a:r>
              <a:rPr lang="vi-VN" sz="2000" dirty="0">
                <a:latin typeface="Times New Roman" panose="02020603050405020304" pitchFamily="18" charset="0"/>
                <a:cs typeface="Times New Roman" panose="02020603050405020304" pitchFamily="18" charset="0"/>
              </a:rPr>
              <a:t>+ Mỗi khách hàng được phục vụ đúng một lần</a:t>
            </a:r>
          </a:p>
          <a:p>
            <a:pPr>
              <a:lnSpc>
                <a:spcPct val="150000"/>
              </a:lnSpc>
            </a:pPr>
            <a:r>
              <a:rPr lang="vi-VN" sz="2000" dirty="0">
                <a:latin typeface="Times New Roman" panose="02020603050405020304" pitchFamily="18" charset="0"/>
                <a:cs typeface="Times New Roman" panose="02020603050405020304" pitchFamily="18" charset="0"/>
              </a:rPr>
              <a:t>+ Xe phải đi từ depot và quay về depot</a:t>
            </a:r>
          </a:p>
          <a:p>
            <a:pPr>
              <a:lnSpc>
                <a:spcPct val="150000"/>
              </a:lnSpc>
            </a:pPr>
            <a:r>
              <a:rPr lang="vi-VN" sz="2000" dirty="0">
                <a:latin typeface="Times New Roman" panose="02020603050405020304" pitchFamily="18" charset="0"/>
                <a:cs typeface="Times New Roman" panose="02020603050405020304" pitchFamily="18" charset="0"/>
              </a:rPr>
              <a:t>+ Phân tuyến sao cho </a:t>
            </a:r>
            <a:r>
              <a:rPr lang="vi-VN" sz="2000" b="1" dirty="0">
                <a:latin typeface="Times New Roman" panose="02020603050405020304" pitchFamily="18" charset="0"/>
                <a:cs typeface="Times New Roman" panose="02020603050405020304" pitchFamily="18" charset="0"/>
              </a:rPr>
              <a:t>quãng đường dài nhất của hai xe là nhỏ nhất</a:t>
            </a:r>
            <a:endParaRPr lang="vi-VN" sz="2000" dirty="0">
              <a:latin typeface="Times New Roman" panose="02020603050405020304" pitchFamily="18" charset="0"/>
              <a:cs typeface="Times New Roman" panose="02020603050405020304" pitchFamily="18" charset="0"/>
            </a:endParaRPr>
          </a:p>
        </p:txBody>
      </p:sp>
      <p:grpSp>
        <p:nvGrpSpPr>
          <p:cNvPr id="7" name="Group 6">
            <a:extLst>
              <a:ext uri="{FF2B5EF4-FFF2-40B4-BE49-F238E27FC236}">
                <a16:creationId xmlns:a16="http://schemas.microsoft.com/office/drawing/2014/main" id="{520F7CC3-49A3-3DE5-40B4-506AAFBDDB00}"/>
              </a:ext>
            </a:extLst>
          </p:cNvPr>
          <p:cNvGrpSpPr/>
          <p:nvPr/>
        </p:nvGrpSpPr>
        <p:grpSpPr>
          <a:xfrm>
            <a:off x="7109535" y="1770395"/>
            <a:ext cx="3622040" cy="3622040"/>
            <a:chOff x="4184492" y="1750059"/>
            <a:chExt cx="3622040" cy="3622040"/>
          </a:xfrm>
        </p:grpSpPr>
        <p:grpSp>
          <p:nvGrpSpPr>
            <p:cNvPr id="9" name="Group 8">
              <a:extLst>
                <a:ext uri="{FF2B5EF4-FFF2-40B4-BE49-F238E27FC236}">
                  <a16:creationId xmlns:a16="http://schemas.microsoft.com/office/drawing/2014/main" id="{4BF05CE8-D071-A947-272B-C0E5BCA383DC}"/>
                </a:ext>
              </a:extLst>
            </p:cNvPr>
            <p:cNvGrpSpPr/>
            <p:nvPr/>
          </p:nvGrpSpPr>
          <p:grpSpPr>
            <a:xfrm>
              <a:off x="4184492" y="1750059"/>
              <a:ext cx="3622040" cy="3622040"/>
              <a:chOff x="4249420" y="1750060"/>
              <a:chExt cx="3622040" cy="3622040"/>
            </a:xfrm>
          </p:grpSpPr>
          <p:sp>
            <p:nvSpPr>
              <p:cNvPr id="14" name="椭圆 36">
                <a:extLst>
                  <a:ext uri="{FF2B5EF4-FFF2-40B4-BE49-F238E27FC236}">
                    <a16:creationId xmlns:a16="http://schemas.microsoft.com/office/drawing/2014/main" id="{32271C68-CB77-AA0E-F42C-1F1CD364E8E7}"/>
                  </a:ext>
                </a:extLst>
              </p:cNvPr>
              <p:cNvSpPr/>
              <p:nvPr/>
            </p:nvSpPr>
            <p:spPr>
              <a:xfrm rot="1020000">
                <a:off x="4249420" y="1750060"/>
                <a:ext cx="3622040" cy="3622040"/>
              </a:xfrm>
              <a:prstGeom prst="ellipse">
                <a:avLst/>
              </a:prstGeom>
              <a:noFill/>
              <a:ln w="95250">
                <a:gradFill>
                  <a:gsLst>
                    <a:gs pos="73000">
                      <a:schemeClr val="accent6">
                        <a:alpha val="0"/>
                      </a:schemeClr>
                    </a:gs>
                    <a:gs pos="35000">
                      <a:schemeClr val="accent1"/>
                    </a:gs>
                    <a:gs pos="100000">
                      <a:schemeClr val="accent1"/>
                    </a:gs>
                    <a:gs pos="1000">
                      <a:schemeClr val="accent6">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Inter Black" panose="02000503000000020004" charset="0"/>
                </a:endParaRPr>
              </a:p>
            </p:txBody>
          </p:sp>
          <p:sp>
            <p:nvSpPr>
              <p:cNvPr id="15" name="椭圆 37">
                <a:extLst>
                  <a:ext uri="{FF2B5EF4-FFF2-40B4-BE49-F238E27FC236}">
                    <a16:creationId xmlns:a16="http://schemas.microsoft.com/office/drawing/2014/main" id="{B6909AD2-F1F5-46E8-8572-9712B9D5CE45}"/>
                  </a:ext>
                </a:extLst>
              </p:cNvPr>
              <p:cNvSpPr/>
              <p:nvPr/>
            </p:nvSpPr>
            <p:spPr>
              <a:xfrm rot="10800000">
                <a:off x="4471035" y="1973580"/>
                <a:ext cx="3175000" cy="3175000"/>
              </a:xfrm>
              <a:prstGeom prst="ellipse">
                <a:avLst/>
              </a:prstGeom>
              <a:noFill/>
              <a:ln w="76200">
                <a:gradFill>
                  <a:gsLst>
                    <a:gs pos="39000">
                      <a:schemeClr val="accent1"/>
                    </a:gs>
                    <a:gs pos="0">
                      <a:schemeClr val="accent6">
                        <a:alpha val="0"/>
                      </a:schemeClr>
                    </a:gs>
                    <a:gs pos="100000">
                      <a:schemeClr val="accent1"/>
                    </a:gs>
                    <a:gs pos="72000">
                      <a:schemeClr val="accent6">
                        <a:alpha val="0"/>
                      </a:schemeClr>
                    </a:gs>
                  </a:gsLst>
                  <a:lin ang="162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Inter Black" panose="02000503000000020004" charset="0"/>
                </a:endParaRPr>
              </a:p>
            </p:txBody>
          </p:sp>
          <p:sp>
            <p:nvSpPr>
              <p:cNvPr id="16" name="椭圆 34">
                <a:extLst>
                  <a:ext uri="{FF2B5EF4-FFF2-40B4-BE49-F238E27FC236}">
                    <a16:creationId xmlns:a16="http://schemas.microsoft.com/office/drawing/2014/main" id="{1DF74ECA-4742-6DF5-90C6-F265C19DB57B}"/>
                  </a:ext>
                </a:extLst>
              </p:cNvPr>
              <p:cNvSpPr/>
              <p:nvPr/>
            </p:nvSpPr>
            <p:spPr>
              <a:xfrm>
                <a:off x="5019675" y="2506980"/>
                <a:ext cx="2242187" cy="2011680"/>
              </a:xfrm>
              <a:prstGeom prst="ellipse">
                <a:avLst/>
              </a:prstGeom>
              <a:gradFill>
                <a:gsLst>
                  <a:gs pos="0">
                    <a:schemeClr val="accent3">
                      <a:lumMod val="60000"/>
                      <a:lumOff val="40000"/>
                    </a:schemeClr>
                  </a:gs>
                  <a:gs pos="85000">
                    <a:schemeClr val="accent1"/>
                  </a:gs>
                </a:gsLst>
                <a:lin ang="2700000" scaled="0"/>
              </a:gra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3200" dirty="0">
                    <a:solidFill>
                      <a:schemeClr val="bg1"/>
                    </a:solidFill>
                    <a:latin typeface="Inter Black" panose="02000503000000020004" charset="0"/>
                    <a:ea typeface="Inter Black" panose="02000503000000020004" charset="0"/>
                    <a:cs typeface="Inter Black" panose="02000503000000020004" charset="0"/>
                  </a:rPr>
                  <a:t>VRPCC</a:t>
                </a:r>
                <a:endParaRPr lang="zh-CN" altLang="en-US" sz="3200" dirty="0">
                  <a:solidFill>
                    <a:schemeClr val="bg1"/>
                  </a:solidFill>
                  <a:latin typeface="Inter Black" panose="02000503000000020004" charset="0"/>
                  <a:ea typeface="Inter Black" panose="02000503000000020004" charset="0"/>
                  <a:cs typeface="Inter Black" panose="02000503000000020004" charset="0"/>
                </a:endParaRPr>
              </a:p>
            </p:txBody>
          </p:sp>
          <p:grpSp>
            <p:nvGrpSpPr>
              <p:cNvPr id="17" name="组合 35">
                <a:extLst>
                  <a:ext uri="{FF2B5EF4-FFF2-40B4-BE49-F238E27FC236}">
                    <a16:creationId xmlns:a16="http://schemas.microsoft.com/office/drawing/2014/main" id="{876F32C8-574B-1D22-9CDB-6E28AFC6D129}"/>
                  </a:ext>
                </a:extLst>
              </p:cNvPr>
              <p:cNvGrpSpPr/>
              <p:nvPr/>
            </p:nvGrpSpPr>
            <p:grpSpPr>
              <a:xfrm>
                <a:off x="4625340" y="2202815"/>
                <a:ext cx="2805430" cy="2716530"/>
                <a:chOff x="3907790" y="2007432"/>
                <a:chExt cx="3854131" cy="3627565"/>
              </a:xfrm>
            </p:grpSpPr>
            <p:sp>
              <p:nvSpPr>
                <p:cNvPr id="18" name="2">
                  <a:extLst>
                    <a:ext uri="{FF2B5EF4-FFF2-40B4-BE49-F238E27FC236}">
                      <a16:creationId xmlns:a16="http://schemas.microsoft.com/office/drawing/2014/main" id="{6514020C-FEA8-A11F-C9F6-36D7BCECF756}"/>
                    </a:ext>
                  </a:extLst>
                </p:cNvPr>
                <p:cNvSpPr/>
                <p:nvPr/>
              </p:nvSpPr>
              <p:spPr>
                <a:xfrm flipH="1" flipV="1">
                  <a:off x="3984739" y="2007432"/>
                  <a:ext cx="3777182" cy="3627565"/>
                </a:xfrm>
                <a:prstGeom prst="blockArc">
                  <a:avLst>
                    <a:gd name="adj1" fmla="val 34484"/>
                    <a:gd name="adj2" fmla="val 10794548"/>
                    <a:gd name="adj3" fmla="val 922"/>
                  </a:avLst>
                </a:prstGeom>
                <a:gradFill>
                  <a:gsLst>
                    <a:gs pos="0">
                      <a:schemeClr val="accent1">
                        <a:lumMod val="5000"/>
                        <a:lumOff val="95000"/>
                        <a:alpha val="0"/>
                      </a:schemeClr>
                    </a:gs>
                    <a:gs pos="53000">
                      <a:schemeClr val="accent3">
                        <a:lumMod val="40000"/>
                        <a:lumOff val="60000"/>
                      </a:schemeClr>
                    </a:gs>
                    <a:gs pos="85000">
                      <a:schemeClr val="accent1">
                        <a:lumMod val="40000"/>
                        <a:lumOff val="6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ea typeface="Inter Black" panose="02000503000000020004" charset="0"/>
                    <a:cs typeface="Inter Black" panose="02000503000000020004" charset="0"/>
                    <a:sym typeface="+mn-lt"/>
                  </a:endParaRPr>
                </a:p>
              </p:txBody>
            </p:sp>
            <p:sp>
              <p:nvSpPr>
                <p:cNvPr id="19" name="1">
                  <a:extLst>
                    <a:ext uri="{FF2B5EF4-FFF2-40B4-BE49-F238E27FC236}">
                      <a16:creationId xmlns:a16="http://schemas.microsoft.com/office/drawing/2014/main" id="{BAE5CC9E-9ED7-0702-71B2-B12EE35F3637}"/>
                    </a:ext>
                  </a:extLst>
                </p:cNvPr>
                <p:cNvSpPr/>
                <p:nvPr/>
              </p:nvSpPr>
              <p:spPr>
                <a:xfrm flipH="1" flipV="1">
                  <a:off x="3907790" y="3739621"/>
                  <a:ext cx="197107" cy="163190"/>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ea typeface="Inter Black" panose="02000503000000020004" charset="0"/>
                    <a:cs typeface="Inter Black" panose="02000503000000020004" charset="0"/>
                    <a:sym typeface="+mn-lt"/>
                  </a:endParaRPr>
                </a:p>
              </p:txBody>
            </p:sp>
          </p:grpSp>
        </p:grpSp>
        <p:grpSp>
          <p:nvGrpSpPr>
            <p:cNvPr id="11" name="组合 46">
              <a:extLst>
                <a:ext uri="{FF2B5EF4-FFF2-40B4-BE49-F238E27FC236}">
                  <a16:creationId xmlns:a16="http://schemas.microsoft.com/office/drawing/2014/main" id="{BA887903-2C6D-DE62-0874-8FD5D981FE06}"/>
                </a:ext>
              </a:extLst>
            </p:cNvPr>
            <p:cNvGrpSpPr/>
            <p:nvPr/>
          </p:nvGrpSpPr>
          <p:grpSpPr>
            <a:xfrm rot="10800000">
              <a:off x="4688840" y="2202815"/>
              <a:ext cx="2805430" cy="2716530"/>
              <a:chOff x="3907790" y="2007432"/>
              <a:chExt cx="3854130" cy="3627565"/>
            </a:xfrm>
            <a:gradFill>
              <a:gsLst>
                <a:gs pos="100000">
                  <a:schemeClr val="accent1">
                    <a:lumMod val="5000"/>
                    <a:lumOff val="95000"/>
                    <a:alpha val="0"/>
                  </a:schemeClr>
                </a:gs>
                <a:gs pos="53000">
                  <a:schemeClr val="accent3">
                    <a:lumMod val="40000"/>
                    <a:lumOff val="60000"/>
                  </a:schemeClr>
                </a:gs>
                <a:gs pos="26000">
                  <a:schemeClr val="accent1">
                    <a:lumMod val="60000"/>
                    <a:lumOff val="40000"/>
                  </a:schemeClr>
                </a:gs>
              </a:gsLst>
              <a:lin ang="0" scaled="0"/>
            </a:gradFill>
          </p:grpSpPr>
          <p:sp>
            <p:nvSpPr>
              <p:cNvPr id="12" name="2">
                <a:extLst>
                  <a:ext uri="{FF2B5EF4-FFF2-40B4-BE49-F238E27FC236}">
                    <a16:creationId xmlns:a16="http://schemas.microsoft.com/office/drawing/2014/main" id="{D302FA21-5C95-A4D4-1A8D-5CDF92B3AD4B}"/>
                  </a:ext>
                </a:extLst>
              </p:cNvPr>
              <p:cNvSpPr/>
              <p:nvPr/>
            </p:nvSpPr>
            <p:spPr>
              <a:xfrm flipH="1" flipV="1">
                <a:off x="3984738" y="2007432"/>
                <a:ext cx="3777182" cy="3627565"/>
              </a:xfrm>
              <a:prstGeom prst="blockArc">
                <a:avLst>
                  <a:gd name="adj1" fmla="val 34484"/>
                  <a:gd name="adj2" fmla="val 10794548"/>
                  <a:gd name="adj3" fmla="val 922"/>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ea typeface="Inter Black" panose="02000503000000020004" charset="0"/>
                  <a:cs typeface="Inter Black" panose="02000503000000020004" charset="0"/>
                  <a:sym typeface="+mn-lt"/>
                </a:endParaRPr>
              </a:p>
            </p:txBody>
          </p:sp>
          <p:sp>
            <p:nvSpPr>
              <p:cNvPr id="13" name="1">
                <a:extLst>
                  <a:ext uri="{FF2B5EF4-FFF2-40B4-BE49-F238E27FC236}">
                    <a16:creationId xmlns:a16="http://schemas.microsoft.com/office/drawing/2014/main" id="{AF997F37-F2A9-16B0-4FAD-A6277F22A716}"/>
                  </a:ext>
                </a:extLst>
              </p:cNvPr>
              <p:cNvSpPr/>
              <p:nvPr/>
            </p:nvSpPr>
            <p:spPr>
              <a:xfrm flipH="1" flipV="1">
                <a:off x="3907790" y="3739621"/>
                <a:ext cx="197107" cy="163190"/>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ea typeface="Inter Black" panose="02000503000000020004" charset="0"/>
                  <a:cs typeface="Inter Black" panose="02000503000000020004" charset="0"/>
                  <a:sym typeface="+mn-lt"/>
                </a:endParaRPr>
              </a:p>
            </p:txBody>
          </p:sp>
        </p:grpSp>
      </p:grpSp>
    </p:spTree>
    <p:extLst>
      <p:ext uri="{BB962C8B-B14F-4D97-AF65-F5344CB8AC3E}">
        <p14:creationId xmlns:p14="http://schemas.microsoft.com/office/powerpoint/2010/main" val="2910834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fltVal val="0"/>
                                          </p:val>
                                        </p:tav>
                                        <p:tav tm="100000">
                                          <p:val>
                                            <p:strVal val="#ppt_w"/>
                                          </p:val>
                                        </p:tav>
                                      </p:tavLst>
                                    </p:anim>
                                    <p:anim calcmode="lin" valueType="num">
                                      <p:cBhvr>
                                        <p:cTn id="8" dur="1000" fill="hold"/>
                                        <p:tgtEl>
                                          <p:spTgt spid="7"/>
                                        </p:tgtEl>
                                        <p:attrNameLst>
                                          <p:attrName>ppt_h</p:attrName>
                                        </p:attrNameLst>
                                      </p:cBhvr>
                                      <p:tavLst>
                                        <p:tav tm="0">
                                          <p:val>
                                            <p:fltVal val="0"/>
                                          </p:val>
                                        </p:tav>
                                        <p:tav tm="100000">
                                          <p:val>
                                            <p:strVal val="#ppt_h"/>
                                          </p:val>
                                        </p:tav>
                                      </p:tavLst>
                                    </p:anim>
                                    <p:anim calcmode="lin" valueType="num">
                                      <p:cBhvr>
                                        <p:cTn id="9" dur="1000" fill="hold"/>
                                        <p:tgtEl>
                                          <p:spTgt spid="7"/>
                                        </p:tgtEl>
                                        <p:attrNameLst>
                                          <p:attrName>style.rotation</p:attrName>
                                        </p:attrNameLst>
                                      </p:cBhvr>
                                      <p:tavLst>
                                        <p:tav tm="0">
                                          <p:val>
                                            <p:fltVal val="90"/>
                                          </p:val>
                                        </p:tav>
                                        <p:tav tm="100000">
                                          <p:val>
                                            <p:fltVal val="0"/>
                                          </p:val>
                                        </p:tav>
                                      </p:tavLst>
                                    </p:anim>
                                    <p:animEffect transition="in" filter="fade">
                                      <p:cBhvr>
                                        <p:cTn id="10"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B1E2E-5D8D-B362-77E0-6797B4E51A8E}"/>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D099E1A-26E6-45EB-7815-D40648A313FC}"/>
              </a:ext>
            </a:extLst>
          </p:cNvPr>
          <p:cNvSpPr>
            <a:spLocks noGrp="1"/>
          </p:cNvSpPr>
          <p:nvPr>
            <p:ph type="sldNum" sz="quarter" idx="12"/>
          </p:nvPr>
        </p:nvSpPr>
        <p:spPr/>
        <p:txBody>
          <a:bodyPr/>
          <a:lstStyle/>
          <a:p>
            <a:fld id="{4EB4ADB3-4D6A-144B-B124-08234FE3D04F}" type="slidenum">
              <a:rPr lang="en-US" smtClean="0"/>
              <a:pPr/>
              <a:t>8</a:t>
            </a:fld>
            <a:endParaRPr lang="en-US"/>
          </a:p>
        </p:txBody>
      </p:sp>
      <p:sp>
        <p:nvSpPr>
          <p:cNvPr id="3" name="Title 1">
            <a:extLst>
              <a:ext uri="{FF2B5EF4-FFF2-40B4-BE49-F238E27FC236}">
                <a16:creationId xmlns:a16="http://schemas.microsoft.com/office/drawing/2014/main" id="{B0754D57-308D-6617-A564-4FDFAA161AD9}"/>
              </a:ext>
            </a:extLst>
          </p:cNvPr>
          <p:cNvSpPr txBox="1">
            <a:spLocks/>
          </p:cNvSpPr>
          <p:nvPr/>
        </p:nvSpPr>
        <p:spPr bwMode="auto">
          <a:xfrm>
            <a:off x="1103169" y="1081121"/>
            <a:ext cx="4281542" cy="92785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defTabSz="457200" rtl="0" eaLnBrk="1" fontAlgn="base" hangingPunct="1">
              <a:spcBef>
                <a:spcPct val="0"/>
              </a:spcBef>
              <a:spcAft>
                <a:spcPct val="0"/>
              </a:spcAft>
              <a:defRPr sz="4000" kern="1200">
                <a:solidFill>
                  <a:srgbClr val="009900"/>
                </a:solidFill>
                <a:latin typeface="Segoe UI Semibold" pitchFamily="34" charset="0"/>
                <a:ea typeface="ＭＳ Ｐゴシック" charset="-128"/>
                <a:cs typeface="ＭＳ Ｐゴシック" charset="-128"/>
              </a:defRPr>
            </a:lvl1pPr>
            <a:lvl2pPr algn="ctr" defTabSz="457200" rtl="0" eaLnBrk="1" fontAlgn="base" hangingPunct="1">
              <a:spcBef>
                <a:spcPct val="0"/>
              </a:spcBef>
              <a:spcAft>
                <a:spcPct val="0"/>
              </a:spcAft>
              <a:defRPr sz="40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40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40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40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40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40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40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4000">
                <a:solidFill>
                  <a:schemeClr val="tx1"/>
                </a:solidFill>
                <a:latin typeface="Calibri" charset="0"/>
                <a:ea typeface="ＭＳ Ｐゴシック" charset="-128"/>
                <a:cs typeface="ＭＳ Ｐゴシック" charset="-128"/>
              </a:defRPr>
            </a:lvl9pPr>
          </a:lstStyle>
          <a:p>
            <a:pPr>
              <a:spcBef>
                <a:spcPts val="0"/>
              </a:spcBef>
              <a:buSzPct val="100000"/>
            </a:pPr>
            <a:r>
              <a:rPr lang="vi-VN" sz="2800" b="1" i="1" dirty="0">
                <a:solidFill>
                  <a:schemeClr val="tx1"/>
                </a:solidFill>
                <a:latin typeface="Times New Roman" panose="02020603050405020304" pitchFamily="18" charset="0"/>
                <a:cs typeface="Times New Roman" panose="02020603050405020304" pitchFamily="18" charset="0"/>
              </a:rPr>
              <a:t>Mô hình toán học MIP</a:t>
            </a:r>
            <a:endParaRPr lang="en-US" sz="2800" i="1" dirty="0">
              <a:solidFill>
                <a:schemeClr val="tx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C93D40D5-6C9B-6F07-5F93-D557DD852CAD}"/>
              </a:ext>
            </a:extLst>
          </p:cNvPr>
          <p:cNvSpPr txBox="1"/>
          <p:nvPr/>
        </p:nvSpPr>
        <p:spPr>
          <a:xfrm>
            <a:off x="1458813" y="1862069"/>
            <a:ext cx="4281542" cy="1631216"/>
          </a:xfrm>
          <a:prstGeom prst="rect">
            <a:avLst/>
          </a:prstGeom>
          <a:noFill/>
        </p:spPr>
        <p:txBody>
          <a:bodyPr wrap="square">
            <a:spAutoFit/>
          </a:bodyPr>
          <a:lstStyle/>
          <a:p>
            <a:pPr>
              <a:buFont typeface="Arial" panose="020B0604020202020204" pitchFamily="34" charset="0"/>
              <a:buChar char="•"/>
            </a:pPr>
            <a:r>
              <a:rPr lang="vi-VN" sz="2000" dirty="0">
                <a:latin typeface="Times New Roman" panose="02020603050405020304" pitchFamily="18" charset="0"/>
                <a:cs typeface="Times New Roman" panose="02020603050405020304" pitchFamily="18" charset="0"/>
              </a:rPr>
              <a:t> Quy hoạch nguyên hỗn hợp </a:t>
            </a:r>
          </a:p>
          <a:p>
            <a:pPr>
              <a:buFont typeface="Arial" panose="020B0604020202020204" pitchFamily="34" charset="0"/>
              <a:buChar char="•"/>
            </a:pPr>
            <a:r>
              <a:rPr lang="vi-VN" sz="2000" dirty="0">
                <a:latin typeface="Times New Roman" panose="02020603050405020304" pitchFamily="18" charset="0"/>
                <a:cs typeface="Times New Roman" panose="02020603050405020304" pitchFamily="18" charset="0"/>
              </a:rPr>
              <a:t> Biến: </a:t>
            </a:r>
          </a:p>
          <a:p>
            <a:pPr marL="742950" lvl="1" indent="-285750">
              <a:buFont typeface="Arial" panose="020B0604020202020204" pitchFamily="34" charset="0"/>
              <a:buChar char="•"/>
            </a:pPr>
            <a:r>
              <a:rPr lang="vi-VN" sz="2000" dirty="0">
                <a:latin typeface="Times New Roman" panose="02020603050405020304" pitchFamily="18" charset="0"/>
                <a:cs typeface="Times New Roman" panose="02020603050405020304" pitchFamily="18" charset="0"/>
              </a:rPr>
              <a:t>xᵢⱼₖ: xe k đi từ i → j </a:t>
            </a:r>
          </a:p>
          <a:p>
            <a:pPr marL="742950" lvl="1" indent="-285750">
              <a:buFont typeface="Arial" panose="020B0604020202020204" pitchFamily="34" charset="0"/>
              <a:buChar char="•"/>
            </a:pPr>
            <a:r>
              <a:rPr lang="vi-VN" sz="2000" dirty="0">
                <a:latin typeface="Times New Roman" panose="02020603050405020304" pitchFamily="18" charset="0"/>
                <a:cs typeface="Times New Roman" panose="02020603050405020304" pitchFamily="18" charset="0"/>
              </a:rPr>
              <a:t>uᵢₖ: tương thích </a:t>
            </a:r>
          </a:p>
          <a:p>
            <a:pPr>
              <a:buNone/>
            </a:pPr>
            <a:r>
              <a:rPr lang="en-US" sz="2000" dirty="0">
                <a:latin typeface="Times New Roman" panose="02020603050405020304" pitchFamily="18" charset="0"/>
                <a:cs typeface="Times New Roman" panose="02020603050405020304" pitchFamily="18" charset="0"/>
              </a:rPr>
              <a:t> </a:t>
            </a:r>
            <a:r>
              <a:rPr lang="vi-VN" sz="2000" dirty="0">
                <a:latin typeface="Times New Roman" panose="02020603050405020304" pitchFamily="18" charset="0"/>
                <a:cs typeface="Times New Roman" panose="02020603050405020304" pitchFamily="18" charset="0"/>
              </a:rPr>
              <a:t>Có ràng buộc: </a:t>
            </a:r>
            <a:r>
              <a:rPr lang="en-US" sz="2000" b="1" dirty="0">
                <a:latin typeface="Times New Roman" panose="02020603050405020304" pitchFamily="18" charset="0"/>
                <a:cs typeface="Times New Roman" panose="02020603050405020304" pitchFamily="18" charset="0"/>
              </a:rPr>
              <a:t>Subtour Elimination</a:t>
            </a:r>
            <a:endParaRPr lang="vi-VN" sz="2000" dirty="0">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0A498616-0F75-6B8E-FAE8-1E4AEC2E9C0E}"/>
              </a:ext>
            </a:extLst>
          </p:cNvPr>
          <p:cNvSpPr txBox="1"/>
          <p:nvPr/>
        </p:nvSpPr>
        <p:spPr>
          <a:xfrm>
            <a:off x="6881239" y="3968672"/>
            <a:ext cx="4281542" cy="1883272"/>
          </a:xfrm>
          <a:prstGeom prst="rect">
            <a:avLst/>
          </a:prstGeom>
          <a:noFill/>
        </p:spPr>
        <p:txBody>
          <a:bodyPr wrap="square">
            <a:spAutoFit/>
          </a:bodyPr>
          <a:lstStyle/>
          <a:p>
            <a:pPr>
              <a:lnSpc>
                <a:spcPct val="150000"/>
              </a:lnSpc>
              <a:buFont typeface="Arial" panose="020B0604020202020204" pitchFamily="34" charset="0"/>
              <a:buChar char="•"/>
            </a:pPr>
            <a:r>
              <a:rPr lang="vi-VN" sz="2000" dirty="0">
                <a:latin typeface="Times New Roman" panose="02020603050405020304" pitchFamily="18" charset="0"/>
                <a:cs typeface="Times New Roman" panose="02020603050405020304" pitchFamily="18" charset="0"/>
              </a:rPr>
              <a:t> Số ràng buộc cực lớn </a:t>
            </a:r>
          </a:p>
          <a:p>
            <a:pPr>
              <a:lnSpc>
                <a:spcPct val="150000"/>
              </a:lnSpc>
              <a:buFont typeface="Arial" panose="020B0604020202020204" pitchFamily="34" charset="0"/>
              <a:buChar char="•"/>
            </a:pPr>
            <a:r>
              <a:rPr lang="vi-VN" sz="2000" dirty="0">
                <a:latin typeface="Times New Roman" panose="02020603050405020304" pitchFamily="18" charset="0"/>
                <a:cs typeface="Times New Roman" panose="02020603050405020304" pitchFamily="18" charset="0"/>
              </a:rPr>
              <a:t> Tăng theo cấp số nhân </a:t>
            </a:r>
          </a:p>
          <a:p>
            <a:pPr>
              <a:lnSpc>
                <a:spcPct val="150000"/>
              </a:lnSpc>
              <a:buFont typeface="Arial" panose="020B0604020202020204" pitchFamily="34" charset="0"/>
              <a:buChar char="•"/>
            </a:pPr>
            <a:r>
              <a:rPr lang="vi-VN" sz="2000" dirty="0">
                <a:latin typeface="Times New Roman" panose="02020603050405020304" pitchFamily="18" charset="0"/>
                <a:cs typeface="Times New Roman" panose="02020603050405020304" pitchFamily="18" charset="0"/>
              </a:rPr>
              <a:t> Không giải được bài toán lớn </a:t>
            </a:r>
          </a:p>
          <a:p>
            <a:pPr>
              <a:lnSpc>
                <a:spcPct val="150000"/>
              </a:lnSpc>
              <a:buNone/>
            </a:pPr>
            <a:r>
              <a:rPr lang="vi-VN" sz="2000" dirty="0">
                <a:latin typeface="Times New Roman" panose="02020603050405020304" pitchFamily="18" charset="0"/>
                <a:cs typeface="Times New Roman" panose="02020603050405020304" pitchFamily="18" charset="0"/>
              </a:rPr>
              <a:t>=&gt;</a:t>
            </a:r>
            <a:r>
              <a:rPr lang="en-US" sz="2000" dirty="0">
                <a:latin typeface="Times New Roman" panose="02020603050405020304" pitchFamily="18" charset="0"/>
                <a:cs typeface="Times New Roman" panose="02020603050405020304" pitchFamily="18" charset="0"/>
              </a:rPr>
              <a:t> </a:t>
            </a:r>
            <a:r>
              <a:rPr lang="vi-VN" sz="2000" dirty="0">
                <a:latin typeface="Times New Roman" panose="02020603050405020304" pitchFamily="18" charset="0"/>
                <a:cs typeface="Times New Roman" panose="02020603050405020304" pitchFamily="18" charset="0"/>
              </a:rPr>
              <a:t>Cần giải pháp khác</a:t>
            </a:r>
          </a:p>
        </p:txBody>
      </p:sp>
      <p:sp>
        <p:nvSpPr>
          <p:cNvPr id="21" name="Title 1">
            <a:extLst>
              <a:ext uri="{FF2B5EF4-FFF2-40B4-BE49-F238E27FC236}">
                <a16:creationId xmlns:a16="http://schemas.microsoft.com/office/drawing/2014/main" id="{1D4C8736-F114-79D7-8603-31F042AA93EC}"/>
              </a:ext>
            </a:extLst>
          </p:cNvPr>
          <p:cNvSpPr txBox="1">
            <a:spLocks/>
          </p:cNvSpPr>
          <p:nvPr/>
        </p:nvSpPr>
        <p:spPr bwMode="auto">
          <a:xfrm>
            <a:off x="6096000" y="3214748"/>
            <a:ext cx="4281542" cy="91139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defTabSz="457200" rtl="0" eaLnBrk="1" fontAlgn="base" hangingPunct="1">
              <a:spcBef>
                <a:spcPct val="0"/>
              </a:spcBef>
              <a:spcAft>
                <a:spcPct val="0"/>
              </a:spcAft>
              <a:defRPr sz="4000" kern="1200">
                <a:solidFill>
                  <a:srgbClr val="009900"/>
                </a:solidFill>
                <a:latin typeface="Segoe UI Semibold" pitchFamily="34" charset="0"/>
                <a:ea typeface="ＭＳ Ｐゴシック" charset="-128"/>
                <a:cs typeface="ＭＳ Ｐゴシック" charset="-128"/>
              </a:defRPr>
            </a:lvl1pPr>
            <a:lvl2pPr algn="ctr" defTabSz="457200" rtl="0" eaLnBrk="1" fontAlgn="base" hangingPunct="1">
              <a:spcBef>
                <a:spcPct val="0"/>
              </a:spcBef>
              <a:spcAft>
                <a:spcPct val="0"/>
              </a:spcAft>
              <a:defRPr sz="40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40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40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40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40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40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40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4000">
                <a:solidFill>
                  <a:schemeClr val="tx1"/>
                </a:solidFill>
                <a:latin typeface="Calibri" charset="0"/>
                <a:ea typeface="ＭＳ Ｐゴシック" charset="-128"/>
                <a:cs typeface="ＭＳ Ｐゴシック" charset="-128"/>
              </a:defRPr>
            </a:lvl9pPr>
          </a:lstStyle>
          <a:p>
            <a:pPr>
              <a:lnSpc>
                <a:spcPct val="150000"/>
              </a:lnSpc>
              <a:buNone/>
            </a:pPr>
            <a:r>
              <a:rPr lang="vi-VN" sz="2800" b="1" i="1" dirty="0">
                <a:solidFill>
                  <a:schemeClr val="tx1"/>
                </a:solidFill>
                <a:latin typeface="Times New Roman" panose="02020603050405020304" pitchFamily="18" charset="0"/>
                <a:cs typeface="Times New Roman" panose="02020603050405020304" pitchFamily="18" charset="0"/>
              </a:rPr>
              <a:t>Hạn chế của MIP</a:t>
            </a:r>
          </a:p>
        </p:txBody>
      </p:sp>
      <p:sp>
        <p:nvSpPr>
          <p:cNvPr id="28" name="Title 1">
            <a:extLst>
              <a:ext uri="{FF2B5EF4-FFF2-40B4-BE49-F238E27FC236}">
                <a16:creationId xmlns:a16="http://schemas.microsoft.com/office/drawing/2014/main" id="{AF96D9D7-E36D-23B9-5BE1-9CCF5A6DE891}"/>
              </a:ext>
            </a:extLst>
          </p:cNvPr>
          <p:cNvSpPr>
            <a:spLocks noGrp="1"/>
          </p:cNvSpPr>
          <p:nvPr>
            <p:ph type="title"/>
          </p:nvPr>
        </p:nvSpPr>
        <p:spPr>
          <a:xfrm>
            <a:off x="1624519" y="136524"/>
            <a:ext cx="9385372" cy="792162"/>
          </a:xfrm>
        </p:spPr>
        <p:txBody>
          <a:bodyPr/>
          <a:lstStyle/>
          <a:p>
            <a:pPr>
              <a:spcBef>
                <a:spcPts val="0"/>
              </a:spcBef>
              <a:buSzPct val="100000"/>
            </a:pPr>
            <a:r>
              <a:rPr lang="vi-VN" sz="3200" b="1" dirty="0">
                <a:solidFill>
                  <a:srgbClr val="00B050"/>
                </a:solidFill>
                <a:latin typeface="Times New Roman" panose="02020603050405020304" pitchFamily="18" charset="0"/>
                <a:cs typeface="Times New Roman" panose="02020603050405020304" pitchFamily="18" charset="0"/>
              </a:rPr>
              <a:t>2</a:t>
            </a:r>
            <a:r>
              <a:rPr lang="en-US" sz="3200" b="1" dirty="0">
                <a:solidFill>
                  <a:srgbClr val="00B050"/>
                </a:solidFill>
                <a:latin typeface="Times New Roman" panose="02020603050405020304" pitchFamily="18" charset="0"/>
                <a:cs typeface="Times New Roman" panose="02020603050405020304" pitchFamily="18" charset="0"/>
              </a:rPr>
              <a:t>. </a:t>
            </a:r>
            <a:r>
              <a:rPr lang="vi-VN" sz="3200" b="1" dirty="0">
                <a:solidFill>
                  <a:srgbClr val="00B050"/>
                </a:solidFill>
                <a:latin typeface="Times New Roman" panose="02020603050405020304" pitchFamily="18" charset="0"/>
                <a:cs typeface="Times New Roman" panose="02020603050405020304" pitchFamily="18" charset="0"/>
              </a:rPr>
              <a:t>VRPCC VỚI RÀNG BUỘC TƯƠNG THÍCH</a:t>
            </a:r>
            <a:endParaRPr lang="en-US" sz="3200" b="1" dirty="0">
              <a:solidFill>
                <a:srgbClr val="00B050"/>
              </a:solidFill>
              <a:latin typeface="Times New Roman" panose="02020603050405020304" pitchFamily="18" charset="0"/>
              <a:cs typeface="Times New Roman" panose="02020603050405020304" pitchFamily="18" charset="0"/>
            </a:endParaRPr>
          </a:p>
        </p:txBody>
      </p:sp>
      <p:pic>
        <p:nvPicPr>
          <p:cNvPr id="30" name="Picture 29">
            <a:extLst>
              <a:ext uri="{FF2B5EF4-FFF2-40B4-BE49-F238E27FC236}">
                <a16:creationId xmlns:a16="http://schemas.microsoft.com/office/drawing/2014/main" id="{5421DC3C-293A-F4E6-03F0-FA2D40864A7C}"/>
              </a:ext>
            </a:extLst>
          </p:cNvPr>
          <p:cNvPicPr>
            <a:picLocks noChangeAspect="1"/>
          </p:cNvPicPr>
          <p:nvPr/>
        </p:nvPicPr>
        <p:blipFill>
          <a:blip r:embed="rId3"/>
          <a:stretch>
            <a:fillRect/>
          </a:stretch>
        </p:blipFill>
        <p:spPr>
          <a:xfrm>
            <a:off x="1491797" y="3634756"/>
            <a:ext cx="4459682" cy="2217188"/>
          </a:xfrm>
          <a:prstGeom prst="rect">
            <a:avLst/>
          </a:prstGeom>
        </p:spPr>
      </p:pic>
      <p:pic>
        <p:nvPicPr>
          <p:cNvPr id="32" name="Picture 31">
            <a:extLst>
              <a:ext uri="{FF2B5EF4-FFF2-40B4-BE49-F238E27FC236}">
                <a16:creationId xmlns:a16="http://schemas.microsoft.com/office/drawing/2014/main" id="{95372017-DBD2-CFE9-A18F-58C0DB3A0B0A}"/>
              </a:ext>
            </a:extLst>
          </p:cNvPr>
          <p:cNvPicPr>
            <a:picLocks noChangeAspect="1"/>
          </p:cNvPicPr>
          <p:nvPr/>
        </p:nvPicPr>
        <p:blipFill>
          <a:blip r:embed="rId4"/>
          <a:stretch>
            <a:fillRect/>
          </a:stretch>
        </p:blipFill>
        <p:spPr>
          <a:xfrm>
            <a:off x="6807290" y="1361688"/>
            <a:ext cx="3860620" cy="2067312"/>
          </a:xfrm>
          <a:prstGeom prst="rect">
            <a:avLst/>
          </a:prstGeom>
        </p:spPr>
      </p:pic>
    </p:spTree>
    <p:extLst>
      <p:ext uri="{BB962C8B-B14F-4D97-AF65-F5344CB8AC3E}">
        <p14:creationId xmlns:p14="http://schemas.microsoft.com/office/powerpoint/2010/main" val="25895349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B63FF-C823-0981-D770-B45AC9CC00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35FAA5-6DC2-A4A8-C279-C73ECD7A6928}"/>
              </a:ext>
            </a:extLst>
          </p:cNvPr>
          <p:cNvSpPr>
            <a:spLocks noGrp="1"/>
          </p:cNvSpPr>
          <p:nvPr>
            <p:ph type="title"/>
          </p:nvPr>
        </p:nvSpPr>
        <p:spPr>
          <a:xfrm>
            <a:off x="1624519" y="136524"/>
            <a:ext cx="9385372" cy="792162"/>
          </a:xfrm>
        </p:spPr>
        <p:txBody>
          <a:bodyPr/>
          <a:lstStyle/>
          <a:p>
            <a:pPr>
              <a:spcBef>
                <a:spcPts val="0"/>
              </a:spcBef>
              <a:buSzPct val="100000"/>
            </a:pPr>
            <a:r>
              <a:rPr lang="en-US" sz="3200" b="1" dirty="0">
                <a:solidFill>
                  <a:srgbClr val="00B050"/>
                </a:solidFill>
                <a:latin typeface="Times New Roman" panose="02020603050405020304" pitchFamily="18" charset="0"/>
                <a:cs typeface="Times New Roman" panose="02020603050405020304" pitchFamily="18" charset="0"/>
              </a:rPr>
              <a:t>3. THUẬT TOÁN ĐỀ XUẤT</a:t>
            </a:r>
          </a:p>
        </p:txBody>
      </p:sp>
      <p:sp>
        <p:nvSpPr>
          <p:cNvPr id="5" name="Slide Number Placeholder 4">
            <a:extLst>
              <a:ext uri="{FF2B5EF4-FFF2-40B4-BE49-F238E27FC236}">
                <a16:creationId xmlns:a16="http://schemas.microsoft.com/office/drawing/2014/main" id="{BE74A507-41F8-5339-0934-124995C307EB}"/>
              </a:ext>
            </a:extLst>
          </p:cNvPr>
          <p:cNvSpPr>
            <a:spLocks noGrp="1"/>
          </p:cNvSpPr>
          <p:nvPr>
            <p:ph type="sldNum" sz="quarter" idx="12"/>
          </p:nvPr>
        </p:nvSpPr>
        <p:spPr/>
        <p:txBody>
          <a:bodyPr/>
          <a:lstStyle/>
          <a:p>
            <a:fld id="{4EB4ADB3-4D6A-144B-B124-08234FE3D04F}" type="slidenum">
              <a:rPr lang="en-US" smtClean="0"/>
              <a:pPr/>
              <a:t>9</a:t>
            </a:fld>
            <a:endParaRPr lang="en-US"/>
          </a:p>
        </p:txBody>
      </p:sp>
      <p:sp>
        <p:nvSpPr>
          <p:cNvPr id="8" name="TextBox 7">
            <a:extLst>
              <a:ext uri="{FF2B5EF4-FFF2-40B4-BE49-F238E27FC236}">
                <a16:creationId xmlns:a16="http://schemas.microsoft.com/office/drawing/2014/main" id="{F730850D-581E-8F19-E260-ADFA027CDF4F}"/>
              </a:ext>
            </a:extLst>
          </p:cNvPr>
          <p:cNvSpPr txBox="1"/>
          <p:nvPr/>
        </p:nvSpPr>
        <p:spPr>
          <a:xfrm>
            <a:off x="1512837" y="1733568"/>
            <a:ext cx="9278876" cy="3076291"/>
          </a:xfrm>
          <a:prstGeom prst="rect">
            <a:avLst/>
          </a:prstGeom>
          <a:noFill/>
        </p:spPr>
        <p:txBody>
          <a:bodyPr wrap="square" rtlCol="0">
            <a:spAutoFit/>
          </a:bodyPr>
          <a:lstStyle/>
          <a:p>
            <a:pPr>
              <a:lnSpc>
                <a:spcPct val="200000"/>
              </a:lnSpc>
            </a:pPr>
            <a:r>
              <a:rPr lang="vi-VN" sz="2000" b="1" i="1" dirty="0">
                <a:latin typeface="+mj-lt"/>
              </a:rPr>
              <a:t>Thuật toán đề xuất </a:t>
            </a:r>
          </a:p>
          <a:p>
            <a:pPr>
              <a:lnSpc>
                <a:spcPct val="200000"/>
              </a:lnSpc>
            </a:pPr>
            <a:r>
              <a:rPr lang="vi-VN" sz="2000" dirty="0">
                <a:latin typeface="+mj-lt"/>
              </a:rPr>
              <a:t>- Thuật toán xấp xỉ. Bắt đầu với một “phỏng đoán” B về giá trị tối ưu, có thể được kiểm chứng trong một lực đồ tìm kiếm nhị phân( </a:t>
            </a:r>
            <a:r>
              <a:rPr lang="vi-VN" sz="2000" dirty="0" err="1">
                <a:latin typeface="+mj-lt"/>
              </a:rPr>
              <a:t>Binary</a:t>
            </a:r>
            <a:r>
              <a:rPr lang="vi-VN" sz="2000" dirty="0">
                <a:latin typeface="+mj-lt"/>
              </a:rPr>
              <a:t> </a:t>
            </a:r>
            <a:r>
              <a:rPr lang="vi-VN" sz="2000" dirty="0" err="1">
                <a:latin typeface="+mj-lt"/>
              </a:rPr>
              <a:t>Search</a:t>
            </a:r>
            <a:r>
              <a:rPr lang="vi-VN" sz="2000" dirty="0">
                <a:latin typeface="+mj-lt"/>
              </a:rPr>
              <a:t>). Sau đó chọn một tuyến đường lặp đi lặp lại cho mỗi phương tiện sao cho bao phủ (Xấp xỉ) số lượng nút mới tối đa (</a:t>
            </a:r>
            <a:r>
              <a:rPr lang="vi-VN" sz="2000" dirty="0" err="1">
                <a:latin typeface="+mj-lt"/>
              </a:rPr>
              <a:t>Greedy</a:t>
            </a:r>
            <a:r>
              <a:rPr lang="vi-VN" sz="2000" dirty="0">
                <a:latin typeface="+mj-lt"/>
              </a:rPr>
              <a:t> </a:t>
            </a:r>
            <a:r>
              <a:rPr lang="vi-VN" sz="2000" dirty="0" err="1">
                <a:latin typeface="+mj-lt"/>
              </a:rPr>
              <a:t>Search</a:t>
            </a:r>
            <a:r>
              <a:rPr lang="vi-VN" sz="2000" dirty="0">
                <a:latin typeface="+mj-lt"/>
              </a:rPr>
              <a:t>), lặp lại quá trình này cho đến khi tất cả các nút được bao phủ.</a:t>
            </a:r>
          </a:p>
        </p:txBody>
      </p:sp>
    </p:spTree>
    <p:extLst>
      <p:ext uri="{BB962C8B-B14F-4D97-AF65-F5344CB8AC3E}">
        <p14:creationId xmlns:p14="http://schemas.microsoft.com/office/powerpoint/2010/main" val="32292247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66638-2F2E-9F36-29A9-82A076369A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883D7E-3FE3-EC4F-1BC8-9ADFAB31FB02}"/>
              </a:ext>
            </a:extLst>
          </p:cNvPr>
          <p:cNvSpPr>
            <a:spLocks noGrp="1"/>
          </p:cNvSpPr>
          <p:nvPr>
            <p:ph type="title"/>
          </p:nvPr>
        </p:nvSpPr>
        <p:spPr>
          <a:xfrm>
            <a:off x="1624519" y="136524"/>
            <a:ext cx="9385372" cy="792162"/>
          </a:xfrm>
        </p:spPr>
        <p:txBody>
          <a:bodyPr/>
          <a:lstStyle/>
          <a:p>
            <a:pPr>
              <a:spcBef>
                <a:spcPts val="0"/>
              </a:spcBef>
              <a:buSzPct val="100000"/>
            </a:pPr>
            <a:r>
              <a:rPr lang="en-US" sz="3200" b="1" dirty="0">
                <a:solidFill>
                  <a:srgbClr val="00B050"/>
                </a:solidFill>
                <a:latin typeface="Times New Roman" panose="02020603050405020304" pitchFamily="18" charset="0"/>
                <a:cs typeface="Times New Roman" panose="02020603050405020304" pitchFamily="18" charset="0"/>
              </a:rPr>
              <a:t>3. THUẬT TOÁN ĐỀ XUẤT</a:t>
            </a:r>
          </a:p>
        </p:txBody>
      </p:sp>
      <p:sp>
        <p:nvSpPr>
          <p:cNvPr id="5" name="Slide Number Placeholder 4">
            <a:extLst>
              <a:ext uri="{FF2B5EF4-FFF2-40B4-BE49-F238E27FC236}">
                <a16:creationId xmlns:a16="http://schemas.microsoft.com/office/drawing/2014/main" id="{B24E7BF0-FBB8-CB33-A0E3-3EAEA09FDF8C}"/>
              </a:ext>
            </a:extLst>
          </p:cNvPr>
          <p:cNvSpPr>
            <a:spLocks noGrp="1"/>
          </p:cNvSpPr>
          <p:nvPr>
            <p:ph type="sldNum" sz="quarter" idx="12"/>
          </p:nvPr>
        </p:nvSpPr>
        <p:spPr/>
        <p:txBody>
          <a:bodyPr/>
          <a:lstStyle/>
          <a:p>
            <a:fld id="{4EB4ADB3-4D6A-144B-B124-08234FE3D04F}" type="slidenum">
              <a:rPr lang="en-US" smtClean="0"/>
              <a:pPr/>
              <a:t>10</a:t>
            </a:fld>
            <a:endParaRPr lang="en-US"/>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ED6FB0CE-EA57-60D2-2735-FE9EF63E5F79}"/>
                  </a:ext>
                </a:extLst>
              </p:cNvPr>
              <p:cNvSpPr txBox="1"/>
              <p:nvPr/>
            </p:nvSpPr>
            <p:spPr>
              <a:xfrm>
                <a:off x="614253" y="1447464"/>
                <a:ext cx="8461167" cy="4613058"/>
              </a:xfrm>
              <a:prstGeom prst="rect">
                <a:avLst/>
              </a:prstGeom>
              <a:noFill/>
            </p:spPr>
            <p:txBody>
              <a:bodyPr wrap="square" rtlCol="0">
                <a:spAutoFit/>
              </a:bodyPr>
              <a:lstStyle/>
              <a:p>
                <a:pPr>
                  <a:lnSpc>
                    <a:spcPct val="150000"/>
                  </a:lnSpc>
                </a:pPr>
                <a:r>
                  <a:rPr lang="vi-VN" sz="2000" dirty="0">
                    <a:latin typeface="+mj-lt"/>
                  </a:rPr>
                  <a:t>Thuật toán Tham lam cho </a:t>
                </a:r>
                <a:r>
                  <a:rPr lang="en-US" sz="2000" dirty="0">
                    <a:latin typeface="+mj-lt"/>
                  </a:rPr>
                  <a:t>MCG-VRP</a:t>
                </a:r>
                <a:endParaRPr lang="vi-VN" sz="2000" dirty="0">
                  <a:latin typeface="+mj-lt"/>
                </a:endParaRPr>
              </a:p>
              <a:p>
                <a:pPr>
                  <a:lnSpc>
                    <a:spcPct val="150000"/>
                  </a:lnSpc>
                </a:pPr>
                <a:r>
                  <a:rPr lang="vi-VN" sz="2000" dirty="0" err="1">
                    <a:latin typeface="+mj-lt"/>
                  </a:rPr>
                  <a:t>Input</a:t>
                </a:r>
                <a:r>
                  <a:rPr lang="vi-VN" sz="2000" dirty="0">
                    <a:latin typeface="+mj-lt"/>
                  </a:rPr>
                  <a:t>: Một tập con các nút X ⊂ V, một đội xe K và một ngân sách B ≥ 0. Trong đó X là các nút, V là tập các nút.</a:t>
                </a:r>
              </a:p>
              <a:p>
                <a:pPr>
                  <a:lnSpc>
                    <a:spcPct val="150000"/>
                  </a:lnSpc>
                </a:pPr>
                <a:r>
                  <a:rPr lang="vi-VN" sz="2000" dirty="0" err="1">
                    <a:latin typeface="+mj-lt"/>
                  </a:rPr>
                  <a:t>Output</a:t>
                </a:r>
                <a:r>
                  <a:rPr lang="vi-VN" sz="2000" dirty="0">
                    <a:latin typeface="+mj-lt"/>
                  </a:rPr>
                  <a:t>: Các tuyến đường {Ai ⊆ Vi : i ∈ K} cho mỗi xe, với chi phí mỗi tuyến đường tối đa là B (K là tập các xe). Nghĩa là với </a:t>
                </a:r>
                <a:r>
                  <a:rPr lang="vi-VN" sz="2000" b="1" dirty="0">
                    <a:latin typeface="+mj-lt"/>
                  </a:rPr>
                  <a:t>mỗi xe </a:t>
                </a:r>
                <a14:m>
                  <m:oMath xmlns:m="http://schemas.openxmlformats.org/officeDocument/2006/math">
                    <m:r>
                      <a:rPr lang="vi-VN" sz="2000" i="1">
                        <a:latin typeface="Cambria Math" panose="02040503050406030204" pitchFamily="18" charset="0"/>
                      </a:rPr>
                      <m:t>𝑖</m:t>
                    </m:r>
                    <m:r>
                      <a:rPr lang="vi-VN" sz="2000" b="0" i="1" smtClean="0">
                        <a:latin typeface="Cambria Math" panose="02040503050406030204" pitchFamily="18" charset="0"/>
                      </a:rPr>
                      <m:t> </m:t>
                    </m:r>
                  </m:oMath>
                </a14:m>
                <a:r>
                  <a:rPr lang="vi-VN" sz="2000" dirty="0">
                    <a:latin typeface="+mj-lt"/>
                  </a:rPr>
                  <a:t>trong đội xe </a:t>
                </a:r>
                <a14:m>
                  <m:oMath xmlns:m="http://schemas.openxmlformats.org/officeDocument/2006/math">
                    <m:r>
                      <a:rPr lang="vi-VN" sz="2000" i="1">
                        <a:latin typeface="Cambria Math" panose="02040503050406030204" pitchFamily="18" charset="0"/>
                      </a:rPr>
                      <m:t>𝐾</m:t>
                    </m:r>
                  </m:oMath>
                </a14:m>
                <a:r>
                  <a:rPr lang="vi-VN" sz="2000" dirty="0">
                    <a:latin typeface="+mj-lt"/>
                  </a:rPr>
                  <a:t>, ta cần tạo ra một tuyến </a:t>
                </a:r>
                <a14:m>
                  <m:oMath xmlns:m="http://schemas.openxmlformats.org/officeDocument/2006/math">
                    <m:sSub>
                      <m:sSubPr>
                        <m:ctrlPr>
                          <a:rPr lang="ar-AE" sz="2000" i="1" smtClean="0">
                            <a:latin typeface="Cambria Math" panose="02040503050406030204" pitchFamily="18" charset="0"/>
                          </a:rPr>
                        </m:ctrlPr>
                      </m:sSubPr>
                      <m:e>
                        <m:r>
                          <a:rPr lang="ar-AE" sz="2000" i="1">
                            <a:latin typeface="Cambria Math" panose="02040503050406030204" pitchFamily="18" charset="0"/>
                          </a:rPr>
                          <m:t>𝐴</m:t>
                        </m:r>
                      </m:e>
                      <m:sub>
                        <m:r>
                          <a:rPr lang="ar-AE" sz="2000" i="1">
                            <a:latin typeface="Cambria Math" panose="02040503050406030204" pitchFamily="18" charset="0"/>
                          </a:rPr>
                          <m:t>𝑖</m:t>
                        </m:r>
                      </m:sub>
                    </m:sSub>
                  </m:oMath>
                </a14:m>
                <a:r>
                  <a:rPr lang="vi-VN" sz="2000" dirty="0">
                    <a:latin typeface="+mj-lt"/>
                  </a:rPr>
                  <a:t> sao cho tuyến đó chỉ chứa các nút thuộc tập tương thích </a:t>
                </a:r>
                <a14:m>
                  <m:oMath xmlns:m="http://schemas.openxmlformats.org/officeDocument/2006/math">
                    <m:sSub>
                      <m:sSubPr>
                        <m:ctrlPr>
                          <a:rPr lang="ar-AE" sz="2000" i="1">
                            <a:latin typeface="Cambria Math" panose="02040503050406030204" pitchFamily="18" charset="0"/>
                          </a:rPr>
                        </m:ctrlPr>
                      </m:sSubPr>
                      <m:e>
                        <m:r>
                          <a:rPr lang="ar-AE" sz="2000" i="1">
                            <a:latin typeface="Cambria Math" panose="02040503050406030204" pitchFamily="18" charset="0"/>
                          </a:rPr>
                          <m:t>𝑉</m:t>
                        </m:r>
                      </m:e>
                      <m:sub>
                        <m:r>
                          <a:rPr lang="ar-AE" sz="2000" i="1">
                            <a:latin typeface="Cambria Math" panose="02040503050406030204" pitchFamily="18" charset="0"/>
                          </a:rPr>
                          <m:t>𝑖</m:t>
                        </m:r>
                        <m:r>
                          <a:rPr lang="vi-VN" sz="2000" b="0" i="1" smtClean="0">
                            <a:latin typeface="Cambria Math" panose="02040503050406030204" pitchFamily="18" charset="0"/>
                          </a:rPr>
                          <m:t> </m:t>
                        </m:r>
                      </m:sub>
                    </m:sSub>
                  </m:oMath>
                </a14:m>
                <a:r>
                  <a:rPr lang="vi-VN" sz="2000" dirty="0">
                    <a:latin typeface="+mj-lt"/>
                  </a:rPr>
                  <a:t>của xe đó.</a:t>
                </a:r>
              </a:p>
              <a:p>
                <a:pPr>
                  <a:lnSpc>
                    <a:spcPct val="150000"/>
                  </a:lnSpc>
                </a:pPr>
                <a:r>
                  <a:rPr lang="vi-VN" sz="2000" i="1" dirty="0">
                    <a:latin typeface="+mj-lt"/>
                  </a:rPr>
                  <a:t>Mục tiêu:  </a:t>
                </a:r>
                <a:r>
                  <a:rPr lang="en-US" sz="2000" i="1" dirty="0">
                    <a:latin typeface="+mj-lt"/>
                  </a:rPr>
                  <a:t>maximize| ∪</a:t>
                </a:r>
                <a:r>
                  <a:rPr lang="en-US" sz="2000" i="1" baseline="-25000" dirty="0" err="1">
                    <a:latin typeface="+mj-lt"/>
                  </a:rPr>
                  <a:t>i∈K</a:t>
                </a:r>
                <a:r>
                  <a:rPr lang="en-US" sz="2000" i="1" baseline="-25000" dirty="0">
                    <a:latin typeface="+mj-lt"/>
                  </a:rPr>
                  <a:t> </a:t>
                </a:r>
                <a:r>
                  <a:rPr lang="en-US" sz="2000" i="1" dirty="0">
                    <a:latin typeface="+mj-lt"/>
                  </a:rPr>
                  <a:t>A</a:t>
                </a:r>
                <a:r>
                  <a:rPr lang="en-US" sz="2000" i="1" baseline="-25000" dirty="0">
                    <a:latin typeface="+mj-lt"/>
                  </a:rPr>
                  <a:t>i</a:t>
                </a:r>
                <a:r>
                  <a:rPr lang="en-US" sz="2000" i="1" dirty="0">
                    <a:latin typeface="+mj-lt"/>
                  </a:rPr>
                  <a:t>∩ X|, </a:t>
                </a:r>
                <a:r>
                  <a:rPr lang="vi-VN" sz="2000" i="1" dirty="0">
                    <a:latin typeface="+mj-lt"/>
                  </a:rPr>
                  <a:t>nghĩa là trong một tuyến đường H, với ngân </a:t>
                </a:r>
                <a14:m>
                  <m:oMath xmlns:m="http://schemas.openxmlformats.org/officeDocument/2006/math">
                    <m:r>
                      <a:rPr lang="vi-VN" sz="2000" i="1">
                        <a:latin typeface="Cambria Math" panose="02040503050406030204" pitchFamily="18" charset="0"/>
                      </a:rPr>
                      <m:t>𝐵</m:t>
                    </m:r>
                  </m:oMath>
                </a14:m>
                <a:r>
                  <a:rPr lang="vi-VN" sz="2000" i="1" dirty="0">
                    <a:latin typeface="+mj-lt"/>
                  </a:rPr>
                  <a:t>, chọn tuyến cho các xe sao cho phủ được nhiều khách chưa phục vụ nhất.</a:t>
                </a:r>
              </a:p>
              <a:p>
                <a:pPr>
                  <a:lnSpc>
                    <a:spcPct val="150000"/>
                  </a:lnSpc>
                </a:pPr>
                <a:endParaRPr lang="vi-VN" dirty="0">
                  <a:latin typeface="+mj-lt"/>
                </a:endParaRPr>
              </a:p>
            </p:txBody>
          </p:sp>
        </mc:Choice>
        <mc:Fallback xmlns="">
          <p:sp>
            <p:nvSpPr>
              <p:cNvPr id="8" name="TextBox 7">
                <a:extLst>
                  <a:ext uri="{FF2B5EF4-FFF2-40B4-BE49-F238E27FC236}">
                    <a16:creationId xmlns:a16="http://schemas.microsoft.com/office/drawing/2014/main" id="{ED6FB0CE-EA57-60D2-2735-FE9EF63E5F79}"/>
                  </a:ext>
                </a:extLst>
              </p:cNvPr>
              <p:cNvSpPr txBox="1">
                <a:spLocks noRot="1" noChangeAspect="1" noMove="1" noResize="1" noEditPoints="1" noAdjustHandles="1" noChangeArrowheads="1" noChangeShapeType="1" noTextEdit="1"/>
              </p:cNvSpPr>
              <p:nvPr/>
            </p:nvSpPr>
            <p:spPr>
              <a:xfrm>
                <a:off x="614253" y="1447464"/>
                <a:ext cx="8461167" cy="4613058"/>
              </a:xfrm>
              <a:prstGeom prst="rect">
                <a:avLst/>
              </a:prstGeom>
              <a:blipFill>
                <a:blip r:embed="rId3"/>
                <a:stretch>
                  <a:fillRect l="-793" r="-1297"/>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F3EBAC6D-9E63-C814-2F12-AE5FF06725C1}"/>
              </a:ext>
            </a:extLst>
          </p:cNvPr>
          <p:cNvPicPr>
            <a:picLocks noChangeAspect="1"/>
          </p:cNvPicPr>
          <p:nvPr/>
        </p:nvPicPr>
        <p:blipFill>
          <a:blip r:embed="rId4"/>
          <a:stretch>
            <a:fillRect/>
          </a:stretch>
        </p:blipFill>
        <p:spPr>
          <a:xfrm>
            <a:off x="9067627" y="2431608"/>
            <a:ext cx="3124373" cy="1860694"/>
          </a:xfrm>
          <a:prstGeom prst="rect">
            <a:avLst/>
          </a:prstGeom>
        </p:spPr>
      </p:pic>
    </p:spTree>
    <p:extLst>
      <p:ext uri="{BB962C8B-B14F-4D97-AF65-F5344CB8AC3E}">
        <p14:creationId xmlns:p14="http://schemas.microsoft.com/office/powerpoint/2010/main" val="13967776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F536AF-8D95-840B-B664-77CB6864C5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96A6C7-C006-6759-DAFF-491487873494}"/>
              </a:ext>
            </a:extLst>
          </p:cNvPr>
          <p:cNvSpPr>
            <a:spLocks noGrp="1"/>
          </p:cNvSpPr>
          <p:nvPr>
            <p:ph type="title"/>
          </p:nvPr>
        </p:nvSpPr>
        <p:spPr>
          <a:xfrm>
            <a:off x="1624519" y="136524"/>
            <a:ext cx="9385372" cy="792162"/>
          </a:xfrm>
        </p:spPr>
        <p:txBody>
          <a:bodyPr/>
          <a:lstStyle/>
          <a:p>
            <a:pPr>
              <a:spcBef>
                <a:spcPts val="0"/>
              </a:spcBef>
              <a:buSzPct val="100000"/>
            </a:pPr>
            <a:r>
              <a:rPr lang="en-US" sz="3200" b="1" dirty="0">
                <a:solidFill>
                  <a:srgbClr val="00B050"/>
                </a:solidFill>
                <a:latin typeface="Times New Roman" panose="02020603050405020304" pitchFamily="18" charset="0"/>
                <a:cs typeface="Times New Roman" panose="02020603050405020304" pitchFamily="18" charset="0"/>
              </a:rPr>
              <a:t>3. THUẬT TOÁN ĐỀ XUẤT</a:t>
            </a:r>
          </a:p>
        </p:txBody>
      </p:sp>
      <p:sp>
        <p:nvSpPr>
          <p:cNvPr id="5" name="Slide Number Placeholder 4">
            <a:extLst>
              <a:ext uri="{FF2B5EF4-FFF2-40B4-BE49-F238E27FC236}">
                <a16:creationId xmlns:a16="http://schemas.microsoft.com/office/drawing/2014/main" id="{AD7A76AB-D4DF-DB49-C4DB-84858DD7BCD1}"/>
              </a:ext>
            </a:extLst>
          </p:cNvPr>
          <p:cNvSpPr>
            <a:spLocks noGrp="1"/>
          </p:cNvSpPr>
          <p:nvPr>
            <p:ph type="sldNum" sz="quarter" idx="12"/>
          </p:nvPr>
        </p:nvSpPr>
        <p:spPr/>
        <p:txBody>
          <a:bodyPr/>
          <a:lstStyle/>
          <a:p>
            <a:fld id="{4EB4ADB3-4D6A-144B-B124-08234FE3D04F}" type="slidenum">
              <a:rPr lang="en-US" smtClean="0"/>
              <a:pPr/>
              <a:t>11</a:t>
            </a:fld>
            <a:endParaRPr lang="en-US"/>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6CC778D-24D2-E226-FBE7-AAD1ECBF98E8}"/>
                  </a:ext>
                </a:extLst>
              </p:cNvPr>
              <p:cNvSpPr txBox="1"/>
              <p:nvPr/>
            </p:nvSpPr>
            <p:spPr>
              <a:xfrm>
                <a:off x="739302" y="1580005"/>
                <a:ext cx="10843098" cy="4249048"/>
              </a:xfrm>
              <a:prstGeom prst="rect">
                <a:avLst/>
              </a:prstGeom>
              <a:noFill/>
            </p:spPr>
            <p:txBody>
              <a:bodyPr wrap="square" rtlCol="0">
                <a:spAutoFit/>
              </a:bodyPr>
              <a:lstStyle/>
              <a:p>
                <a:pPr marL="342900" indent="-342900">
                  <a:lnSpc>
                    <a:spcPct val="150000"/>
                  </a:lnSpc>
                  <a:buFontTx/>
                  <a:buChar char="-"/>
                </a:pPr>
                <a:r>
                  <a:rPr lang="vi-VN" sz="2000" i="1" dirty="0">
                    <a:latin typeface="+mj-lt"/>
                  </a:rPr>
                  <a:t>Thuật toán xấp xỉ cho VRPCC</a:t>
                </a:r>
              </a:p>
              <a:p>
                <a:pPr>
                  <a:lnSpc>
                    <a:spcPct val="150000"/>
                  </a:lnSpc>
                </a:pPr>
                <a:r>
                  <a:rPr lang="vi-VN" dirty="0">
                    <a:latin typeface="+mj-lt"/>
                  </a:rPr>
                  <a:t>+ Đầu vào: Một đồ thị G = (V,E), một đội xe K, trong đó V là tập các nút, E là tập các cạnh.</a:t>
                </a:r>
              </a:p>
              <a:p>
                <a:pPr>
                  <a:lnSpc>
                    <a:spcPct val="150000"/>
                  </a:lnSpc>
                </a:pPr>
                <a:r>
                  <a:rPr lang="vi-VN" dirty="0">
                    <a:latin typeface="+mj-lt"/>
                  </a:rPr>
                  <a:t>+ Đầu ra: Phân công tuyến đường cho mỗi xe trong i ∈ K. Tức là mỗi xe sẽ được phân công một tuyến riêng, </a:t>
                </a:r>
                <a:r>
                  <a:rPr lang="en-US" dirty="0" err="1">
                    <a:latin typeface="Times New Roman" panose="02020603050405020304" pitchFamily="18" charset="0"/>
                    <a:cs typeface="Times New Roman" panose="02020603050405020304" pitchFamily="18" charset="0"/>
                  </a:rPr>
                  <a:t>tuyến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đó</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biết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xe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phục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vụ</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những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khách</a:t>
                </a:r>
                <a:r>
                  <a:rPr lang="en-US" dirty="0">
                    <a:latin typeface="Times New Roman" panose="02020603050405020304" pitchFamily="18" charset="0"/>
                    <a:cs typeface="Times New Roman" panose="02020603050405020304" pitchFamily="18" charset="0"/>
                  </a:rPr>
                  <a:t> </a:t>
                </a:r>
                <a:r>
                  <a:rPr lang="vi-VN" dirty="0">
                    <a:latin typeface="Times New Roman" panose="02020603050405020304" pitchFamily="18" charset="0"/>
                    <a:cs typeface="Times New Roman" panose="02020603050405020304" pitchFamily="18" charset="0"/>
                  </a:rPr>
                  <a:t>nào.</a:t>
                </a:r>
              </a:p>
              <a:p>
                <a:pPr marL="342900" indent="-342900">
                  <a:lnSpc>
                    <a:spcPct val="150000"/>
                  </a:lnSpc>
                  <a:buAutoNum type="arabicPeriod"/>
                </a:pPr>
                <a:r>
                  <a:rPr lang="vi-VN" dirty="0">
                    <a:latin typeface="+mj-lt"/>
                  </a:rPr>
                  <a:t>Khởi tạo các tuyến đường </a:t>
                </a:r>
                <a:r>
                  <a:rPr lang="en-US" i="1" dirty="0" err="1">
                    <a:latin typeface="+mj-lt"/>
                  </a:rPr>
                  <a:t>τ</a:t>
                </a:r>
                <a:r>
                  <a:rPr lang="en-US" i="1" baseline="-25000" dirty="0" err="1">
                    <a:latin typeface="+mj-lt"/>
                  </a:rPr>
                  <a:t>i</a:t>
                </a:r>
                <a:r>
                  <a:rPr lang="vi-VN" dirty="0">
                    <a:latin typeface="+mj-lt"/>
                  </a:rPr>
                  <a:t> = ∅ cho tất cả i ∈ K, X ← V +.</a:t>
                </a:r>
              </a:p>
              <a:p>
                <a:pPr marL="342900" indent="-342900">
                  <a:lnSpc>
                    <a:spcPct val="150000"/>
                  </a:lnSpc>
                  <a:buAutoNum type="arabicPeriod"/>
                </a:pPr>
                <a:r>
                  <a:rPr lang="vi-VN" dirty="0">
                    <a:latin typeface="+mj-lt"/>
                  </a:rPr>
                  <a:t>Khởi tạo cận trên                        , cận dưới    = 0, trong đó </a:t>
                </a:r>
                <a:r>
                  <a:rPr lang="en-US" dirty="0">
                    <a:latin typeface="+mj-lt"/>
                  </a:rPr>
                  <a:t>​</a:t>
                </a:r>
                <a:r>
                  <a:rPr lang="vi-VN" dirty="0">
                    <a:latin typeface="+mj-lt"/>
                  </a:rPr>
                  <a:t>   </a:t>
                </a:r>
                <a:r>
                  <a:rPr lang="en-US" dirty="0">
                    <a:latin typeface="+mj-lt"/>
                  </a:rPr>
                  <a:t> </a:t>
                </a:r>
                <a:r>
                  <a:rPr lang="vi-VN" dirty="0">
                    <a:latin typeface="+mj-lt"/>
                  </a:rPr>
                  <a:t> </a:t>
                </a:r>
                <a:r>
                  <a:rPr lang="en-US" dirty="0" err="1">
                    <a:latin typeface="+mj-lt"/>
                  </a:rPr>
                  <a:t>là</a:t>
                </a:r>
                <a:r>
                  <a:rPr lang="en-US" dirty="0">
                    <a:latin typeface="+mj-lt"/>
                  </a:rPr>
                  <a:t> </a:t>
                </a:r>
                <a:r>
                  <a:rPr lang="en-US" dirty="0" err="1">
                    <a:latin typeface="+mj-lt"/>
                  </a:rPr>
                  <a:t>khoảng</a:t>
                </a:r>
                <a:r>
                  <a:rPr lang="en-US" dirty="0">
                    <a:latin typeface="+mj-lt"/>
                  </a:rPr>
                  <a:t> </a:t>
                </a:r>
                <a:r>
                  <a:rPr lang="en-US" dirty="0" err="1">
                    <a:latin typeface="+mj-lt"/>
                  </a:rPr>
                  <a:t>cách</a:t>
                </a:r>
                <a:r>
                  <a:rPr lang="en-US" dirty="0">
                    <a:latin typeface="+mj-lt"/>
                  </a:rPr>
                  <a:t> </a:t>
                </a:r>
                <a:r>
                  <a:rPr lang="en-US" dirty="0" err="1">
                    <a:latin typeface="+mj-lt"/>
                  </a:rPr>
                  <a:t>đi</a:t>
                </a:r>
                <a:r>
                  <a:rPr lang="en-US" dirty="0">
                    <a:latin typeface="+mj-lt"/>
                  </a:rPr>
                  <a:t> </a:t>
                </a:r>
                <a:r>
                  <a:rPr lang="en-US" dirty="0" err="1">
                    <a:latin typeface="+mj-lt"/>
                  </a:rPr>
                  <a:t>từ</a:t>
                </a:r>
                <a:r>
                  <a:rPr lang="en-US" dirty="0">
                    <a:latin typeface="+mj-lt"/>
                  </a:rPr>
                  <a:t> </a:t>
                </a:r>
                <a:r>
                  <a:rPr lang="en-US" dirty="0" err="1">
                    <a:latin typeface="+mj-lt"/>
                  </a:rPr>
                  <a:t>nút</a:t>
                </a:r>
                <a:r>
                  <a:rPr lang="en-US" dirty="0">
                    <a:latin typeface="+mj-lt"/>
                  </a:rPr>
                  <a:t> </a:t>
                </a:r>
                <a14:m>
                  <m:oMath xmlns:m="http://schemas.openxmlformats.org/officeDocument/2006/math">
                    <m:r>
                      <a:rPr lang="en-US" b="0" i="1" smtClean="0">
                        <a:latin typeface="Cambria Math" panose="02040503050406030204" pitchFamily="18" charset="0"/>
                      </a:rPr>
                      <m:t>𝑖</m:t>
                    </m:r>
                    <m:r>
                      <a:rPr lang="vi-VN" b="0" i="1" smtClean="0">
                        <a:latin typeface="Cambria Math" panose="02040503050406030204" pitchFamily="18" charset="0"/>
                      </a:rPr>
                      <m:t> </m:t>
                    </m:r>
                  </m:oMath>
                </a14:m>
                <a:r>
                  <a:rPr lang="en-US" dirty="0" err="1">
                    <a:latin typeface="+mj-lt"/>
                  </a:rPr>
                  <a:t>đến</a:t>
                </a:r>
                <a:r>
                  <a:rPr lang="en-US" dirty="0">
                    <a:latin typeface="+mj-lt"/>
                  </a:rPr>
                  <a:t> </a:t>
                </a:r>
                <a:r>
                  <a:rPr lang="en-US" dirty="0" err="1">
                    <a:latin typeface="+mj-lt"/>
                  </a:rPr>
                  <a:t>nút</a:t>
                </a:r>
                <a:r>
                  <a:rPr lang="en-US" dirty="0">
                    <a:latin typeface="+mj-lt"/>
                  </a:rPr>
                  <a:t> </a:t>
                </a:r>
                <a14:m>
                  <m:oMath xmlns:m="http://schemas.openxmlformats.org/officeDocument/2006/math">
                    <m:r>
                      <a:rPr lang="en-US" b="0" i="1" smtClean="0">
                        <a:latin typeface="Cambria Math" panose="02040503050406030204" pitchFamily="18" charset="0"/>
                      </a:rPr>
                      <m:t>𝑗</m:t>
                    </m:r>
                  </m:oMath>
                </a14:m>
                <a:r>
                  <a:rPr lang="en-US" dirty="0">
                    <a:latin typeface="+mj-lt"/>
                  </a:rPr>
                  <a:t>.</a:t>
                </a:r>
                <a:endParaRPr lang="vi-VN" dirty="0">
                  <a:latin typeface="+mj-lt"/>
                </a:endParaRPr>
              </a:p>
              <a:p>
                <a:pPr>
                  <a:lnSpc>
                    <a:spcPct val="150000"/>
                  </a:lnSpc>
                </a:pPr>
                <a:r>
                  <a:rPr lang="vi-VN" dirty="0">
                    <a:latin typeface="+mj-lt"/>
                  </a:rPr>
                  <a:t> </a:t>
                </a:r>
              </a:p>
              <a:p>
                <a:pPr>
                  <a:lnSpc>
                    <a:spcPct val="150000"/>
                  </a:lnSpc>
                </a:pPr>
                <a:r>
                  <a:rPr lang="vi-VN" dirty="0">
                    <a:latin typeface="+mj-lt"/>
                  </a:rPr>
                  <a:t>	+ </a:t>
                </a:r>
                <a:r>
                  <a:rPr lang="en-US" dirty="0" err="1">
                    <a:latin typeface="Times New Roman" panose="02020603050405020304" pitchFamily="18" charset="0"/>
                    <a:cs typeface="Times New Roman" panose="02020603050405020304" pitchFamily="18" charset="0"/>
                  </a:rPr>
                  <a:t>Ví</a:t>
                </a:r>
                <a:r>
                  <a:rPr lang="en-US" dirty="0">
                    <a:latin typeface="+mj-lt"/>
                  </a:rPr>
                  <a:t> </a:t>
                </a:r>
                <a:r>
                  <a:rPr lang="vi-VN" dirty="0">
                    <a:latin typeface="+mj-lt"/>
                  </a:rPr>
                  <a:t>dụ: </a:t>
                </a:r>
                <a:r>
                  <a:rPr lang="en-US" dirty="0" err="1">
                    <a:latin typeface="Times New Roman" panose="02020603050405020304" pitchFamily="18" charset="0"/>
                    <a:cs typeface="Times New Roman" panose="02020603050405020304" pitchFamily="18" charset="0"/>
                  </a:rPr>
                  <a:t>có</a:t>
                </a:r>
                <a:r>
                  <a:rPr lang="en-US" dirty="0">
                    <a:latin typeface="+mj-lt"/>
                  </a:rPr>
                  <a:t> </a:t>
                </a:r>
                <a:r>
                  <a:rPr lang="en-US" dirty="0">
                    <a:latin typeface="Times New Roman" panose="02020603050405020304" pitchFamily="18" charset="0"/>
                    <a:cs typeface="Times New Roman" panose="02020603050405020304" pitchFamily="18" charset="0"/>
                  </a:rPr>
                  <a:t>3</a:t>
                </a:r>
                <a:r>
                  <a:rPr lang="en-US" dirty="0">
                    <a:latin typeface="+mj-lt"/>
                  </a:rPr>
                  <a:t> </a:t>
                </a:r>
                <a:r>
                  <a:rPr lang="en-US" dirty="0" err="1">
                    <a:latin typeface="Times New Roman" panose="02020603050405020304" pitchFamily="18" charset="0"/>
                    <a:cs typeface="Times New Roman" panose="02020603050405020304" pitchFamily="18" charset="0"/>
                  </a:rPr>
                  <a:t>nút</a:t>
                </a:r>
                <a:r>
                  <a:rPr lang="en-US" dirty="0">
                    <a:latin typeface="+mj-lt"/>
                  </a:rPr>
                  <a:t> :</a:t>
                </a:r>
                <a:r>
                  <a:rPr lang="vi-VN" dirty="0">
                    <a:latin typeface="+mj-lt"/>
                  </a:rPr>
                  <a:t> </a:t>
                </a:r>
                <a:r>
                  <a:rPr lang="en-US" dirty="0" err="1">
                    <a:latin typeface="Times New Roman" panose="02020603050405020304" pitchFamily="18" charset="0"/>
                    <a:cs typeface="Times New Roman" panose="02020603050405020304" pitchFamily="18" charset="0"/>
                  </a:rPr>
                  <a:t>nút</a:t>
                </a:r>
                <a:r>
                  <a:rPr lang="en-US" dirty="0">
                    <a:latin typeface="+mj-lt"/>
                  </a:rPr>
                  <a:t> 0: </a:t>
                </a:r>
                <a:r>
                  <a:rPr lang="en-US" dirty="0">
                    <a:latin typeface="Times New Roman" panose="02020603050405020304" pitchFamily="18" charset="0"/>
                    <a:cs typeface="Times New Roman" panose="02020603050405020304" pitchFamily="18" charset="0"/>
                  </a:rPr>
                  <a:t>depot</a:t>
                </a:r>
                <a:r>
                  <a:rPr lang="en-US" dirty="0">
                    <a:latin typeface="+mj-lt"/>
                  </a:rPr>
                  <a:t> </a:t>
                </a:r>
                <a:r>
                  <a:rPr lang="vi-VN" dirty="0">
                    <a:latin typeface="+mj-lt"/>
                  </a:rPr>
                  <a:t> </a:t>
                </a:r>
                <a:r>
                  <a:rPr lang="en-US" dirty="0" err="1">
                    <a:latin typeface="Times New Roman" panose="02020603050405020304" pitchFamily="18" charset="0"/>
                    <a:cs typeface="Times New Roman" panose="02020603050405020304" pitchFamily="18" charset="0"/>
                  </a:rPr>
                  <a:t>nút</a:t>
                </a:r>
                <a:r>
                  <a:rPr lang="en-US" dirty="0">
                    <a:latin typeface="+mj-lt"/>
                  </a:rPr>
                  <a:t> </a:t>
                </a:r>
                <a:r>
                  <a:rPr lang="en-US" dirty="0">
                    <a:latin typeface="Times New Roman" panose="02020603050405020304" pitchFamily="18" charset="0"/>
                    <a:cs typeface="Times New Roman" panose="02020603050405020304" pitchFamily="18" charset="0"/>
                  </a:rPr>
                  <a:t>1, 2: 2 </a:t>
                </a:r>
                <a:r>
                  <a:rPr lang="en-US" dirty="0" err="1">
                    <a:latin typeface="Times New Roman" panose="02020603050405020304" pitchFamily="18" charset="0"/>
                    <a:cs typeface="Times New Roman" panose="02020603050405020304" pitchFamily="18" charset="0"/>
                  </a:rPr>
                  <a:t>khách</a:t>
                </a:r>
                <a:r>
                  <a:rPr lang="en-US" dirty="0">
                    <a:latin typeface="+mj-lt"/>
                  </a:rPr>
                  <a:t> </a:t>
                </a:r>
                <a:r>
                  <a:rPr lang="vi-VN" dirty="0">
                    <a:latin typeface="+mj-lt"/>
                  </a:rPr>
                  <a:t>hàng. Giả sử khoảng cách như sau: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𝑐</m:t>
                        </m:r>
                      </m:e>
                      <m:sub>
                        <m:r>
                          <a:rPr lang="ar-AE" i="1">
                            <a:latin typeface="Cambria Math" panose="02040503050406030204" pitchFamily="18" charset="0"/>
                          </a:rPr>
                          <m:t>01</m:t>
                        </m:r>
                      </m:sub>
                    </m:sSub>
                    <m:r>
                      <a:rPr lang="ar-AE">
                        <a:latin typeface="Cambria Math" panose="02040503050406030204" pitchFamily="18" charset="0"/>
                      </a:rPr>
                      <m:t>=</m:t>
                    </m:r>
                    <m:r>
                      <a:rPr lang="ar-AE" i="1">
                        <a:latin typeface="Cambria Math" panose="02040503050406030204" pitchFamily="18" charset="0"/>
                      </a:rPr>
                      <m:t>4</m:t>
                    </m:r>
                    <m:r>
                      <a:rPr lang="ar-AE">
                        <a:latin typeface="Cambria Math" panose="02040503050406030204" pitchFamily="18" charset="0"/>
                      </a:rPr>
                      <m:t>, </m:t>
                    </m:r>
                    <m:sSub>
                      <m:sSubPr>
                        <m:ctrlPr>
                          <a:rPr lang="ar-AE" i="1">
                            <a:latin typeface="Cambria Math" panose="02040503050406030204" pitchFamily="18" charset="0"/>
                          </a:rPr>
                        </m:ctrlPr>
                      </m:sSubPr>
                      <m:e>
                        <m:r>
                          <a:rPr lang="ar-AE" i="1">
                            <a:latin typeface="Cambria Math" panose="02040503050406030204" pitchFamily="18" charset="0"/>
                          </a:rPr>
                          <m:t>𝑐</m:t>
                        </m:r>
                      </m:e>
                      <m:sub>
                        <m:r>
                          <a:rPr lang="ar-AE" i="1">
                            <a:latin typeface="Cambria Math" panose="02040503050406030204" pitchFamily="18" charset="0"/>
                          </a:rPr>
                          <m:t>02</m:t>
                        </m:r>
                      </m:sub>
                    </m:sSub>
                    <m:r>
                      <a:rPr lang="ar-AE">
                        <a:latin typeface="Cambria Math" panose="02040503050406030204" pitchFamily="18" charset="0"/>
                      </a:rPr>
                      <m:t>=</m:t>
                    </m:r>
                    <m:r>
                      <a:rPr lang="ar-AE" i="1">
                        <a:latin typeface="Cambria Math" panose="02040503050406030204" pitchFamily="18" charset="0"/>
                      </a:rPr>
                      <m:t>6</m:t>
                    </m:r>
                    <m:r>
                      <a:rPr lang="ar-AE">
                        <a:latin typeface="Cambria Math" panose="02040503050406030204" pitchFamily="18" charset="0"/>
                      </a:rPr>
                      <m:t>, </m:t>
                    </m:r>
                    <m:sSub>
                      <m:sSubPr>
                        <m:ctrlPr>
                          <a:rPr lang="ar-AE" i="1">
                            <a:latin typeface="Cambria Math" panose="02040503050406030204" pitchFamily="18" charset="0"/>
                          </a:rPr>
                        </m:ctrlPr>
                      </m:sSubPr>
                      <m:e>
                        <m:r>
                          <a:rPr lang="ar-AE" i="1">
                            <a:latin typeface="Cambria Math" panose="02040503050406030204" pitchFamily="18" charset="0"/>
                          </a:rPr>
                          <m:t>𝑐</m:t>
                        </m:r>
                      </m:e>
                      <m:sub>
                        <m:r>
                          <a:rPr lang="ar-AE" i="1">
                            <a:latin typeface="Cambria Math" panose="02040503050406030204" pitchFamily="18" charset="0"/>
                          </a:rPr>
                          <m:t>12</m:t>
                        </m:r>
                      </m:sub>
                    </m:sSub>
                    <m:r>
                      <a:rPr lang="ar-AE">
                        <a:latin typeface="Cambria Math" panose="02040503050406030204" pitchFamily="18" charset="0"/>
                      </a:rPr>
                      <m:t>=</m:t>
                    </m:r>
                    <m:r>
                      <a:rPr lang="ar-AE" i="1">
                        <a:latin typeface="Cambria Math" panose="02040503050406030204" pitchFamily="18" charset="0"/>
                      </a:rPr>
                      <m:t>3</m:t>
                    </m:r>
                  </m:oMath>
                </a14:m>
                <a:endParaRPr lang="vi-VN" dirty="0">
                  <a:latin typeface="+mj-lt"/>
                </a:endParaRPr>
              </a:p>
              <a:p>
                <a:pPr>
                  <a:lnSpc>
                    <a:spcPct val="150000"/>
                  </a:lnSpc>
                </a:pPr>
                <a:r>
                  <a:rPr lang="vi-VN" b="1" dirty="0">
                    <a:latin typeface="+mj-lt"/>
                  </a:rPr>
                  <a:t>	</a:t>
                </a:r>
                <a:r>
                  <a:rPr lang="en-US" b="1" dirty="0" err="1">
                    <a:latin typeface="Times New Roman" panose="02020603050405020304" pitchFamily="18" charset="0"/>
                    <a:cs typeface="Times New Roman" panose="02020603050405020304" pitchFamily="18" charset="0"/>
                  </a:rPr>
                  <a:t>Tập</a:t>
                </a:r>
                <a:r>
                  <a:rPr lang="en-US" b="1" dirty="0">
                    <a:latin typeface="+mj-lt"/>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cạnh</a:t>
                </a:r>
                <a:r>
                  <a:rPr lang="en-US" dirty="0">
                    <a:latin typeface="+mj-lt"/>
                    <a:cs typeface="Times New Roman" panose="02020603050405020304" pitchFamily="18" charset="0"/>
                  </a:rPr>
                  <a:t> </a:t>
                </a:r>
                <a14:m>
                  <m:oMath xmlns:m="http://schemas.openxmlformats.org/officeDocument/2006/math">
                    <m:r>
                      <a:rPr lang="en-US" i="1">
                        <a:latin typeface="Cambria Math" panose="02040503050406030204" pitchFamily="18" charset="0"/>
                      </a:rPr>
                      <m:t>𝐸</m:t>
                    </m:r>
                    <m:r>
                      <a:rPr lang="en-US">
                        <a:latin typeface="Cambria Math" panose="02040503050406030204" pitchFamily="18" charset="0"/>
                      </a:rPr>
                      <m:t>=</m:t>
                    </m:r>
                    <m:r>
                      <a:rPr lang="vi-VN" b="0" i="0" smtClean="0">
                        <a:latin typeface="Cambria Math" panose="02040503050406030204" pitchFamily="18" charset="0"/>
                      </a:rPr>
                      <m:t>{</m:t>
                    </m:r>
                    <m:d>
                      <m:dPr>
                        <m:ctrlPr>
                          <a:rPr lang="vi-VN" b="0" i="1" smtClean="0">
                            <a:latin typeface="Cambria Math" panose="02040503050406030204" pitchFamily="18" charset="0"/>
                          </a:rPr>
                        </m:ctrlPr>
                      </m:dPr>
                      <m:e>
                        <m:r>
                          <a:rPr lang="vi-VN" i="1">
                            <a:latin typeface="Cambria Math" panose="02040503050406030204" pitchFamily="18" charset="0"/>
                          </a:rPr>
                          <m:t>0</m:t>
                        </m:r>
                        <m:r>
                          <a:rPr lang="vi-VN" b="0" i="1" smtClean="0">
                            <a:latin typeface="Cambria Math" panose="02040503050406030204" pitchFamily="18" charset="0"/>
                          </a:rPr>
                          <m:t>;</m:t>
                        </m:r>
                        <m:r>
                          <a:rPr lang="vi-VN" i="1">
                            <a:latin typeface="Cambria Math" panose="02040503050406030204" pitchFamily="18" charset="0"/>
                          </a:rPr>
                          <m:t>1</m:t>
                        </m:r>
                      </m:e>
                    </m:d>
                    <m:r>
                      <a:rPr lang="vi-VN" b="0" i="0" smtClean="0">
                        <a:latin typeface="Cambria Math" panose="02040503050406030204" pitchFamily="18" charset="0"/>
                      </a:rPr>
                      <m:t>,</m:t>
                    </m:r>
                    <m:d>
                      <m:dPr>
                        <m:ctrlPr>
                          <a:rPr lang="vi-VN" b="0" i="1" smtClean="0">
                            <a:latin typeface="Cambria Math" panose="02040503050406030204" pitchFamily="18" charset="0"/>
                          </a:rPr>
                        </m:ctrlPr>
                      </m:dPr>
                      <m:e>
                        <m:r>
                          <a:rPr lang="vi-VN" i="1">
                            <a:latin typeface="Cambria Math" panose="02040503050406030204" pitchFamily="18" charset="0"/>
                          </a:rPr>
                          <m:t>0</m:t>
                        </m:r>
                        <m:r>
                          <a:rPr lang="vi-VN" b="0" i="1" smtClean="0">
                            <a:latin typeface="Cambria Math" panose="02040503050406030204" pitchFamily="18" charset="0"/>
                          </a:rPr>
                          <m:t>;</m:t>
                        </m:r>
                        <m:r>
                          <a:rPr lang="vi-VN" i="1">
                            <a:latin typeface="Cambria Math" panose="02040503050406030204" pitchFamily="18" charset="0"/>
                          </a:rPr>
                          <m:t>2</m:t>
                        </m:r>
                      </m:e>
                    </m:d>
                    <m:r>
                      <a:rPr lang="vi-VN" b="0" i="0" smtClean="0">
                        <a:latin typeface="Cambria Math" panose="02040503050406030204" pitchFamily="18" charset="0"/>
                      </a:rPr>
                      <m:t>,(</m:t>
                    </m:r>
                    <m:r>
                      <a:rPr lang="vi-VN" i="1">
                        <a:latin typeface="Cambria Math" panose="02040503050406030204" pitchFamily="18" charset="0"/>
                      </a:rPr>
                      <m:t>1</m:t>
                    </m:r>
                    <m:r>
                      <a:rPr lang="vi-VN" b="0" i="1" smtClean="0">
                        <a:latin typeface="Cambria Math" panose="02040503050406030204" pitchFamily="18" charset="0"/>
                      </a:rPr>
                      <m:t>;</m:t>
                    </m:r>
                    <m:r>
                      <a:rPr lang="vi-VN" i="1">
                        <a:latin typeface="Cambria Math" panose="02040503050406030204" pitchFamily="18" charset="0"/>
                      </a:rPr>
                      <m:t>2</m:t>
                    </m:r>
                    <m:r>
                      <a:rPr lang="vi-VN" b="0" i="0" smtClean="0">
                        <a:latin typeface="Cambria Math" panose="02040503050406030204" pitchFamily="18" charset="0"/>
                      </a:rPr>
                      <m:t>)}</m:t>
                    </m:r>
                  </m:oMath>
                </a14:m>
                <a:r>
                  <a:rPr lang="vi-VN" dirty="0">
                    <a:latin typeface="+mj-lt"/>
                    <a:cs typeface="Times New Roman" panose="02020603050405020304" pitchFamily="18" charset="0"/>
                  </a:rPr>
                  <a:t>,</a:t>
                </a:r>
              </a:p>
              <a:p>
                <a:pPr>
                  <a:lnSpc>
                    <a:spcPct val="150000"/>
                  </a:lnSpc>
                </a:pPr>
                <a:r>
                  <a:rPr lang="vi-VN" dirty="0">
                    <a:latin typeface="+mj-lt"/>
                    <a:cs typeface="Times New Roman" panose="02020603050405020304" pitchFamily="18" charset="0"/>
                  </a:rPr>
                  <a:t>	Cận trên u= 2*(</a:t>
                </a:r>
                <a:r>
                  <a:rPr lang="en-US" dirty="0">
                    <a:latin typeface="Times New Roman" panose="02020603050405020304" pitchFamily="18" charset="0"/>
                    <a:cs typeface="Times New Roman" panose="02020603050405020304" pitchFamily="18" charset="0"/>
                  </a:rPr>
                  <a:t>4+6+3</a:t>
                </a:r>
                <a:r>
                  <a:rPr lang="vi-VN" dirty="0">
                    <a:latin typeface="+mj-lt"/>
                    <a:cs typeface="Times New Roman" panose="02020603050405020304" pitchFamily="18" charset="0"/>
                  </a:rPr>
                  <a:t>) = 26.</a:t>
                </a:r>
                <a:endParaRPr lang="en-US" dirty="0">
                  <a:latin typeface="+mj-lt"/>
                  <a:cs typeface="Times New Roman" panose="02020603050405020304" pitchFamily="18" charset="0"/>
                </a:endParaRPr>
              </a:p>
            </p:txBody>
          </p:sp>
        </mc:Choice>
        <mc:Fallback xmlns="">
          <p:sp>
            <p:nvSpPr>
              <p:cNvPr id="8" name="TextBox 7">
                <a:extLst>
                  <a:ext uri="{FF2B5EF4-FFF2-40B4-BE49-F238E27FC236}">
                    <a16:creationId xmlns:a16="http://schemas.microsoft.com/office/drawing/2014/main" id="{06CC778D-24D2-E226-FBE7-AAD1ECBF98E8}"/>
                  </a:ext>
                </a:extLst>
              </p:cNvPr>
              <p:cNvSpPr txBox="1">
                <a:spLocks noRot="1" noChangeAspect="1" noMove="1" noResize="1" noEditPoints="1" noAdjustHandles="1" noChangeArrowheads="1" noChangeShapeType="1" noTextEdit="1"/>
              </p:cNvSpPr>
              <p:nvPr/>
            </p:nvSpPr>
            <p:spPr>
              <a:xfrm>
                <a:off x="739302" y="1580005"/>
                <a:ext cx="10843098" cy="4249048"/>
              </a:xfrm>
              <a:prstGeom prst="rect">
                <a:avLst/>
              </a:prstGeom>
              <a:blipFill>
                <a:blip r:embed="rId3"/>
                <a:stretch>
                  <a:fillRect l="-450" b="-1291"/>
                </a:stretch>
              </a:blipFill>
            </p:spPr>
            <p:txBody>
              <a:bodyPr/>
              <a:lstStyle/>
              <a:p>
                <a:r>
                  <a:rPr lang="en-US">
                    <a:noFill/>
                  </a:rPr>
                  <a:t> </a:t>
                </a:r>
              </a:p>
            </p:txBody>
          </p:sp>
        </mc:Fallback>
      </mc:AlternateContent>
      <p:pic>
        <p:nvPicPr>
          <p:cNvPr id="9" name="Picture 8">
            <a:extLst>
              <a:ext uri="{FF2B5EF4-FFF2-40B4-BE49-F238E27FC236}">
                <a16:creationId xmlns:a16="http://schemas.microsoft.com/office/drawing/2014/main" id="{9085E71D-C1BD-ED09-2B96-EE004EEA3604}"/>
              </a:ext>
            </a:extLst>
          </p:cNvPr>
          <p:cNvPicPr>
            <a:picLocks noChangeAspect="1"/>
          </p:cNvPicPr>
          <p:nvPr/>
        </p:nvPicPr>
        <p:blipFill>
          <a:blip r:embed="rId4"/>
          <a:stretch>
            <a:fillRect/>
          </a:stretch>
        </p:blipFill>
        <p:spPr>
          <a:xfrm>
            <a:off x="5094760" y="3758450"/>
            <a:ext cx="142895" cy="342948"/>
          </a:xfrm>
          <a:prstGeom prst="rect">
            <a:avLst/>
          </a:prstGeom>
        </p:spPr>
      </p:pic>
      <p:pic>
        <p:nvPicPr>
          <p:cNvPr id="11" name="Picture 10">
            <a:extLst>
              <a:ext uri="{FF2B5EF4-FFF2-40B4-BE49-F238E27FC236}">
                <a16:creationId xmlns:a16="http://schemas.microsoft.com/office/drawing/2014/main" id="{7A852CF7-1733-B606-0713-079610786803}"/>
              </a:ext>
            </a:extLst>
          </p:cNvPr>
          <p:cNvPicPr>
            <a:picLocks noChangeAspect="1"/>
          </p:cNvPicPr>
          <p:nvPr/>
        </p:nvPicPr>
        <p:blipFill>
          <a:blip r:embed="rId5"/>
          <a:srcRect l="15780" r="11708"/>
          <a:stretch>
            <a:fillRect/>
          </a:stretch>
        </p:blipFill>
        <p:spPr>
          <a:xfrm>
            <a:off x="2797276" y="3701296"/>
            <a:ext cx="1347171" cy="638264"/>
          </a:xfrm>
          <a:prstGeom prst="rect">
            <a:avLst/>
          </a:prstGeom>
        </p:spPr>
      </p:pic>
      <p:pic>
        <p:nvPicPr>
          <p:cNvPr id="13" name="Picture 12">
            <a:extLst>
              <a:ext uri="{FF2B5EF4-FFF2-40B4-BE49-F238E27FC236}">
                <a16:creationId xmlns:a16="http://schemas.microsoft.com/office/drawing/2014/main" id="{615DD930-1A46-32ED-E195-F35864B96DB6}"/>
              </a:ext>
            </a:extLst>
          </p:cNvPr>
          <p:cNvPicPr>
            <a:picLocks noChangeAspect="1"/>
          </p:cNvPicPr>
          <p:nvPr/>
        </p:nvPicPr>
        <p:blipFill>
          <a:blip r:embed="rId6"/>
          <a:stretch>
            <a:fillRect/>
          </a:stretch>
        </p:blipFill>
        <p:spPr>
          <a:xfrm>
            <a:off x="6479130" y="3839420"/>
            <a:ext cx="276264" cy="238158"/>
          </a:xfrm>
          <a:prstGeom prst="rect">
            <a:avLst/>
          </a:prstGeom>
        </p:spPr>
      </p:pic>
    </p:spTree>
    <p:extLst>
      <p:ext uri="{BB962C8B-B14F-4D97-AF65-F5344CB8AC3E}">
        <p14:creationId xmlns:p14="http://schemas.microsoft.com/office/powerpoint/2010/main" val="19140695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EB4ADB3-4D6A-144B-B124-08234FE3D04F}" type="slidenum">
              <a:rPr lang="en-US" smtClean="0"/>
              <a:pPr/>
              <a:t>12</a:t>
            </a:fld>
            <a:endParaRPr lang="en-US"/>
          </a:p>
        </p:txBody>
      </p:sp>
      <p:pic>
        <p:nvPicPr>
          <p:cNvPr id="9" name="Picture 8">
            <a:extLst>
              <a:ext uri="{FF2B5EF4-FFF2-40B4-BE49-F238E27FC236}">
                <a16:creationId xmlns:a16="http://schemas.microsoft.com/office/drawing/2014/main" id="{DADA9CEA-2771-61EA-26CE-E49087345171}"/>
              </a:ext>
            </a:extLst>
          </p:cNvPr>
          <p:cNvPicPr>
            <a:picLocks noChangeAspect="1"/>
          </p:cNvPicPr>
          <p:nvPr/>
        </p:nvPicPr>
        <p:blipFill>
          <a:blip r:embed="rId3"/>
          <a:srcRect t="3003"/>
          <a:stretch>
            <a:fillRect/>
          </a:stretch>
        </p:blipFill>
        <p:spPr>
          <a:xfrm>
            <a:off x="1576777" y="2093007"/>
            <a:ext cx="8733083" cy="3113946"/>
          </a:xfrm>
          <a:prstGeom prst="rect">
            <a:avLst/>
          </a:prstGeom>
        </p:spPr>
      </p:pic>
      <p:sp>
        <p:nvSpPr>
          <p:cNvPr id="2" name="Title 1">
            <a:extLst>
              <a:ext uri="{FF2B5EF4-FFF2-40B4-BE49-F238E27FC236}">
                <a16:creationId xmlns:a16="http://schemas.microsoft.com/office/drawing/2014/main" id="{48696DE3-7BE1-DBBD-ED1A-8DA3D6EE8077}"/>
              </a:ext>
            </a:extLst>
          </p:cNvPr>
          <p:cNvSpPr>
            <a:spLocks noGrp="1"/>
          </p:cNvSpPr>
          <p:nvPr>
            <p:ph type="title"/>
          </p:nvPr>
        </p:nvSpPr>
        <p:spPr>
          <a:xfrm>
            <a:off x="1624519" y="136524"/>
            <a:ext cx="9385372" cy="792162"/>
          </a:xfrm>
        </p:spPr>
        <p:txBody>
          <a:bodyPr/>
          <a:lstStyle/>
          <a:p>
            <a:pPr>
              <a:spcBef>
                <a:spcPts val="0"/>
              </a:spcBef>
              <a:buSzPct val="100000"/>
            </a:pPr>
            <a:r>
              <a:rPr lang="en-US" sz="3200" b="1" dirty="0">
                <a:solidFill>
                  <a:srgbClr val="00B050"/>
                </a:solidFill>
                <a:latin typeface="Times New Roman" panose="02020603050405020304" pitchFamily="18" charset="0"/>
                <a:cs typeface="Times New Roman" panose="02020603050405020304" pitchFamily="18" charset="0"/>
              </a:rPr>
              <a:t>3. THUẬT TOÁN ĐỀ XUẤT</a:t>
            </a:r>
          </a:p>
        </p:txBody>
      </p:sp>
    </p:spTree>
    <p:extLst>
      <p:ext uri="{BB962C8B-B14F-4D97-AF65-F5344CB8AC3E}">
        <p14:creationId xmlns:p14="http://schemas.microsoft.com/office/powerpoint/2010/main" val="23952100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DDCA59-677F-FCDF-7B2F-68FD9B43F9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2D86D8-0C87-0120-9896-D492697136C9}"/>
              </a:ext>
            </a:extLst>
          </p:cNvPr>
          <p:cNvSpPr>
            <a:spLocks noGrp="1"/>
          </p:cNvSpPr>
          <p:nvPr>
            <p:ph type="title"/>
          </p:nvPr>
        </p:nvSpPr>
        <p:spPr>
          <a:xfrm>
            <a:off x="1624519" y="136524"/>
            <a:ext cx="9385372" cy="792162"/>
          </a:xfrm>
        </p:spPr>
        <p:txBody>
          <a:bodyPr/>
          <a:lstStyle/>
          <a:p>
            <a:pPr>
              <a:spcBef>
                <a:spcPts val="0"/>
              </a:spcBef>
              <a:buSzPct val="100000"/>
            </a:pPr>
            <a:r>
              <a:rPr lang="vi-VN" sz="3200" b="1" dirty="0">
                <a:solidFill>
                  <a:srgbClr val="00B050"/>
                </a:solidFill>
                <a:latin typeface="Times New Roman" panose="02020603050405020304" pitchFamily="18" charset="0"/>
                <a:cs typeface="Times New Roman" panose="02020603050405020304" pitchFamily="18" charset="0"/>
              </a:rPr>
              <a:t>4</a:t>
            </a:r>
            <a:r>
              <a:rPr lang="en-US" sz="3200" b="1" dirty="0">
                <a:solidFill>
                  <a:srgbClr val="00B050"/>
                </a:solidFill>
                <a:latin typeface="Times New Roman" panose="02020603050405020304" pitchFamily="18" charset="0"/>
                <a:cs typeface="Times New Roman" panose="02020603050405020304" pitchFamily="18" charset="0"/>
              </a:rPr>
              <a:t>. </a:t>
            </a:r>
            <a:r>
              <a:rPr lang="vi-VN" sz="3200" b="1" dirty="0">
                <a:solidFill>
                  <a:srgbClr val="00B050"/>
                </a:solidFill>
                <a:latin typeface="Times New Roman" panose="02020603050405020304" pitchFamily="18" charset="0"/>
                <a:cs typeface="Times New Roman" panose="02020603050405020304" pitchFamily="18" charset="0"/>
              </a:rPr>
              <a:t>CÀI ĐẶT VÀ THỰC NGHIỆM ĐÁNH GIÁ</a:t>
            </a:r>
            <a:endParaRPr lang="en-US" sz="3200" b="1" dirty="0">
              <a:solidFill>
                <a:srgbClr val="00B050"/>
              </a:solidFill>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E6708F61-C19E-014D-0BCA-9BC12AAD5F96}"/>
              </a:ext>
            </a:extLst>
          </p:cNvPr>
          <p:cNvSpPr>
            <a:spLocks noGrp="1"/>
          </p:cNvSpPr>
          <p:nvPr>
            <p:ph type="sldNum" sz="quarter" idx="12"/>
          </p:nvPr>
        </p:nvSpPr>
        <p:spPr/>
        <p:txBody>
          <a:bodyPr/>
          <a:lstStyle/>
          <a:p>
            <a:fld id="{4EB4ADB3-4D6A-144B-B124-08234FE3D04F}" type="slidenum">
              <a:rPr lang="en-US" smtClean="0"/>
              <a:pPr/>
              <a:t>13</a:t>
            </a:fld>
            <a:endParaRPr lang="en-US"/>
          </a:p>
        </p:txBody>
      </p:sp>
      <p:sp>
        <p:nvSpPr>
          <p:cNvPr id="3" name="TextBox 2">
            <a:extLst>
              <a:ext uri="{FF2B5EF4-FFF2-40B4-BE49-F238E27FC236}">
                <a16:creationId xmlns:a16="http://schemas.microsoft.com/office/drawing/2014/main" id="{55900634-18ED-2661-45AA-504CD5F47923}"/>
              </a:ext>
            </a:extLst>
          </p:cNvPr>
          <p:cNvSpPr txBox="1"/>
          <p:nvPr/>
        </p:nvSpPr>
        <p:spPr>
          <a:xfrm>
            <a:off x="721301" y="1297196"/>
            <a:ext cx="10047103" cy="2345322"/>
          </a:xfrm>
          <a:prstGeom prst="rect">
            <a:avLst/>
          </a:prstGeom>
          <a:noFill/>
        </p:spPr>
        <p:txBody>
          <a:bodyPr wrap="square" rtlCol="0">
            <a:spAutoFit/>
          </a:bodyPr>
          <a:lstStyle/>
          <a:p>
            <a:pPr>
              <a:lnSpc>
                <a:spcPct val="150000"/>
              </a:lnSpc>
            </a:pPr>
            <a:r>
              <a:rPr lang="vi-VN" sz="2000" dirty="0">
                <a:latin typeface="+mj-lt"/>
              </a:rPr>
              <a:t>- Đánh giá thực nghiệm thuật toán xấp xỉ và so sánh với: Mô hình tối ưu MIP (giải bằng </a:t>
            </a:r>
            <a:r>
              <a:rPr lang="vi-VN" sz="2000" dirty="0" err="1">
                <a:latin typeface="+mj-lt"/>
              </a:rPr>
              <a:t>Gurobi</a:t>
            </a:r>
            <a:r>
              <a:rPr lang="vi-VN" sz="2000" dirty="0">
                <a:latin typeface="+mj-lt"/>
              </a:rPr>
              <a:t>)</a:t>
            </a:r>
          </a:p>
          <a:p>
            <a:pPr>
              <a:lnSpc>
                <a:spcPct val="150000"/>
              </a:lnSpc>
            </a:pPr>
            <a:r>
              <a:rPr lang="vi-VN"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Mục</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tiêu</a:t>
            </a:r>
            <a:r>
              <a:rPr lang="en-US" sz="2000" dirty="0">
                <a:latin typeface="Times New Roman" panose="02020603050405020304" pitchFamily="18" charset="0"/>
                <a:cs typeface="Times New Roman" panose="02020603050405020304" pitchFamily="18" charset="0"/>
              </a:rPr>
              <a:t>:</a:t>
            </a:r>
          </a:p>
          <a:p>
            <a:pPr>
              <a:lnSpc>
                <a:spcPct val="150000"/>
              </a:lnSpc>
            </a:pPr>
            <a:r>
              <a:rPr lang="vi-VN"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Kiểm</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tra</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độ</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tốt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nghiệm</a:t>
            </a:r>
            <a:r>
              <a:rPr lang="en-US" sz="2000" dirty="0">
                <a:latin typeface="Times New Roman" panose="02020603050405020304" pitchFamily="18" charset="0"/>
                <a:cs typeface="Times New Roman" panose="02020603050405020304" pitchFamily="18" charset="0"/>
              </a:rPr>
              <a:t> (approximation quality) </a:t>
            </a:r>
          </a:p>
          <a:p>
            <a:pPr>
              <a:lnSpc>
                <a:spcPct val="150000"/>
              </a:lnSpc>
            </a:pPr>
            <a:r>
              <a:rPr lang="vi-VN" sz="20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So </a:t>
            </a:r>
            <a:r>
              <a:rPr lang="en-US" sz="2000" dirty="0" err="1">
                <a:latin typeface="Times New Roman" panose="02020603050405020304" pitchFamily="18" charset="0"/>
                <a:cs typeface="Times New Roman" panose="02020603050405020304" pitchFamily="18" charset="0"/>
              </a:rPr>
              <a:t>sánh</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thời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gian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chạy</a:t>
            </a:r>
            <a:r>
              <a:rPr lang="en-US" sz="2000" dirty="0">
                <a:latin typeface="Times New Roman" panose="02020603050405020304" pitchFamily="18" charset="0"/>
                <a:cs typeface="Times New Roman" panose="02020603050405020304" pitchFamily="18" charset="0"/>
              </a:rPr>
              <a:t> </a:t>
            </a:r>
          </a:p>
          <a:p>
            <a:pPr>
              <a:lnSpc>
                <a:spcPct val="150000"/>
              </a:lnSpc>
            </a:pPr>
            <a:r>
              <a:rPr lang="vi-VN"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Đánh</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giá</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tính</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thực</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tiễn</a:t>
            </a:r>
            <a:endParaRPr lang="en-US" sz="20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7E9801AF-AF26-D85D-4C2E-0C471EEFD813}"/>
              </a:ext>
            </a:extLst>
          </p:cNvPr>
          <p:cNvSpPr txBox="1"/>
          <p:nvPr/>
        </p:nvSpPr>
        <p:spPr>
          <a:xfrm>
            <a:off x="721301" y="3671048"/>
            <a:ext cx="4386652" cy="2345322"/>
          </a:xfrm>
          <a:prstGeom prst="rect">
            <a:avLst/>
          </a:prstGeom>
          <a:noFill/>
        </p:spPr>
        <p:txBody>
          <a:bodyPr wrap="square">
            <a:spAutoFit/>
          </a:bodyPr>
          <a:lstStyle/>
          <a:p>
            <a:pPr>
              <a:lnSpc>
                <a:spcPct val="150000"/>
              </a:lnSpc>
              <a:buNone/>
            </a:pPr>
            <a:r>
              <a:rPr lang="vi-VN" sz="2000" dirty="0">
                <a:latin typeface="Times New Roman" panose="02020603050405020304" pitchFamily="18" charset="0"/>
                <a:cs typeface="Times New Roman" panose="02020603050405020304" pitchFamily="18" charset="0"/>
              </a:rPr>
              <a:t>Mỗi dataset gồm:</a:t>
            </a:r>
          </a:p>
          <a:p>
            <a:pPr lvl="1">
              <a:lnSpc>
                <a:spcPct val="150000"/>
              </a:lnSpc>
              <a:buFont typeface="Arial" panose="020B0604020202020204" pitchFamily="34" charset="0"/>
              <a:buChar char="•"/>
            </a:pPr>
            <a:r>
              <a:rPr lang="vi-VN" sz="2000" dirty="0">
                <a:latin typeface="Times New Roman" panose="02020603050405020304" pitchFamily="18" charset="0"/>
                <a:cs typeface="Times New Roman" panose="02020603050405020304" pitchFamily="18" charset="0"/>
              </a:rPr>
              <a:t> Depot (kho) </a:t>
            </a:r>
          </a:p>
          <a:p>
            <a:pPr lvl="1">
              <a:lnSpc>
                <a:spcPct val="150000"/>
              </a:lnSpc>
              <a:buFont typeface="Arial" panose="020B0604020202020204" pitchFamily="34" charset="0"/>
              <a:buChar char="•"/>
            </a:pPr>
            <a:r>
              <a:rPr lang="vi-VN" sz="2000" dirty="0">
                <a:latin typeface="Times New Roman" panose="02020603050405020304" pitchFamily="18" charset="0"/>
                <a:cs typeface="Times New Roman" panose="02020603050405020304" pitchFamily="18" charset="0"/>
              </a:rPr>
              <a:t> Các khách hàng (nodes) </a:t>
            </a:r>
          </a:p>
          <a:p>
            <a:pPr lvl="1">
              <a:lnSpc>
                <a:spcPct val="150000"/>
              </a:lnSpc>
              <a:buFont typeface="Arial" panose="020B0604020202020204" pitchFamily="34" charset="0"/>
              <a:buChar char="•"/>
            </a:pPr>
            <a:r>
              <a:rPr lang="vi-VN" sz="2000" dirty="0">
                <a:latin typeface="Times New Roman" panose="02020603050405020304" pitchFamily="18" charset="0"/>
                <a:cs typeface="Times New Roman" panose="02020603050405020304" pitchFamily="18" charset="0"/>
              </a:rPr>
              <a:t> Khoảng cách giữa các điểm </a:t>
            </a:r>
          </a:p>
          <a:p>
            <a:pPr lvl="1">
              <a:lnSpc>
                <a:spcPct val="150000"/>
              </a:lnSpc>
              <a:buFont typeface="Arial" panose="020B0604020202020204" pitchFamily="34" charset="0"/>
              <a:buChar char="•"/>
            </a:pPr>
            <a:r>
              <a:rPr lang="vi-VN" sz="2000" dirty="0">
                <a:latin typeface="Times New Roman" panose="02020603050405020304" pitchFamily="18" charset="0"/>
                <a:cs typeface="Times New Roman" panose="02020603050405020304" pitchFamily="18" charset="0"/>
              </a:rPr>
              <a:t> Ràng buộc tương thích</a:t>
            </a:r>
          </a:p>
        </p:txBody>
      </p:sp>
    </p:spTree>
    <p:extLst>
      <p:ext uri="{BB962C8B-B14F-4D97-AF65-F5344CB8AC3E}">
        <p14:creationId xmlns:p14="http://schemas.microsoft.com/office/powerpoint/2010/main" val="4832486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5209BA-F74C-7CBE-5DF1-D651BC9136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3E73DE-117A-9A91-5811-6AF68CC6C1B4}"/>
              </a:ext>
            </a:extLst>
          </p:cNvPr>
          <p:cNvSpPr>
            <a:spLocks noGrp="1"/>
          </p:cNvSpPr>
          <p:nvPr>
            <p:ph type="title"/>
          </p:nvPr>
        </p:nvSpPr>
        <p:spPr>
          <a:xfrm>
            <a:off x="1624519" y="136524"/>
            <a:ext cx="9385372" cy="792162"/>
          </a:xfrm>
        </p:spPr>
        <p:txBody>
          <a:bodyPr/>
          <a:lstStyle/>
          <a:p>
            <a:pPr>
              <a:spcBef>
                <a:spcPts val="0"/>
              </a:spcBef>
              <a:buSzPct val="100000"/>
            </a:pPr>
            <a:r>
              <a:rPr lang="vi-VN" sz="3200" b="1" dirty="0">
                <a:solidFill>
                  <a:srgbClr val="00B050"/>
                </a:solidFill>
                <a:latin typeface="Times New Roman" panose="02020603050405020304" pitchFamily="18" charset="0"/>
                <a:cs typeface="Times New Roman" panose="02020603050405020304" pitchFamily="18" charset="0"/>
              </a:rPr>
              <a:t>4</a:t>
            </a:r>
            <a:r>
              <a:rPr lang="en-US" sz="3200" b="1" dirty="0">
                <a:solidFill>
                  <a:srgbClr val="00B050"/>
                </a:solidFill>
                <a:latin typeface="Times New Roman" panose="02020603050405020304" pitchFamily="18" charset="0"/>
                <a:cs typeface="Times New Roman" panose="02020603050405020304" pitchFamily="18" charset="0"/>
              </a:rPr>
              <a:t>. </a:t>
            </a:r>
            <a:r>
              <a:rPr lang="vi-VN" sz="3200" b="1" dirty="0">
                <a:solidFill>
                  <a:srgbClr val="00B050"/>
                </a:solidFill>
                <a:latin typeface="Times New Roman" panose="02020603050405020304" pitchFamily="18" charset="0"/>
                <a:cs typeface="Times New Roman" panose="02020603050405020304" pitchFamily="18" charset="0"/>
              </a:rPr>
              <a:t>CÀI ĐẶT VÀ THỰC NGHIỆM ĐÁNH GIÁ</a:t>
            </a:r>
            <a:endParaRPr lang="en-US" sz="3200" b="1" dirty="0">
              <a:solidFill>
                <a:srgbClr val="00B050"/>
              </a:solidFill>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62B09C62-237F-B1A0-1425-696775D072B4}"/>
              </a:ext>
            </a:extLst>
          </p:cNvPr>
          <p:cNvSpPr>
            <a:spLocks noGrp="1"/>
          </p:cNvSpPr>
          <p:nvPr>
            <p:ph type="sldNum" sz="quarter" idx="12"/>
          </p:nvPr>
        </p:nvSpPr>
        <p:spPr/>
        <p:txBody>
          <a:bodyPr/>
          <a:lstStyle/>
          <a:p>
            <a:fld id="{4EB4ADB3-4D6A-144B-B124-08234FE3D04F}" type="slidenum">
              <a:rPr lang="en-US" smtClean="0"/>
              <a:pPr/>
              <a:t>14</a:t>
            </a:fld>
            <a:endParaRPr lang="en-US"/>
          </a:p>
        </p:txBody>
      </p:sp>
      <p:sp>
        <p:nvSpPr>
          <p:cNvPr id="6" name="TextBox 5">
            <a:extLst>
              <a:ext uri="{FF2B5EF4-FFF2-40B4-BE49-F238E27FC236}">
                <a16:creationId xmlns:a16="http://schemas.microsoft.com/office/drawing/2014/main" id="{F43D4CFE-3BCA-E08C-62EC-C84CFFFEC977}"/>
              </a:ext>
            </a:extLst>
          </p:cNvPr>
          <p:cNvSpPr txBox="1"/>
          <p:nvPr/>
        </p:nvSpPr>
        <p:spPr>
          <a:xfrm>
            <a:off x="858822" y="1488446"/>
            <a:ext cx="3786073" cy="1631216"/>
          </a:xfrm>
          <a:prstGeom prst="rect">
            <a:avLst/>
          </a:prstGeom>
          <a:noFill/>
        </p:spPr>
        <p:txBody>
          <a:bodyPr wrap="square">
            <a:spAutoFit/>
          </a:bodyPr>
          <a:lstStyle/>
          <a:p>
            <a:r>
              <a:rPr lang="en-US" sz="2000" dirty="0" err="1">
                <a:latin typeface="Times New Roman" panose="02020603050405020304" pitchFamily="18" charset="0"/>
                <a:cs typeface="Times New Roman" panose="02020603050405020304" pitchFamily="18" charset="0"/>
              </a:rPr>
              <a:t>Có</a:t>
            </a:r>
            <a:r>
              <a:rPr lang="en-US" sz="2000" dirty="0">
                <a:latin typeface="Times New Roman" panose="02020603050405020304" pitchFamily="18" charset="0"/>
                <a:cs typeface="Times New Roman" panose="02020603050405020304" pitchFamily="18" charset="0"/>
              </a:rPr>
              <a:t> 3 </a:t>
            </a:r>
            <a:r>
              <a:rPr lang="en-US" sz="2000" dirty="0" err="1">
                <a:latin typeface="Times New Roman" panose="02020603050405020304" pitchFamily="18" charset="0"/>
                <a:cs typeface="Times New Roman" panose="02020603050405020304" pitchFamily="18" charset="0"/>
              </a:rPr>
              <a:t>loại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dữ</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liệu</a:t>
            </a:r>
            <a:r>
              <a:rPr lang="en-US" sz="2000" dirty="0">
                <a:latin typeface="Times New Roman" panose="02020603050405020304" pitchFamily="18" charset="0"/>
                <a:cs typeface="Times New Roman" panose="02020603050405020304" pitchFamily="18" charset="0"/>
              </a:rPr>
              <a:t>: </a:t>
            </a:r>
            <a:endParaRPr lang="vi-VN" sz="2000" dirty="0">
              <a:latin typeface="Times New Roman" panose="02020603050405020304" pitchFamily="18" charset="0"/>
              <a:cs typeface="Times New Roman" panose="02020603050405020304" pitchFamily="18" charset="0"/>
            </a:endParaRPr>
          </a:p>
          <a:p>
            <a:r>
              <a:rPr lang="vi-VN" sz="2000" dirty="0">
                <a:latin typeface="Times New Roman" panose="02020603050405020304" pitchFamily="18" charset="0"/>
                <a:cs typeface="Times New Roman" panose="02020603050405020304" pitchFamily="18" charset="0"/>
              </a:rPr>
              <a:t>	</a:t>
            </a:r>
            <a:r>
              <a:rPr lang="en-US" sz="2000" dirty="0"/>
              <a:t>R</a:t>
            </a:r>
            <a:r>
              <a:rPr lang="vi-VN" sz="2000" dirty="0"/>
              <a:t> </a:t>
            </a:r>
            <a:r>
              <a:rPr lang="en-US" sz="2000" dirty="0">
                <a:latin typeface="Times New Roman" panose="02020603050405020304" pitchFamily="18" charset="0"/>
                <a:cs typeface="Times New Roman" panose="02020603050405020304" pitchFamily="18" charset="0"/>
              </a:rPr>
              <a:t>(Random): </a:t>
            </a:r>
            <a:r>
              <a:rPr lang="vi-VN" sz="2000" dirty="0">
                <a:latin typeface="Times New Roman" panose="02020603050405020304" pitchFamily="18" charset="0"/>
                <a:cs typeface="Times New Roman" panose="02020603050405020304" pitchFamily="18" charset="0"/>
              </a:rPr>
              <a:t>Rời rạc</a:t>
            </a:r>
            <a:endParaRPr lang="en-US" sz="2000" dirty="0">
              <a:latin typeface="Times New Roman" panose="02020603050405020304" pitchFamily="18" charset="0"/>
              <a:cs typeface="Times New Roman" panose="02020603050405020304" pitchFamily="18" charset="0"/>
            </a:endParaRPr>
          </a:p>
          <a:p>
            <a:pPr lvl="1"/>
            <a:r>
              <a:rPr lang="en-US" sz="2000" dirty="0">
                <a:latin typeface="Times New Roman" panose="02020603050405020304" pitchFamily="18" charset="0"/>
                <a:cs typeface="Times New Roman" panose="02020603050405020304" pitchFamily="18" charset="0"/>
              </a:rPr>
              <a:t>C</a:t>
            </a:r>
            <a:r>
              <a:rPr lang="vi-VN" sz="20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(Clustered): </a:t>
            </a:r>
            <a:r>
              <a:rPr lang="vi-VN" sz="2000" dirty="0">
                <a:latin typeface="Times New Roman" panose="02020603050405020304" pitchFamily="18" charset="0"/>
                <a:cs typeface="Times New Roman" panose="02020603050405020304" pitchFamily="18" charset="0"/>
              </a:rPr>
              <a:t>Phân cụm</a:t>
            </a:r>
            <a:r>
              <a:rPr lang="en-US" sz="2000" dirty="0">
                <a:latin typeface="Times New Roman" panose="02020603050405020304" pitchFamily="18" charset="0"/>
                <a:cs typeface="Times New Roman" panose="02020603050405020304" pitchFamily="18" charset="0"/>
              </a:rPr>
              <a:t> </a:t>
            </a:r>
          </a:p>
          <a:p>
            <a:pPr lvl="1"/>
            <a:r>
              <a:rPr lang="en-US" sz="2000" dirty="0">
                <a:latin typeface="Times New Roman" panose="02020603050405020304" pitchFamily="18" charset="0"/>
                <a:cs typeface="Times New Roman" panose="02020603050405020304" pitchFamily="18" charset="0"/>
              </a:rPr>
              <a:t>RC</a:t>
            </a:r>
            <a:r>
              <a:rPr lang="vi-VN" sz="20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(Random Clustered):</a:t>
            </a:r>
            <a:r>
              <a:rPr lang="vi-VN" sz="2000" dirty="0">
                <a:latin typeface="Times New Roman" panose="02020603050405020304" pitchFamily="18" charset="0"/>
                <a:cs typeface="Times New Roman" panose="02020603050405020304" pitchFamily="18" charset="0"/>
              </a:rPr>
              <a:t> vừa phân cụm vừa rời rạc</a:t>
            </a:r>
            <a:endParaRPr lang="en-US" sz="20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CC09A1C7-7530-8B4E-93D7-A83B1386A049}"/>
              </a:ext>
            </a:extLst>
          </p:cNvPr>
          <p:cNvPicPr>
            <a:picLocks noChangeAspect="1"/>
          </p:cNvPicPr>
          <p:nvPr/>
        </p:nvPicPr>
        <p:blipFill>
          <a:blip r:embed="rId3"/>
          <a:stretch>
            <a:fillRect/>
          </a:stretch>
        </p:blipFill>
        <p:spPr>
          <a:xfrm>
            <a:off x="5000457" y="1716706"/>
            <a:ext cx="3010125" cy="3424587"/>
          </a:xfrm>
          <a:prstGeom prst="rect">
            <a:avLst/>
          </a:prstGeom>
        </p:spPr>
      </p:pic>
      <p:pic>
        <p:nvPicPr>
          <p:cNvPr id="10" name="Picture 9">
            <a:extLst>
              <a:ext uri="{FF2B5EF4-FFF2-40B4-BE49-F238E27FC236}">
                <a16:creationId xmlns:a16="http://schemas.microsoft.com/office/drawing/2014/main" id="{2C947973-A67E-C0A1-4A57-083E5E9B21A7}"/>
              </a:ext>
            </a:extLst>
          </p:cNvPr>
          <p:cNvPicPr>
            <a:picLocks noChangeAspect="1"/>
          </p:cNvPicPr>
          <p:nvPr/>
        </p:nvPicPr>
        <p:blipFill>
          <a:blip r:embed="rId4"/>
          <a:stretch>
            <a:fillRect/>
          </a:stretch>
        </p:blipFill>
        <p:spPr>
          <a:xfrm>
            <a:off x="8564986" y="1729983"/>
            <a:ext cx="2930015" cy="3398032"/>
          </a:xfrm>
          <a:prstGeom prst="rect">
            <a:avLst/>
          </a:prstGeom>
        </p:spPr>
      </p:pic>
      <p:pic>
        <p:nvPicPr>
          <p:cNvPr id="12" name="Picture 11">
            <a:extLst>
              <a:ext uri="{FF2B5EF4-FFF2-40B4-BE49-F238E27FC236}">
                <a16:creationId xmlns:a16="http://schemas.microsoft.com/office/drawing/2014/main" id="{FCEDC504-BC35-E44D-1AC4-F18A01C0048F}"/>
              </a:ext>
            </a:extLst>
          </p:cNvPr>
          <p:cNvPicPr>
            <a:picLocks noChangeAspect="1"/>
          </p:cNvPicPr>
          <p:nvPr/>
        </p:nvPicPr>
        <p:blipFill>
          <a:blip r:embed="rId5"/>
          <a:stretch>
            <a:fillRect/>
          </a:stretch>
        </p:blipFill>
        <p:spPr>
          <a:xfrm>
            <a:off x="1547970" y="3215482"/>
            <a:ext cx="3010864" cy="3002438"/>
          </a:xfrm>
          <a:prstGeom prst="rect">
            <a:avLst/>
          </a:prstGeom>
        </p:spPr>
      </p:pic>
    </p:spTree>
    <p:extLst>
      <p:ext uri="{BB962C8B-B14F-4D97-AF65-F5344CB8AC3E}">
        <p14:creationId xmlns:p14="http://schemas.microsoft.com/office/powerpoint/2010/main" val="20270847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C89D24-BAC8-6194-666F-B1549F24DC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E86852-247C-4121-3B56-04163A585865}"/>
              </a:ext>
            </a:extLst>
          </p:cNvPr>
          <p:cNvSpPr>
            <a:spLocks noGrp="1"/>
          </p:cNvSpPr>
          <p:nvPr>
            <p:ph type="title"/>
          </p:nvPr>
        </p:nvSpPr>
        <p:spPr>
          <a:xfrm>
            <a:off x="1624519" y="136524"/>
            <a:ext cx="9385372" cy="792162"/>
          </a:xfrm>
        </p:spPr>
        <p:txBody>
          <a:bodyPr/>
          <a:lstStyle/>
          <a:p>
            <a:pPr>
              <a:spcBef>
                <a:spcPts val="0"/>
              </a:spcBef>
              <a:buSzPct val="100000"/>
            </a:pPr>
            <a:r>
              <a:rPr lang="vi-VN" sz="3200" b="1" dirty="0">
                <a:solidFill>
                  <a:srgbClr val="00B050"/>
                </a:solidFill>
                <a:latin typeface="Times New Roman" panose="02020603050405020304" pitchFamily="18" charset="0"/>
                <a:cs typeface="Times New Roman" panose="02020603050405020304" pitchFamily="18" charset="0"/>
              </a:rPr>
              <a:t>4</a:t>
            </a:r>
            <a:r>
              <a:rPr lang="en-US" sz="3200" b="1" dirty="0">
                <a:solidFill>
                  <a:srgbClr val="00B050"/>
                </a:solidFill>
                <a:latin typeface="Times New Roman" panose="02020603050405020304" pitchFamily="18" charset="0"/>
                <a:cs typeface="Times New Roman" panose="02020603050405020304" pitchFamily="18" charset="0"/>
              </a:rPr>
              <a:t>. </a:t>
            </a:r>
            <a:r>
              <a:rPr lang="vi-VN" sz="3200" b="1" dirty="0">
                <a:solidFill>
                  <a:srgbClr val="00B050"/>
                </a:solidFill>
                <a:latin typeface="Times New Roman" panose="02020603050405020304" pitchFamily="18" charset="0"/>
                <a:cs typeface="Times New Roman" panose="02020603050405020304" pitchFamily="18" charset="0"/>
              </a:rPr>
              <a:t>CÀI ĐẶT VÀ THỰC NGHIỆM ĐÁNH GIÁ</a:t>
            </a:r>
            <a:endParaRPr lang="en-US" sz="3200" b="1" dirty="0">
              <a:solidFill>
                <a:srgbClr val="00B050"/>
              </a:solidFill>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850EDFB6-BC76-8280-B50A-C5E439A25091}"/>
              </a:ext>
            </a:extLst>
          </p:cNvPr>
          <p:cNvSpPr>
            <a:spLocks noGrp="1"/>
          </p:cNvSpPr>
          <p:nvPr>
            <p:ph type="sldNum" sz="quarter" idx="12"/>
          </p:nvPr>
        </p:nvSpPr>
        <p:spPr/>
        <p:txBody>
          <a:bodyPr/>
          <a:lstStyle/>
          <a:p>
            <a:fld id="{4EB4ADB3-4D6A-144B-B124-08234FE3D04F}" type="slidenum">
              <a:rPr lang="en-US" smtClean="0"/>
              <a:pPr/>
              <a:t>15</a:t>
            </a:fld>
            <a:endParaRPr lang="en-US"/>
          </a:p>
        </p:txBody>
      </p:sp>
      <p:pic>
        <p:nvPicPr>
          <p:cNvPr id="6" name="Picture 5">
            <a:extLst>
              <a:ext uri="{FF2B5EF4-FFF2-40B4-BE49-F238E27FC236}">
                <a16:creationId xmlns:a16="http://schemas.microsoft.com/office/drawing/2014/main" id="{6826131F-A839-FC93-8EA7-49A1F5FB2A56}"/>
              </a:ext>
            </a:extLst>
          </p:cNvPr>
          <p:cNvPicPr>
            <a:picLocks noChangeAspect="1"/>
          </p:cNvPicPr>
          <p:nvPr/>
        </p:nvPicPr>
        <p:blipFill>
          <a:blip r:embed="rId3"/>
          <a:stretch>
            <a:fillRect/>
          </a:stretch>
        </p:blipFill>
        <p:spPr>
          <a:xfrm>
            <a:off x="2247609" y="1730855"/>
            <a:ext cx="7242377" cy="3693501"/>
          </a:xfrm>
          <a:prstGeom prst="rect">
            <a:avLst/>
          </a:prstGeom>
        </p:spPr>
      </p:pic>
    </p:spTree>
    <p:extLst>
      <p:ext uri="{BB962C8B-B14F-4D97-AF65-F5344CB8AC3E}">
        <p14:creationId xmlns:p14="http://schemas.microsoft.com/office/powerpoint/2010/main" val="17097374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DF45C7-5D3A-398A-FD94-1E7B5B88CE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35CD5A-FE0D-EE66-6876-E8433D9758E3}"/>
              </a:ext>
            </a:extLst>
          </p:cNvPr>
          <p:cNvSpPr>
            <a:spLocks noGrp="1"/>
          </p:cNvSpPr>
          <p:nvPr>
            <p:ph type="title"/>
          </p:nvPr>
        </p:nvSpPr>
        <p:spPr>
          <a:xfrm>
            <a:off x="1624519" y="136524"/>
            <a:ext cx="9385372" cy="792162"/>
          </a:xfrm>
        </p:spPr>
        <p:txBody>
          <a:bodyPr/>
          <a:lstStyle/>
          <a:p>
            <a:pPr>
              <a:spcBef>
                <a:spcPts val="0"/>
              </a:spcBef>
              <a:buSzPct val="100000"/>
            </a:pPr>
            <a:r>
              <a:rPr lang="vi-VN" sz="3200" b="1" dirty="0">
                <a:solidFill>
                  <a:srgbClr val="00B050"/>
                </a:solidFill>
                <a:latin typeface="Times New Roman" panose="02020603050405020304" pitchFamily="18" charset="0"/>
                <a:cs typeface="Times New Roman" panose="02020603050405020304" pitchFamily="18" charset="0"/>
              </a:rPr>
              <a:t>4</a:t>
            </a:r>
            <a:r>
              <a:rPr lang="en-US" sz="3200" b="1" dirty="0">
                <a:solidFill>
                  <a:srgbClr val="00B050"/>
                </a:solidFill>
                <a:latin typeface="Times New Roman" panose="02020603050405020304" pitchFamily="18" charset="0"/>
                <a:cs typeface="Times New Roman" panose="02020603050405020304" pitchFamily="18" charset="0"/>
              </a:rPr>
              <a:t>. </a:t>
            </a:r>
            <a:r>
              <a:rPr lang="vi-VN" sz="3200" b="1" dirty="0">
                <a:solidFill>
                  <a:srgbClr val="00B050"/>
                </a:solidFill>
                <a:latin typeface="Times New Roman" panose="02020603050405020304" pitchFamily="18" charset="0"/>
                <a:cs typeface="Times New Roman" panose="02020603050405020304" pitchFamily="18" charset="0"/>
              </a:rPr>
              <a:t>CÀI ĐẶT VÀ THỰC NGHIỆM ĐÁNH GIÁ</a:t>
            </a:r>
            <a:endParaRPr lang="en-US" sz="3200" b="1" dirty="0">
              <a:solidFill>
                <a:srgbClr val="00B050"/>
              </a:solidFill>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9A233710-85EB-F1BD-23C3-79FB9B11FECC}"/>
              </a:ext>
            </a:extLst>
          </p:cNvPr>
          <p:cNvSpPr>
            <a:spLocks noGrp="1"/>
          </p:cNvSpPr>
          <p:nvPr>
            <p:ph type="sldNum" sz="quarter" idx="12"/>
          </p:nvPr>
        </p:nvSpPr>
        <p:spPr/>
        <p:txBody>
          <a:bodyPr/>
          <a:lstStyle/>
          <a:p>
            <a:fld id="{4EB4ADB3-4D6A-144B-B124-08234FE3D04F}" type="slidenum">
              <a:rPr lang="en-US" smtClean="0"/>
              <a:pPr/>
              <a:t>16</a:t>
            </a:fld>
            <a:endParaRPr lang="en-US"/>
          </a:p>
        </p:txBody>
      </p:sp>
      <p:pic>
        <p:nvPicPr>
          <p:cNvPr id="6" name="Picture 5">
            <a:extLst>
              <a:ext uri="{FF2B5EF4-FFF2-40B4-BE49-F238E27FC236}">
                <a16:creationId xmlns:a16="http://schemas.microsoft.com/office/drawing/2014/main" id="{E235DA81-27CB-481A-C2D3-27F169EFA2A4}"/>
              </a:ext>
            </a:extLst>
          </p:cNvPr>
          <p:cNvPicPr>
            <a:picLocks noChangeAspect="1"/>
          </p:cNvPicPr>
          <p:nvPr/>
        </p:nvPicPr>
        <p:blipFill>
          <a:blip r:embed="rId3"/>
          <a:stretch>
            <a:fillRect/>
          </a:stretch>
        </p:blipFill>
        <p:spPr>
          <a:xfrm>
            <a:off x="2247609" y="1730855"/>
            <a:ext cx="7242377" cy="3693501"/>
          </a:xfrm>
          <a:prstGeom prst="rect">
            <a:avLst/>
          </a:prstGeom>
        </p:spPr>
      </p:pic>
    </p:spTree>
    <p:extLst>
      <p:ext uri="{BB962C8B-B14F-4D97-AF65-F5344CB8AC3E}">
        <p14:creationId xmlns:p14="http://schemas.microsoft.com/office/powerpoint/2010/main" val="23605285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FFEA3-5164-A5AA-06AD-DDECF2DDF3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213DB8-918F-8D3F-CF0A-7DE1C19A53BB}"/>
              </a:ext>
            </a:extLst>
          </p:cNvPr>
          <p:cNvSpPr>
            <a:spLocks noGrp="1"/>
          </p:cNvSpPr>
          <p:nvPr>
            <p:ph type="title"/>
          </p:nvPr>
        </p:nvSpPr>
        <p:spPr>
          <a:xfrm>
            <a:off x="1624519" y="136524"/>
            <a:ext cx="9385372" cy="792162"/>
          </a:xfrm>
        </p:spPr>
        <p:txBody>
          <a:bodyPr/>
          <a:lstStyle/>
          <a:p>
            <a:pPr>
              <a:spcBef>
                <a:spcPts val="0"/>
              </a:spcBef>
              <a:buSzPct val="100000"/>
            </a:pPr>
            <a:r>
              <a:rPr lang="vi-VN" sz="3200" b="1" dirty="0">
                <a:solidFill>
                  <a:srgbClr val="00B050"/>
                </a:solidFill>
                <a:latin typeface="Times New Roman" panose="02020603050405020304" pitchFamily="18" charset="0"/>
                <a:cs typeface="Times New Roman" panose="02020603050405020304" pitchFamily="18" charset="0"/>
              </a:rPr>
              <a:t>4</a:t>
            </a:r>
            <a:r>
              <a:rPr lang="en-US" sz="3200" b="1" dirty="0">
                <a:solidFill>
                  <a:srgbClr val="00B050"/>
                </a:solidFill>
                <a:latin typeface="Times New Roman" panose="02020603050405020304" pitchFamily="18" charset="0"/>
                <a:cs typeface="Times New Roman" panose="02020603050405020304" pitchFamily="18" charset="0"/>
              </a:rPr>
              <a:t>. </a:t>
            </a:r>
            <a:r>
              <a:rPr lang="vi-VN" sz="3200" b="1" dirty="0">
                <a:solidFill>
                  <a:srgbClr val="00B050"/>
                </a:solidFill>
                <a:latin typeface="Times New Roman" panose="02020603050405020304" pitchFamily="18" charset="0"/>
                <a:cs typeface="Times New Roman" panose="02020603050405020304" pitchFamily="18" charset="0"/>
              </a:rPr>
              <a:t>CÀI ĐẶT VÀ THỰC NGHIỆM ĐÁNH GIÁ</a:t>
            </a:r>
            <a:endParaRPr lang="en-US" sz="3200" b="1" dirty="0">
              <a:solidFill>
                <a:srgbClr val="00B050"/>
              </a:solidFill>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C6D49EE6-EFEC-CE30-B8F6-26954F9EE4E3}"/>
              </a:ext>
            </a:extLst>
          </p:cNvPr>
          <p:cNvSpPr>
            <a:spLocks noGrp="1"/>
          </p:cNvSpPr>
          <p:nvPr>
            <p:ph type="sldNum" sz="quarter" idx="12"/>
          </p:nvPr>
        </p:nvSpPr>
        <p:spPr/>
        <p:txBody>
          <a:bodyPr/>
          <a:lstStyle/>
          <a:p>
            <a:fld id="{4EB4ADB3-4D6A-144B-B124-08234FE3D04F}" type="slidenum">
              <a:rPr lang="en-US" smtClean="0"/>
              <a:pPr/>
              <a:t>17</a:t>
            </a:fld>
            <a:endParaRPr lang="en-US"/>
          </a:p>
        </p:txBody>
      </p:sp>
      <p:pic>
        <p:nvPicPr>
          <p:cNvPr id="8" name="Picture 7">
            <a:extLst>
              <a:ext uri="{FF2B5EF4-FFF2-40B4-BE49-F238E27FC236}">
                <a16:creationId xmlns:a16="http://schemas.microsoft.com/office/drawing/2014/main" id="{9C082DE6-5312-921A-DCFA-9DA27CC44FDC}"/>
              </a:ext>
            </a:extLst>
          </p:cNvPr>
          <p:cNvPicPr>
            <a:picLocks noChangeAspect="1"/>
          </p:cNvPicPr>
          <p:nvPr/>
        </p:nvPicPr>
        <p:blipFill>
          <a:blip r:embed="rId3"/>
          <a:stretch>
            <a:fillRect/>
          </a:stretch>
        </p:blipFill>
        <p:spPr>
          <a:xfrm>
            <a:off x="1609099" y="1861919"/>
            <a:ext cx="8973802" cy="3134162"/>
          </a:xfrm>
          <a:prstGeom prst="rect">
            <a:avLst/>
          </a:prstGeom>
        </p:spPr>
      </p:pic>
    </p:spTree>
    <p:extLst>
      <p:ext uri="{BB962C8B-B14F-4D97-AF65-F5344CB8AC3E}">
        <p14:creationId xmlns:p14="http://schemas.microsoft.com/office/powerpoint/2010/main" val="2143113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A91310-EF6E-A2C0-4FC8-D5A21D77AE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9991FE-23F1-55DA-FAFB-628057ED9A3E}"/>
              </a:ext>
            </a:extLst>
          </p:cNvPr>
          <p:cNvSpPr>
            <a:spLocks noGrp="1"/>
          </p:cNvSpPr>
          <p:nvPr>
            <p:ph type="title"/>
          </p:nvPr>
        </p:nvSpPr>
        <p:spPr>
          <a:xfrm>
            <a:off x="1624519" y="136524"/>
            <a:ext cx="9385372" cy="792162"/>
          </a:xfrm>
        </p:spPr>
        <p:txBody>
          <a:bodyPr/>
          <a:lstStyle/>
          <a:p>
            <a:pPr>
              <a:spcBef>
                <a:spcPts val="0"/>
              </a:spcBef>
              <a:buSzPct val="100000"/>
            </a:pPr>
            <a:r>
              <a:rPr lang="vi-VN" sz="3200" b="1" dirty="0">
                <a:solidFill>
                  <a:srgbClr val="00B050"/>
                </a:solidFill>
                <a:latin typeface="Times New Roman" panose="02020603050405020304" pitchFamily="18" charset="0"/>
                <a:cs typeface="Times New Roman" panose="02020603050405020304" pitchFamily="18" charset="0"/>
              </a:rPr>
              <a:t>4</a:t>
            </a:r>
            <a:r>
              <a:rPr lang="en-US" sz="3200" b="1" dirty="0">
                <a:solidFill>
                  <a:srgbClr val="00B050"/>
                </a:solidFill>
                <a:latin typeface="Times New Roman" panose="02020603050405020304" pitchFamily="18" charset="0"/>
                <a:cs typeface="Times New Roman" panose="02020603050405020304" pitchFamily="18" charset="0"/>
              </a:rPr>
              <a:t>. </a:t>
            </a:r>
            <a:r>
              <a:rPr lang="vi-VN" sz="3200" b="1" dirty="0">
                <a:solidFill>
                  <a:srgbClr val="00B050"/>
                </a:solidFill>
                <a:latin typeface="Times New Roman" panose="02020603050405020304" pitchFamily="18" charset="0"/>
                <a:cs typeface="Times New Roman" panose="02020603050405020304" pitchFamily="18" charset="0"/>
              </a:rPr>
              <a:t>CÀI ĐẶT VÀ THỰC NGHIỆM ĐÁNH GIÁ</a:t>
            </a:r>
            <a:endParaRPr lang="en-US" sz="3200" b="1" dirty="0">
              <a:solidFill>
                <a:srgbClr val="00B050"/>
              </a:solidFill>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0ED85FD5-5468-4755-9655-DD4B8D7208D8}"/>
              </a:ext>
            </a:extLst>
          </p:cNvPr>
          <p:cNvSpPr>
            <a:spLocks noGrp="1"/>
          </p:cNvSpPr>
          <p:nvPr>
            <p:ph type="sldNum" sz="quarter" idx="12"/>
          </p:nvPr>
        </p:nvSpPr>
        <p:spPr/>
        <p:txBody>
          <a:bodyPr/>
          <a:lstStyle/>
          <a:p>
            <a:fld id="{4EB4ADB3-4D6A-144B-B124-08234FE3D04F}" type="slidenum">
              <a:rPr lang="en-US" smtClean="0"/>
              <a:pPr/>
              <a:t>18</a:t>
            </a:fld>
            <a:endParaRPr lang="en-US"/>
          </a:p>
        </p:txBody>
      </p:sp>
      <p:sp>
        <p:nvSpPr>
          <p:cNvPr id="6" name="TextBox 5">
            <a:extLst>
              <a:ext uri="{FF2B5EF4-FFF2-40B4-BE49-F238E27FC236}">
                <a16:creationId xmlns:a16="http://schemas.microsoft.com/office/drawing/2014/main" id="{CC7E850D-68CE-AB15-BE55-89E8402C5C08}"/>
              </a:ext>
            </a:extLst>
          </p:cNvPr>
          <p:cNvSpPr txBox="1"/>
          <p:nvPr/>
        </p:nvSpPr>
        <p:spPr>
          <a:xfrm>
            <a:off x="1158705" y="1744629"/>
            <a:ext cx="9737314" cy="2956387"/>
          </a:xfrm>
          <a:prstGeom prst="rect">
            <a:avLst/>
          </a:prstGeom>
          <a:noFill/>
        </p:spPr>
        <p:txBody>
          <a:bodyPr wrap="square">
            <a:spAutoFit/>
          </a:bodyPr>
          <a:lstStyle/>
          <a:p>
            <a:pPr>
              <a:lnSpc>
                <a:spcPct val="150000"/>
              </a:lnSpc>
            </a:pPr>
            <a:r>
              <a:rPr lang="vi-VN" dirty="0">
                <a:latin typeface="+mj-lt"/>
              </a:rPr>
              <a:t>Kết quả thực nghiệm cho thấy mô hình MIP cho nghiệm tối ưu hoặc gần tối ưu đối với phần lớn các </a:t>
            </a:r>
            <a:r>
              <a:rPr lang="vi-VN" dirty="0" err="1">
                <a:latin typeface="+mj-lt"/>
              </a:rPr>
              <a:t>instance</a:t>
            </a:r>
            <a:r>
              <a:rPr lang="vi-VN" dirty="0">
                <a:latin typeface="+mj-lt"/>
              </a:rPr>
              <a:t> nhỏ và vừa, thể hiện qua việc cận dưới và cận trên gần như trùng nhau. Trong khi đó, thuật toán xấp xỉ luôn tìm được nghiệm khả thi trong thời gian ngắn, tuy chất lượng nghiệm còn dao động tùy từng bộ dữ liệu. Với các </a:t>
            </a:r>
            <a:r>
              <a:rPr lang="vi-VN" dirty="0" err="1">
                <a:latin typeface="+mj-lt"/>
              </a:rPr>
              <a:t>instance</a:t>
            </a:r>
            <a:r>
              <a:rPr lang="vi-VN" dirty="0">
                <a:latin typeface="+mj-lt"/>
              </a:rPr>
              <a:t> nhỏ, MIP vừa chính xác vừa có thời gian chạy chấp nhận được; tuy nhiên khi kích thước bài toán tăng lên, thuật toán xấp xỉ thể hiện ưu thế rõ hơn về tốc độ. Đặc biệt, ở những trường hợp MIP không thu được kết quả, thuật toán xấp xỉ vẫn đưa ra lời giải trong thời gian rất ngắn, cho thấy tính thực tiễn cao của phương pháp này.</a:t>
            </a:r>
            <a:endParaRPr lang="en-US" dirty="0">
              <a:latin typeface="+mj-lt"/>
            </a:endParaRPr>
          </a:p>
        </p:txBody>
      </p:sp>
    </p:spTree>
    <p:extLst>
      <p:ext uri="{BB962C8B-B14F-4D97-AF65-F5344CB8AC3E}">
        <p14:creationId xmlns:p14="http://schemas.microsoft.com/office/powerpoint/2010/main" val="39455085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7F0BA-DBFE-4052-E004-4DE3771833F3}"/>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A076305B-9DAE-20CC-DD4B-4290E3DB7E47}"/>
              </a:ext>
            </a:extLst>
          </p:cNvPr>
          <p:cNvSpPr>
            <a:spLocks noGrp="1"/>
          </p:cNvSpPr>
          <p:nvPr>
            <p:ph type="sldNum" sz="quarter" idx="12"/>
          </p:nvPr>
        </p:nvSpPr>
        <p:spPr/>
        <p:txBody>
          <a:bodyPr/>
          <a:lstStyle/>
          <a:p>
            <a:fld id="{4EB4ADB3-4D6A-144B-B124-08234FE3D04F}" type="slidenum">
              <a:rPr lang="en-US" smtClean="0"/>
              <a:pPr/>
              <a:t>19</a:t>
            </a:fld>
            <a:endParaRPr lang="en-US"/>
          </a:p>
        </p:txBody>
      </p:sp>
      <p:sp>
        <p:nvSpPr>
          <p:cNvPr id="9" name="TextBox 8">
            <a:extLst>
              <a:ext uri="{FF2B5EF4-FFF2-40B4-BE49-F238E27FC236}">
                <a16:creationId xmlns:a16="http://schemas.microsoft.com/office/drawing/2014/main" id="{36076F86-D6BF-F529-EDA0-D409629E1BF1}"/>
              </a:ext>
            </a:extLst>
          </p:cNvPr>
          <p:cNvSpPr txBox="1"/>
          <p:nvPr/>
        </p:nvSpPr>
        <p:spPr>
          <a:xfrm>
            <a:off x="4744599" y="3105834"/>
            <a:ext cx="2702801" cy="646331"/>
          </a:xfrm>
          <a:prstGeom prst="rect">
            <a:avLst/>
          </a:prstGeom>
          <a:noFill/>
        </p:spPr>
        <p:txBody>
          <a:bodyPr wrap="square" rtlCol="0">
            <a:spAutoFit/>
          </a:bodyPr>
          <a:lstStyle/>
          <a:p>
            <a:pPr algn="ctr"/>
            <a:r>
              <a:rPr lang="en-US" sz="3600" b="1" dirty="0">
                <a:solidFill>
                  <a:srgbClr val="008000"/>
                </a:solidFill>
                <a:latin typeface="Times New Roman" panose="02020603050405020304" pitchFamily="18" charset="0"/>
                <a:cs typeface="Times New Roman" panose="02020603050405020304" pitchFamily="18" charset="0"/>
              </a:rPr>
              <a:t>Thank you </a:t>
            </a:r>
          </a:p>
        </p:txBody>
      </p:sp>
    </p:spTree>
    <p:extLst>
      <p:ext uri="{BB962C8B-B14F-4D97-AF65-F5344CB8AC3E}">
        <p14:creationId xmlns:p14="http://schemas.microsoft.com/office/powerpoint/2010/main" val="3119656614"/>
      </p:ext>
    </p:extLst>
  </p:cSld>
  <p:clrMapOvr>
    <a:masterClrMapping/>
  </p:clrMapOvr>
</p:sld>
</file>

<file path=ppt/theme/theme1.xml><?xml version="1.0" encoding="utf-8"?>
<a:theme xmlns:a="http://schemas.openxmlformats.org/drawingml/2006/main" name="Theme1">
  <a:themeElements>
    <a:clrScheme name="Elemental">
      <a:dk1>
        <a:sysClr val="windowText" lastClr="000000"/>
      </a:dk1>
      <a:lt1>
        <a:sysClr val="window" lastClr="FFFFFF"/>
      </a:lt1>
      <a:dk2>
        <a:srgbClr val="242852"/>
      </a:dk2>
      <a:lt2>
        <a:srgbClr val="ACCBF9"/>
      </a:lt2>
      <a:accent1>
        <a:srgbClr val="629DD1"/>
      </a:accent1>
      <a:accent2>
        <a:srgbClr val="297FD5"/>
      </a:accent2>
      <a:accent3>
        <a:srgbClr val="7F8FA9"/>
      </a:accent3>
      <a:accent4>
        <a:srgbClr val="4A66AC"/>
      </a:accent4>
      <a:accent5>
        <a:srgbClr val="5AA2AE"/>
      </a:accent5>
      <a:accent6>
        <a:srgbClr val="9D90A0"/>
      </a:accent6>
      <a:hlink>
        <a:srgbClr val="9454C3"/>
      </a:hlink>
      <a:folHlink>
        <a:srgbClr val="3EBBF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47909</TotalTime>
  <Words>1649</Words>
  <Application>Microsoft Macintosh PowerPoint</Application>
  <PresentationFormat>Widescreen</PresentationFormat>
  <Paragraphs>136</Paragraphs>
  <Slides>19</Slides>
  <Notes>19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19</vt:i4>
      </vt:variant>
    </vt:vector>
  </HeadingPairs>
  <TitlesOfParts>
    <vt:vector size="28" baseType="lpstr">
      <vt:lpstr>Arial</vt:lpstr>
      <vt:lpstr>Calibri</vt:lpstr>
      <vt:lpstr>Cambria Math</vt:lpstr>
      <vt:lpstr>Inter Black</vt:lpstr>
      <vt:lpstr>Segoe UI Semibold</vt:lpstr>
      <vt:lpstr>Segoe WP</vt:lpstr>
      <vt:lpstr>Times New Roman</vt:lpstr>
      <vt:lpstr>Wingdings</vt:lpstr>
      <vt:lpstr>Theme1</vt:lpstr>
      <vt:lpstr>BÀI TOÁN ĐỊNH TUYẾN NHIỀU PHƯƠNG TIỆN VỚI RÀNG BUỘC TƯƠNG THÍCH (VRPCC) </vt:lpstr>
      <vt:lpstr>1. GIỚI THIỆU VRP</vt:lpstr>
      <vt:lpstr>1. GIỚI THIỆU VRP</vt:lpstr>
      <vt:lpstr>1. GIỚI THIỆU VRP</vt:lpstr>
      <vt:lpstr>1. GIỚI THIỆU VRP</vt:lpstr>
      <vt:lpstr>2. VRPCC VỚI RÀNG BUỘC TƯƠNG THÍCH</vt:lpstr>
      <vt:lpstr>2. VRPCC VỚI RÀNG BUỘC TƯƠNG THÍCH</vt:lpstr>
      <vt:lpstr>2. VRPCC VỚI RÀNG BUỘC TƯƠNG THÍCH</vt:lpstr>
      <vt:lpstr>3. THUẬT TOÁN ĐỀ XUẤT</vt:lpstr>
      <vt:lpstr>3. THUẬT TOÁN ĐỀ XUẤT</vt:lpstr>
      <vt:lpstr>3. THUẬT TOÁN ĐỀ XUẤT</vt:lpstr>
      <vt:lpstr>3. THUẬT TOÁN ĐỀ XUẤT</vt:lpstr>
      <vt:lpstr>4. CÀI ĐẶT VÀ THỰC NGHIỆM ĐÁNH GIÁ</vt:lpstr>
      <vt:lpstr>4. CÀI ĐẶT VÀ THỰC NGHIỆM ĐÁNH GIÁ</vt:lpstr>
      <vt:lpstr>4. CÀI ĐẶT VÀ THỰC NGHIỆM ĐÁNH GIÁ</vt:lpstr>
      <vt:lpstr>4. CÀI ĐẶT VÀ THỰC NGHIỆM ĐÁNH GIÁ</vt:lpstr>
      <vt:lpstr>4. CÀI ĐẶT VÀ THỰC NGHIỆM ĐÁNH GIÁ</vt:lpstr>
      <vt:lpstr>4. CÀI ĐẶT VÀ THỰC NGHIỆM ĐÁNH GIÁ</vt:lpstr>
      <vt:lpstr>PowerPoint Presentation</vt:lpstr>
    </vt:vector>
  </TitlesOfParts>
  <Company>University of Houston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Social Network Computing</dc:title>
  <dc:creator>Lisa Zheng;Canh V. Pham</dc:creator>
  <cp:lastModifiedBy>NGUYỄN ĐÌNH TUẤN</cp:lastModifiedBy>
  <cp:revision>2597</cp:revision>
  <cp:lastPrinted>2012-11-02T02:40:47Z</cp:lastPrinted>
  <dcterms:created xsi:type="dcterms:W3CDTF">2011-01-16T18:42:29Z</dcterms:created>
  <dcterms:modified xsi:type="dcterms:W3CDTF">2026-04-22T02:45:50Z</dcterms:modified>
</cp:coreProperties>
</file>