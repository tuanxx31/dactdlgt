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  <p:sldMasterId id="2147483682" r:id="rId3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7010400" cy="92360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9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0" roundtripDataSignature="AMtx7mj4uxCbbWTnImb87tJWol9hTC9U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0"/>
    <p:restoredTop sz="94659"/>
  </p:normalViewPr>
  <p:slideViewPr>
    <p:cSldViewPr snapToGrid="0">
      <p:cViewPr varScale="1">
        <p:scale>
          <a:sx n="146" d="100"/>
          <a:sy n="146" d="100"/>
        </p:scale>
        <p:origin x="106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909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40" Type="http://customschemas.google.com/relationships/presentationmetadata" Target="meta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938" y="0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5" name="Google Shape;395;p1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4" name="Google Shape;414;p2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3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5" name="Google Shape;455;p4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4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0" name="Google Shape;480;p5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5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e7d980ada2_8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g3e7d980ada2_80_0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g3e7d980ada2_80_0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e7d980ada2_8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g3e7d980ada2_80_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g3e7d980ada2_80_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e7d980ada2_80_8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0" name="Google Shape;530;g3e7d980ada2_80_83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g3e7d980ada2_80_83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6" name="Google Shape;546;p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0" name="Google Shape;570;p7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7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9" name="Google Shape;589;p8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8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8" name="Google Shape;638;p10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10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7" name="Google Shape;647;p11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1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8" name="Google Shape;658;p12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12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6" name="Google Shape;666;p13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p13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p14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14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7" name="Google Shape;697;p15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15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5" name="Google Shape;705;p1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1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3" name="Google Shape;713;p17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17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1" name="Google Shape;721;p18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8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5" name="Google Shape;745;p1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1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21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Google Shape;17;p21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18;p21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Google Shape;24;p22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Google Shape;25;p22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Google Shape;26;p22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22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24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24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2" name="Google Shape;42;p24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" name="Google Shape;43;p24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" name="Google Shape;44;p24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5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5" name="Google Shape;55;p25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5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7" name="Google Shape;57;p2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2" name="Google Shape;72;p28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3" name="Google Shape;73;p2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9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9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29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0" name="Google Shape;80;p2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0"/>
          <p:cNvSpPr txBox="1">
            <a:spLocks noGrp="1"/>
          </p:cNvSpPr>
          <p:nvPr>
            <p:ph type="body" idx="1"/>
          </p:nvPr>
        </p:nvSpPr>
        <p:spPr>
          <a:xfrm rot="5400000">
            <a:off x="3642518" y="-1813718"/>
            <a:ext cx="4906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3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3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1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1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3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3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Google Shape;102;g3e7d980ada2_80_1121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g3e7d980ada2_80_1121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g3e7d980ada2_80_1121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g3e7d980ada2_80_112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6" name="Google Shape;106;g3e7d980ada2_80_11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g3e7d980ada2_80_11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g3e7d980ada2_80_11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g3e7d980ada2_80_1129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" name="Google Shape;111;g3e7d980ada2_80_1129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" name="Google Shape;112;g3e7d980ada2_80_1129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" name="Google Shape;113;g3e7d980ada2_80_1129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" name="Google Shape;114;g3e7d980ada2_80_112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g3e7d980ada2_80_112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g3e7d980ada2_80_112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g3e7d980ada2_80_112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3e7d980ada2_80_112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7d980ada2_80_1139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g3e7d980ada2_80_1139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g3e7d980ada2_80_113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g3e7d980ada2_80_113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g3e7d980ada2_80_113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6" name="Google Shape;126;g3e7d980ada2_80_1145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7" name="Google Shape;127;g3e7d980ada2_80_1145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8" name="Google Shape;128;g3e7d980ada2_80_1145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9" name="Google Shape;129;g3e7d980ada2_80_1145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g3e7d980ada2_80_1145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" name="Google Shape;131;g3e7d980ada2_80_11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g3e7d980ada2_80_114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33" name="Google Shape;133;g3e7d980ada2_80_1145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34" name="Google Shape;134;g3e7d980ada2_80_114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g3e7d980ada2_80_114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g3e7d980ada2_80_114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7d980ada2_80_115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3e7d980ada2_80_1157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0" name="Google Shape;140;g3e7d980ada2_80_1157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41" name="Google Shape;141;g3e7d980ada2_80_1157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2" name="Google Shape;142;g3e7d980ada2_80_1157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43" name="Google Shape;143;g3e7d980ada2_80_115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g3e7d980ada2_80_115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3e7d980ada2_80_115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7d980ada2_80_116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g3e7d980ada2_80_116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g3e7d980ada2_80_116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3e7d980ada2_80_116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7d980ada2_80_117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g3e7d980ada2_80_117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g3e7d980ada2_80_117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7d980ada2_80_1175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g3e7d980ada2_80_1175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58" name="Google Shape;158;g3e7d980ada2_80_1175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9" name="Google Shape;159;g3e7d980ada2_80_117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g3e7d980ada2_80_117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g3e7d980ada2_80_117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7d980ada2_80_1182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g3e7d980ada2_80_1182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65" name="Google Shape;165;g3e7d980ada2_80_1182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66" name="Google Shape;166;g3e7d980ada2_80_118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g3e7d980ada2_80_118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g3e7d980ada2_80_118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7d980ada2_80_118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g3e7d980ada2_80_1189"/>
          <p:cNvSpPr txBox="1">
            <a:spLocks noGrp="1"/>
          </p:cNvSpPr>
          <p:nvPr>
            <p:ph type="body" idx="1"/>
          </p:nvPr>
        </p:nvSpPr>
        <p:spPr>
          <a:xfrm rot="5400000">
            <a:off x="3642450" y="-1813649"/>
            <a:ext cx="49071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2" name="Google Shape;172;g3e7d980ada2_80_118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3e7d980ada2_80_118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g3e7d980ada2_80_118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7d980ada2_80_1195"/>
          <p:cNvSpPr txBox="1">
            <a:spLocks noGrp="1"/>
          </p:cNvSpPr>
          <p:nvPr>
            <p:ph type="title"/>
          </p:nvPr>
        </p:nvSpPr>
        <p:spPr>
          <a:xfrm rot="5400000">
            <a:off x="7285050" y="1828789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g3e7d980ada2_80_1195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61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g3e7d980ada2_80_119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g3e7d980ada2_80_119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g3e7d980ada2_80_119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 (g3e7d980ada2_96_0)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7d980ada2_80_1201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g3e7d980ada2_80_1201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3e7d980ada2_80_1201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g3e7d980ada2_80_120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g3e7d980ada2_80_120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(g3e7d980ada2_88_0)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7d980ada2_80_1207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g3e7d980ada2_80_1207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g3e7d980ada2_80_1207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g3e7d980ada2_80_120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g3e7d980ada2_80_120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">
  <p:cSld name="Title and Content (g3e7d980ada2_79_0)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7d980ada2_80_1213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g3e7d980ada2_80_1213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6" name="Google Shape;196;g3e7d980ada2_80_1213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g3e7d980ada2_80_121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g3e7d980ada2_80_121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">
  <p:cSld name="Title and Content (g3e7d980ada2_72_0)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7d980ada2_80_121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g3e7d980ada2_80_121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g3e7d980ada2_80_121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g3e7d980ada2_80_121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g3e7d980ada2_80_12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">
  <p:cSld name="Title and Content (g3e7d980ada2_58_0)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7d980ada2_80_1225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g3e7d980ada2_80_122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g3e7d980ada2_80_1225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g3e7d980ada2_80_12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g3e7d980ada2_80_12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">
  <p:cSld name="Title and Content (g3e7d980ada2_51_0)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7d980ada2_80_1231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g3e7d980ada2_80_1231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g3e7d980ada2_80_1231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g3e7d980ada2_80_123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g3e7d980ada2_80_123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">
  <p:cSld name="Title and Content (g3e7d980ada2_44_0)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e7d980ada2_80_1237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g3e7d980ada2_80_1237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g3e7d980ada2_80_1237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g3e7d980ada2_80_123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g3e7d980ada2_80_123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">
  <p:cSld name="Title and Content (g3e7d980ada2_30_0)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e7d980ada2_80_1243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g3e7d980ada2_80_1243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6" name="Google Shape;226;g3e7d980ada2_80_1243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g3e7d980ada2_80_124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g3e7d980ada2_80_124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">
  <p:cSld name="Title and Content (g3e7d980ada2_14_0)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7d980ada2_80_124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g3e7d980ada2_80_124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g3e7d980ada2_80_124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g3e7d980ada2_80_124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g3e7d980ada2_80_124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">
  <p:cSld name="Title and Content (g3e7d980ada2_7_0)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e7d980ada2_80_1255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g3e7d980ada2_80_125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g3e7d980ada2_80_1255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g3e7d980ada2_80_125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g3e7d980ada2_80_125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8" name="Google Shape;248;g3e7d980ada2_80_1956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9" name="Google Shape;249;g3e7d980ada2_80_1956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g3e7d980ada2_80_1956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g3e7d980ada2_80_1956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g3e7d980ada2_80_195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g3e7d980ada2_80_195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g3e7d980ada2_80_195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6" name="Google Shape;256;g3e7d980ada2_80_1964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7" name="Google Shape;257;g3e7d980ada2_80_1964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8" name="Google Shape;258;g3e7d980ada2_80_1964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g3e7d980ada2_80_1964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0" name="Google Shape;260;g3e7d980ada2_80_196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g3e7d980ada2_80_196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2" name="Google Shape;262;g3e7d980ada2_80_196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g3e7d980ada2_80_196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g3e7d980ada2_80_196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7d980ada2_80_1974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g3e7d980ada2_80_197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8" name="Google Shape;268;g3e7d980ada2_80_197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g3e7d980ada2_80_197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g3e7d980ada2_80_197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" name="Google Shape;272;g3e7d980ada2_80_1980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273;g3e7d980ada2_80_1980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74" name="Google Shape;274;g3e7d980ada2_80_1980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5" name="Google Shape;275;g3e7d980ada2_80_1980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g3e7d980ada2_80_1980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7" name="Google Shape;277;g3e7d980ada2_80_198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g3e7d980ada2_80_198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79" name="Google Shape;279;g3e7d980ada2_80_1980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80" name="Google Shape;280;g3e7d980ada2_80_198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g3e7d980ada2_80_198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g3e7d980ada2_80_198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e7d980ada2_80_199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g3e7d980ada2_80_199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6" name="Google Shape;286;g3e7d980ada2_80_199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287" name="Google Shape;287;g3e7d980ada2_80_1992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g3e7d980ada2_80_1992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289" name="Google Shape;289;g3e7d980ada2_80_199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g3e7d980ada2_80_199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g3e7d980ada2_80_199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7d980ada2_80_200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g3e7d980ada2_80_200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g3e7d980ada2_80_200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g3e7d980ada2_80_200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e7d980ada2_80_200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g3e7d980ada2_80_200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g3e7d980ada2_80_200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e7d980ada2_80_2010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g3e7d980ada2_80_2010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04" name="Google Shape;304;g3e7d980ada2_80_2010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305" name="Google Shape;305;g3e7d980ada2_80_201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g3e7d980ada2_80_201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g3e7d980ada2_80_20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7d980ada2_80_2017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g3e7d980ada2_80_2017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g3e7d980ada2_80_2017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312" name="Google Shape;312;g3e7d980ada2_80_201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g3e7d980ada2_80_201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g3e7d980ada2_80_20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7d980ada2_80_20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g3e7d980ada2_80_2024"/>
          <p:cNvSpPr txBox="1">
            <a:spLocks noGrp="1"/>
          </p:cNvSpPr>
          <p:nvPr>
            <p:ph type="body" idx="1"/>
          </p:nvPr>
        </p:nvSpPr>
        <p:spPr>
          <a:xfrm rot="5400000">
            <a:off x="3642450" y="-1813649"/>
            <a:ext cx="49071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8" name="Google Shape;318;g3e7d980ada2_80_20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g3e7d980ada2_80_20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g3e7d980ada2_80_20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e7d980ada2_80_2030"/>
          <p:cNvSpPr txBox="1">
            <a:spLocks noGrp="1"/>
          </p:cNvSpPr>
          <p:nvPr>
            <p:ph type="title"/>
          </p:nvPr>
        </p:nvSpPr>
        <p:spPr>
          <a:xfrm rot="5400000">
            <a:off x="7285050" y="1828789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g3e7d980ada2_80_2030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61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4" name="Google Shape;324;g3e7d980ada2_80_203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g3e7d980ada2_80_203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g3e7d980ada2_80_203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 (g3e7d980ada2_119_0)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e7d980ada2_80_2036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g3e7d980ada2_80_2036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0" name="Google Shape;330;g3e7d980ada2_80_203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g3e7d980ada2_80_203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g3e7d980ada2_80_203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(g3e7d980ada2_96_0)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e7d980ada2_80_233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g3e7d980ada2_80_233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6" name="Google Shape;336;g3e7d980ada2_80_233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g3e7d980ada2_80_233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g3e7d980ada2_80_233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">
  <p:cSld name="Title and Content (g3e7d980ada2_88_0)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e7d980ada2_80_2340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1" name="Google Shape;341;g3e7d980ada2_80_234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2" name="Google Shape;342;g3e7d980ada2_80_2340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g3e7d980ada2_80_234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g3e7d980ada2_80_234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">
  <p:cSld name="Title and Content (g3e7d980ada2_79_0)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7d980ada2_80_2346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g3e7d980ada2_80_2346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8" name="Google Shape;348;g3e7d980ada2_80_2346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9" name="Google Shape;349;g3e7d980ada2_80_234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g3e7d980ada2_80_234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">
  <p:cSld name="Title and Content (g3e7d980ada2_72_0)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e7d980ada2_80_235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g3e7d980ada2_80_235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g3e7d980ada2_80_235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g3e7d980ada2_80_235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g3e7d980ada2_80_235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">
  <p:cSld name="Title and Content (g3e7d980ada2_58_0)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7d980ada2_80_2358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g3e7d980ada2_80_2358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0" name="Google Shape;360;g3e7d980ada2_80_2358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g3e7d980ada2_80_235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g3e7d980ada2_80_235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">
  <p:cSld name="Title and Content (g3e7d980ada2_51_0)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e7d980ada2_80_236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5" name="Google Shape;365;g3e7d980ada2_80_236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g3e7d980ada2_80_236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7" name="Google Shape;367;g3e7d980ada2_80_236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8" name="Google Shape;368;g3e7d980ada2_80_236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">
  <p:cSld name="Title and Content (g3e7d980ada2_44_0)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e7d980ada2_80_2370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g3e7d980ada2_80_237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2" name="Google Shape;372;g3e7d980ada2_80_2370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g3e7d980ada2_80_237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g3e7d980ada2_80_237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">
  <p:cSld name="Title and Content (g3e7d980ada2_30_0)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e7d980ada2_80_2376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g3e7d980ada2_80_2376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g3e7d980ada2_80_2376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g3e7d980ada2_80_237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0" name="Google Shape;380;g3e7d980ada2_80_237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">
  <p:cSld name="Title and Content (g3e7d980ada2_14_0)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7d980ada2_80_238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g3e7d980ada2_80_238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4" name="Google Shape;384;g3e7d980ada2_80_238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5" name="Google Shape;385;g3e7d980ada2_80_238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g3e7d980ada2_80_238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 1">
  <p:cSld name="Title and Content (g3e7d980ada2_7_0)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7d980ada2_80_2388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g3e7d980ada2_80_2388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0" name="Google Shape;390;g3e7d980ada2_80_2388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g3e7d980ada2_80_238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2" name="Google Shape;392;g3e7d980ada2_80_23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theme" Target="../theme/theme3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e7d980ada2_80_11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7" name="Google Shape;97;g3e7d980ada2_80_111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8" name="Google Shape;98;g3e7d980ada2_80_111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9" name="Google Shape;99;g3e7d980ada2_80_111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g3e7d980ada2_80_11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e7d980ada2_80_195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3" name="Google Shape;243;g3e7d980ada2_80_195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4" name="Google Shape;244;g3e7d980ada2_80_195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5" name="Google Shape;245;g3e7d980ada2_80_195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6" name="Google Shape;246;g3e7d980ada2_80_195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  <p:sldLayoutId id="2147483704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3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8" name="Google Shape;398;p1"/>
          <p:cNvGrpSpPr/>
          <p:nvPr/>
        </p:nvGrpSpPr>
        <p:grpSpPr>
          <a:xfrm>
            <a:off x="0" y="0"/>
            <a:ext cx="12192000" cy="1200300"/>
            <a:chOff x="0" y="0"/>
            <a:chExt cx="12192000" cy="1200300"/>
          </a:xfrm>
        </p:grpSpPr>
        <p:sp>
          <p:nvSpPr>
            <p:cNvPr id="399" name="Google Shape;399;p1"/>
            <p:cNvSpPr/>
            <p:nvPr/>
          </p:nvSpPr>
          <p:spPr>
            <a:xfrm>
              <a:off x="0" y="0"/>
              <a:ext cx="12192000" cy="11430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0" name="Google Shape;400;p1"/>
            <p:cNvSpPr/>
            <p:nvPr/>
          </p:nvSpPr>
          <p:spPr>
            <a:xfrm>
              <a:off x="0" y="1143000"/>
              <a:ext cx="12192000" cy="573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01" name="Google Shape;401;p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2" name="Google Shape;402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1905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"/>
          <p:cNvPicPr preferRelativeResize="0"/>
          <p:nvPr/>
        </p:nvPicPr>
        <p:blipFill rotWithShape="1">
          <a:blip r:embed="rId5">
            <a:alphaModFix/>
          </a:blip>
          <a:srcRect l="100" r="100"/>
          <a:stretch/>
        </p:blipFill>
        <p:spPr>
          <a:xfrm>
            <a:off x="1333500" y="285750"/>
            <a:ext cx="21909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"/>
          <p:cNvSpPr txBox="1">
            <a:spLocks noGrp="1"/>
          </p:cNvSpPr>
          <p:nvPr>
            <p:ph type="ctrTitle"/>
          </p:nvPr>
        </p:nvSpPr>
        <p:spPr>
          <a:xfrm>
            <a:off x="762000" y="1524000"/>
            <a:ext cx="106680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0" dirty="0">
                <a:solidFill>
                  <a:srgbClr val="1A1A1A"/>
                </a:solidFill>
                <a:latin typeface="Times New Roman" panose="02020603050405020304" pitchFamily="18" charset="0"/>
                <a:ea typeface="Inter Black"/>
                <a:cs typeface="Times New Roman" panose="02020603050405020304" pitchFamily="18" charset="0"/>
                <a:sym typeface="Inter Black"/>
              </a:rPr>
              <a:t>Bài Toán Định Tuyến Nhiều Phương Tiện Với Ràng Buộc Tương Thích (VRPCC)</a:t>
            </a:r>
            <a:endParaRPr sz="3800" b="0" dirty="0">
              <a:solidFill>
                <a:srgbClr val="1A1A1A"/>
              </a:solidFill>
              <a:latin typeface="Times New Roman" panose="02020603050405020304" pitchFamily="18" charset="0"/>
              <a:ea typeface="Inter Black"/>
              <a:cs typeface="Times New Roman" panose="02020603050405020304" pitchFamily="18" charset="0"/>
              <a:sym typeface="Inter Black"/>
            </a:endParaRPr>
          </a:p>
        </p:txBody>
      </p:sp>
      <p:sp>
        <p:nvSpPr>
          <p:cNvPr id="405" name="Google Shape;405;p1"/>
          <p:cNvSpPr/>
          <p:nvPr/>
        </p:nvSpPr>
        <p:spPr>
          <a:xfrm>
            <a:off x="5143500" y="3429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6" name="Google Shape;406;p1"/>
          <p:cNvSpPr txBox="1"/>
          <p:nvPr/>
        </p:nvSpPr>
        <p:spPr>
          <a:xfrm>
            <a:off x="762000" y="3619500"/>
            <a:ext cx="10668000" cy="47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4B556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Nguồn: Bài báo - An Approximation Algorithm for Vehicle Routing with Compatibility Constraints</a:t>
            </a:r>
            <a:endParaRPr sz="1400" i="1">
              <a:solidFill>
                <a:srgbClr val="4B556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4B556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Tác giả: Miao Yu, Viswanath Nagarajan, and Siqian Shen†</a:t>
            </a:r>
            <a:endParaRPr sz="1400">
              <a:solidFill>
                <a:srgbClr val="4B556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grpSp>
        <p:nvGrpSpPr>
          <p:cNvPr id="407" name="Google Shape;407;p1"/>
          <p:cNvGrpSpPr/>
          <p:nvPr/>
        </p:nvGrpSpPr>
        <p:grpSpPr>
          <a:xfrm>
            <a:off x="2095500" y="4572000"/>
            <a:ext cx="8001000" cy="1714500"/>
            <a:chOff x="2095500" y="4572000"/>
            <a:chExt cx="8001000" cy="1714500"/>
          </a:xfrm>
        </p:grpSpPr>
        <p:sp>
          <p:nvSpPr>
            <p:cNvPr id="408" name="Google Shape;408;p1"/>
            <p:cNvSpPr/>
            <p:nvPr/>
          </p:nvSpPr>
          <p:spPr>
            <a:xfrm>
              <a:off x="2095500" y="4572000"/>
              <a:ext cx="3810000" cy="1714500"/>
            </a:xfrm>
            <a:prstGeom prst="roundRect">
              <a:avLst>
                <a:gd name="adj" fmla="val 8333"/>
              </a:avLst>
            </a:prstGeom>
            <a:solidFill>
              <a:srgbClr val="F0FDF4"/>
            </a:solidFill>
            <a:ln w="9525" cap="flat" cmpd="sng">
              <a:solidFill>
                <a:srgbClr val="BBF7D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9" name="Google Shape;409;p1"/>
            <p:cNvSpPr/>
            <p:nvPr/>
          </p:nvSpPr>
          <p:spPr>
            <a:xfrm>
              <a:off x="6286500" y="4572000"/>
              <a:ext cx="3810000" cy="1714500"/>
            </a:xfrm>
            <a:prstGeom prst="roundRect">
              <a:avLst>
                <a:gd name="adj" fmla="val 8333"/>
              </a:avLst>
            </a:prstGeom>
            <a:solidFill>
              <a:srgbClr val="EFF6FF"/>
            </a:solidFill>
            <a:ln w="9525" cap="flat" cmpd="sng">
              <a:solidFill>
                <a:srgbClr val="BFDB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0" name="Google Shape;410;p1"/>
            <p:cNvSpPr txBox="1"/>
            <p:nvPr/>
          </p:nvSpPr>
          <p:spPr>
            <a:xfrm>
              <a:off x="2095500" y="4572000"/>
              <a:ext cx="3810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190500" rIns="190500" bIns="190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6653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Giảng Viên Hướng Dẫn</a:t>
              </a:r>
              <a:endParaRPr sz="1400" b="1">
                <a:solidFill>
                  <a:srgbClr val="16653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ctr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 b="0">
                  <a:solidFill>
                    <a:srgbClr val="064E3B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TS. Nguyễn Thị Uyên</a:t>
              </a:r>
              <a:endParaRPr sz="1800" b="0">
                <a:solidFill>
                  <a:srgbClr val="064E3B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11" name="Google Shape;411;p1"/>
            <p:cNvSpPr txBox="1"/>
            <p:nvPr/>
          </p:nvSpPr>
          <p:spPr>
            <a:xfrm>
              <a:off x="6286500" y="4572000"/>
              <a:ext cx="3810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190500" rIns="190500" bIns="190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E40AF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Sinh Viên Thực Hiện - Nhóm 02</a:t>
              </a:r>
              <a:endParaRPr sz="1400" b="1">
                <a:solidFill>
                  <a:srgbClr val="1E40AF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Nguyễn Đình Tuấn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Tô Thị Thuỷ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Nguyễn Thị Tươi 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Hồ Quang Việt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8" name="Google Shape;418;p2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9" name="Google Shape;419;p2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0" name="Google Shape;420;p2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21" name="Google Shape;421;p2"/>
          <p:cNvGrpSpPr/>
          <p:nvPr/>
        </p:nvGrpSpPr>
        <p:grpSpPr>
          <a:xfrm>
            <a:off x="571500" y="1333500"/>
            <a:ext cx="11049000" cy="952500"/>
            <a:chOff x="571500" y="1333500"/>
            <a:chExt cx="11049000" cy="1155700"/>
          </a:xfrm>
        </p:grpSpPr>
        <p:sp>
          <p:nvSpPr>
            <p:cNvPr id="422" name="Google Shape;422;p2"/>
            <p:cNvSpPr/>
            <p:nvPr/>
          </p:nvSpPr>
          <p:spPr>
            <a:xfrm>
              <a:off x="571500" y="1333500"/>
              <a:ext cx="11049000" cy="1155700"/>
            </a:xfrm>
            <a:prstGeom prst="roundRect">
              <a:avLst>
                <a:gd name="adj" fmla="val 9375"/>
              </a:avLst>
            </a:prstGeom>
            <a:solidFill>
              <a:srgbClr val="E8F5E9"/>
            </a:solidFill>
            <a:ln w="952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3" name="Google Shape;423;p2"/>
            <p:cNvSpPr txBox="1"/>
            <p:nvPr/>
          </p:nvSpPr>
          <p:spPr>
            <a:xfrm>
              <a:off x="762000" y="1333500"/>
              <a:ext cx="10668000" cy="9715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0" rIns="19050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tuyến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tiện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(VRP)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là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hóa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tổ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hợp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cổ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,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nhằm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đích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tìm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quyết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tuyến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cho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hoặc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nhiều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tiện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từ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kho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để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phục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vụ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cầu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tại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khác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nhau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8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pic>
        <p:nvPicPr>
          <p:cNvPr id="424" name="Google Shape;424;p2"/>
          <p:cNvPicPr preferRelativeResize="0"/>
          <p:nvPr/>
        </p:nvPicPr>
        <p:blipFill rotWithShape="1">
          <a:blip r:embed="rId4">
            <a:alphaModFix/>
          </a:blip>
          <a:srcRect t="288" b="278"/>
          <a:stretch/>
        </p:blipFill>
        <p:spPr>
          <a:xfrm>
            <a:off x="571500" y="3009900"/>
            <a:ext cx="3289200" cy="3105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5" name="Google Shape;425;p2"/>
          <p:cNvGrpSpPr/>
          <p:nvPr/>
        </p:nvGrpSpPr>
        <p:grpSpPr>
          <a:xfrm>
            <a:off x="3937000" y="2477128"/>
            <a:ext cx="7556500" cy="3962399"/>
            <a:chOff x="5143500" y="3238500"/>
            <a:chExt cx="6477000" cy="2905391"/>
          </a:xfrm>
        </p:grpSpPr>
        <p:sp>
          <p:nvSpPr>
            <p:cNvPr id="426" name="Google Shape;426;p2"/>
            <p:cNvSpPr/>
            <p:nvPr/>
          </p:nvSpPr>
          <p:spPr>
            <a:xfrm>
              <a:off x="5143500" y="3238500"/>
              <a:ext cx="6477000" cy="28575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7" name="Google Shape;427;p2"/>
            <p:cNvSpPr/>
            <p:nvPr/>
          </p:nvSpPr>
          <p:spPr>
            <a:xfrm>
              <a:off x="5143500" y="3238500"/>
              <a:ext cx="6477000" cy="476400"/>
            </a:xfrm>
            <a:prstGeom prst="roundRect">
              <a:avLst>
                <a:gd name="adj" fmla="val 3000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8" name="Google Shape;428;p2"/>
            <p:cNvSpPr txBox="1"/>
            <p:nvPr/>
          </p:nvSpPr>
          <p:spPr>
            <a:xfrm>
              <a:off x="5334000" y="3238500"/>
              <a:ext cx="6096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vi-VN" sz="20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Lịch sử ra đời</a:t>
              </a:r>
              <a:endParaRPr sz="20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29" name="Google Shape;429;p2"/>
            <p:cNvSpPr txBox="1"/>
            <p:nvPr/>
          </p:nvSpPr>
          <p:spPr>
            <a:xfrm>
              <a:off x="5334000" y="3810000"/>
              <a:ext cx="6096000" cy="23338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Bài toán này được giới thiệu chính thức vào năm </a:t>
              </a: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1959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bởi </a:t>
              </a:r>
              <a:r>
                <a:rPr lang="vi-VN" sz="17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Dantzig</a:t>
              </a: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và </a:t>
              </a:r>
              <a:r>
                <a:rPr lang="vi-VN" sz="17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Ramser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trong nghiên cứu về việc tối ưu tuyến đường giao xăng dầu. Sau này, bài toán được mở rộng thành nhiều biến thể như:</a:t>
              </a:r>
            </a:p>
            <a:p>
              <a:pPr>
                <a:lnSpc>
                  <a:spcPct val="150000"/>
                </a:lnSpc>
              </a:pP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CVRP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xe có giới hạn tải trọng.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VRPTW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khách hàng có khung thời gian phục vụ.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MDVRP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nhiều kho hàng.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VRPPD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giao hàng và nhận hàng.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VRPCC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ràng buộc tương thích giữa xe và khách hàng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6" name="Google Shape;436;p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7" name="Google Shape;437;p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 dirty="0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 dirty="0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38" name="Google Shape;438;p3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9" name="Google Shape;439;p3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Phân loại VRP</a:t>
            </a:r>
            <a:endParaRPr sz="2800" b="1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40" name="Google Shape;440;p3"/>
          <p:cNvGrpSpPr/>
          <p:nvPr/>
        </p:nvGrpSpPr>
        <p:grpSpPr>
          <a:xfrm>
            <a:off x="571500" y="1905000"/>
            <a:ext cx="5238900" cy="3619500"/>
            <a:chOff x="571500" y="1905000"/>
            <a:chExt cx="5238900" cy="3619500"/>
          </a:xfrm>
        </p:grpSpPr>
        <p:sp>
          <p:nvSpPr>
            <p:cNvPr id="441" name="Google Shape;441;p3"/>
            <p:cNvSpPr/>
            <p:nvPr/>
          </p:nvSpPr>
          <p:spPr>
            <a:xfrm>
              <a:off x="571500" y="1905000"/>
              <a:ext cx="5238900" cy="36195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2" name="Google Shape;442;p3"/>
            <p:cNvSpPr/>
            <p:nvPr/>
          </p:nvSpPr>
          <p:spPr>
            <a:xfrm>
              <a:off x="571500" y="1905000"/>
              <a:ext cx="5238900" cy="571500"/>
            </a:xfrm>
            <a:prstGeom prst="roundRect">
              <a:avLst>
                <a:gd name="adj" fmla="val 2500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3" name="Google Shape;443;p3"/>
            <p:cNvSpPr txBox="1"/>
            <p:nvPr/>
          </p:nvSpPr>
          <p:spPr>
            <a:xfrm>
              <a:off x="762000" y="1952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 phương tiện (Single-vehicle VRPs)</a:t>
              </a:r>
              <a:endParaRPr sz="18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44" name="Google Shape;444;p3"/>
            <p:cNvSpPr txBox="1"/>
            <p:nvPr/>
          </p:nvSpPr>
          <p:spPr>
            <a:xfrm>
              <a:off x="762000" y="2619375"/>
              <a:ext cx="4857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tiêu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biểu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</a:t>
              </a:r>
              <a:endParaRPr sz="150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75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Người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chào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hàng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(TSP)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cơ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bản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hướng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(Orienteering Problem)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khung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(TSPTW)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thập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thưởng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k-TSP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445" name="Google Shape;445;p3"/>
          <p:cNvGrpSpPr/>
          <p:nvPr/>
        </p:nvGrpSpPr>
        <p:grpSpPr>
          <a:xfrm>
            <a:off x="6381750" y="1905000"/>
            <a:ext cx="5238900" cy="3619500"/>
            <a:chOff x="6381750" y="1905000"/>
            <a:chExt cx="5238900" cy="3619500"/>
          </a:xfrm>
        </p:grpSpPr>
        <p:sp>
          <p:nvSpPr>
            <p:cNvPr id="446" name="Google Shape;446;p3"/>
            <p:cNvSpPr/>
            <p:nvPr/>
          </p:nvSpPr>
          <p:spPr>
            <a:xfrm>
              <a:off x="6381750" y="1905000"/>
              <a:ext cx="5238900" cy="36195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7" name="Google Shape;447;p3"/>
            <p:cNvSpPr/>
            <p:nvPr/>
          </p:nvSpPr>
          <p:spPr>
            <a:xfrm>
              <a:off x="6381750" y="1905000"/>
              <a:ext cx="5238900" cy="571500"/>
            </a:xfrm>
            <a:prstGeom prst="roundRect">
              <a:avLst>
                <a:gd name="adj" fmla="val 25000"/>
              </a:avLst>
            </a:prstGeom>
            <a:solidFill>
              <a:srgbClr val="007BFF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8" name="Google Shape;448;p3"/>
            <p:cNvSpPr txBox="1"/>
            <p:nvPr/>
          </p:nvSpPr>
          <p:spPr>
            <a:xfrm>
              <a:off x="6572250" y="1952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6B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Nhiều phương tiện (Multiple-vehicle VRPs)</a:t>
              </a:r>
              <a:endParaRPr sz="1800" b="1">
                <a:solidFill>
                  <a:srgbClr val="0056B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49" name="Google Shape;449;p3"/>
            <p:cNvSpPr txBox="1"/>
            <p:nvPr/>
          </p:nvSpPr>
          <p:spPr>
            <a:xfrm>
              <a:off x="6572250" y="2619375"/>
              <a:ext cx="4857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 bài toán tiêu biểu:</a:t>
              </a:r>
              <a:endParaRPr sz="1500" b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75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nhiều TSP (mTSP)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VRP có giới hạn sức chứa (CVRP)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VRP với khung thời gian (VRPTW)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gọi xe (Dial-a-ride)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450" name="Google Shape;450;p3"/>
          <p:cNvGrpSpPr/>
          <p:nvPr/>
        </p:nvGrpSpPr>
        <p:grpSpPr>
          <a:xfrm>
            <a:off x="571500" y="5715000"/>
            <a:ext cx="11049000" cy="762000"/>
            <a:chOff x="571500" y="5715000"/>
            <a:chExt cx="11049000" cy="762000"/>
          </a:xfrm>
        </p:grpSpPr>
        <p:sp>
          <p:nvSpPr>
            <p:cNvPr id="451" name="Google Shape;451;p3"/>
            <p:cNvSpPr/>
            <p:nvPr/>
          </p:nvSpPr>
          <p:spPr>
            <a:xfrm>
              <a:off x="571500" y="5715000"/>
              <a:ext cx="11049000" cy="762000"/>
            </a:xfrm>
            <a:prstGeom prst="roundRect">
              <a:avLst>
                <a:gd name="adj" fmla="val 12500"/>
              </a:avLst>
            </a:prstGeom>
            <a:solidFill>
              <a:srgbClr val="FFF3CD">
                <a:alpha val="50000"/>
              </a:srgbClr>
            </a:solidFill>
            <a:ln w="9525" cap="flat" cmpd="sng">
              <a:solidFill>
                <a:srgbClr val="FFEEB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2" name="Google Shape;452;p3"/>
            <p:cNvSpPr txBox="1"/>
            <p:nvPr/>
          </p:nvSpPr>
          <p:spPr>
            <a:xfrm>
              <a:off x="762000" y="5715000"/>
              <a:ext cx="10668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Ghi chú:</a:t>
              </a:r>
              <a:r>
                <a:rPr lang="en-US" sz="1600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Tất cả các nghiên cứu truyền thống này đều tập trung vào mục tiêu </a:t>
              </a:r>
              <a:r>
                <a:rPr lang="en-US" sz="1600" b="1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giảm thiểu tổng chi phí di chuyển</a:t>
              </a:r>
              <a:r>
                <a:rPr lang="en-US" sz="1600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(Min-Sum) của toàn bộ hệ thống.</a:t>
              </a:r>
              <a:endParaRPr sz="1600">
                <a:solidFill>
                  <a:srgbClr val="85640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9" name="Google Shape;459;p4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0" name="Google Shape;460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Động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lực</a:t>
            </a: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nghiên</a:t>
            </a: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cứu</a:t>
            </a:r>
            <a:endParaRPr sz="2800" b="1" i="1" dirty="0">
              <a:solidFill>
                <a:srgbClr val="33333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grpSp>
        <p:nvGrpSpPr>
          <p:cNvPr id="463" name="Google Shape;463;p4"/>
          <p:cNvGrpSpPr/>
          <p:nvPr/>
        </p:nvGrpSpPr>
        <p:grpSpPr>
          <a:xfrm>
            <a:off x="612650" y="1905000"/>
            <a:ext cx="3429000" cy="3810000"/>
            <a:chOff x="571500" y="1905000"/>
            <a:chExt cx="3429000" cy="3810000"/>
          </a:xfrm>
        </p:grpSpPr>
        <p:sp>
          <p:nvSpPr>
            <p:cNvPr id="464" name="Google Shape;464;p4"/>
            <p:cNvSpPr/>
            <p:nvPr/>
          </p:nvSpPr>
          <p:spPr>
            <a:xfrm>
              <a:off x="57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5" name="Google Shape;465;p4"/>
            <p:cNvSpPr/>
            <p:nvPr/>
          </p:nvSpPr>
          <p:spPr>
            <a:xfrm>
              <a:off x="57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6" name="Google Shape;466;p4"/>
            <p:cNvSpPr txBox="1"/>
            <p:nvPr/>
          </p:nvSpPr>
          <p:spPr>
            <a:xfrm>
              <a:off x="76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B050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Nhu cầu phục vụ cơ bản</a:t>
              </a:r>
              <a:endParaRPr sz="2000" b="1">
                <a:solidFill>
                  <a:srgbClr val="00B05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67" name="Google Shape;467;p4"/>
            <p:cNvSpPr txBox="1"/>
            <p:nvPr/>
          </p:nvSpPr>
          <p:spPr>
            <a:xfrm>
              <a:off x="76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ra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các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quyết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định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định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tuyến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ưu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cho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phương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tiện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xuất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phát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từ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bến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bãi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để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phục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vụ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cầu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khách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hàng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tại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nhiều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địa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điểm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khác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nhau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trong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thực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tế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000" dirty="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468" name="Google Shape;468;p4"/>
          <p:cNvGrpSpPr/>
          <p:nvPr/>
        </p:nvGrpSpPr>
        <p:grpSpPr>
          <a:xfrm>
            <a:off x="4381500" y="1905000"/>
            <a:ext cx="3429000" cy="3810000"/>
            <a:chOff x="4381500" y="1905000"/>
            <a:chExt cx="3429000" cy="3810000"/>
          </a:xfrm>
        </p:grpSpPr>
        <p:sp>
          <p:nvSpPr>
            <p:cNvPr id="469" name="Google Shape;469;p4"/>
            <p:cNvSpPr/>
            <p:nvPr/>
          </p:nvSpPr>
          <p:spPr>
            <a:xfrm>
              <a:off x="438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0" name="Google Shape;470;p4"/>
            <p:cNvSpPr/>
            <p:nvPr/>
          </p:nvSpPr>
          <p:spPr>
            <a:xfrm>
              <a:off x="438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FFC107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1" name="Google Shape;471;p4"/>
            <p:cNvSpPr txBox="1"/>
            <p:nvPr/>
          </p:nvSpPr>
          <p:spPr>
            <a:xfrm>
              <a:off x="457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85640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 ưu chi phí (Min-Sum)</a:t>
              </a:r>
              <a:endParaRPr sz="2000" b="1">
                <a:solidFill>
                  <a:srgbClr val="85640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72" name="Google Shape;472;p4"/>
            <p:cNvSpPr txBox="1"/>
            <p:nvPr/>
          </p:nvSpPr>
          <p:spPr>
            <a:xfrm>
              <a:off x="457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Động lực phổ biến nhất nhằm </a:t>
              </a:r>
              <a:r>
                <a:rPr lang="en-US" sz="2000" b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giảm thiểu tổng chi phí di chuyển</a:t>
              </a: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của tất cả các phương tiện cộng lại trong hệ thống.</a:t>
              </a:r>
              <a:endParaRPr sz="200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473" name="Google Shape;473;p4"/>
          <p:cNvGrpSpPr/>
          <p:nvPr/>
        </p:nvGrpSpPr>
        <p:grpSpPr>
          <a:xfrm>
            <a:off x="8191500" y="1905000"/>
            <a:ext cx="3429000" cy="3810000"/>
            <a:chOff x="8191500" y="1905000"/>
            <a:chExt cx="3429000" cy="3810000"/>
          </a:xfrm>
        </p:grpSpPr>
        <p:sp>
          <p:nvSpPr>
            <p:cNvPr id="474" name="Google Shape;474;p4"/>
            <p:cNvSpPr/>
            <p:nvPr/>
          </p:nvSpPr>
          <p:spPr>
            <a:xfrm>
              <a:off x="819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5" name="Google Shape;475;p4"/>
            <p:cNvSpPr/>
            <p:nvPr/>
          </p:nvSpPr>
          <p:spPr>
            <a:xfrm>
              <a:off x="819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007BFF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6" name="Google Shape;476;p4"/>
            <p:cNvSpPr txBox="1"/>
            <p:nvPr/>
          </p:nvSpPr>
          <p:spPr>
            <a:xfrm>
              <a:off x="838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6B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Cân bằng tải (Min-Max)</a:t>
              </a:r>
              <a:endParaRPr sz="2000" b="1">
                <a:solidFill>
                  <a:srgbClr val="0056B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77" name="Google Shape;477;p4"/>
            <p:cNvSpPr txBox="1"/>
            <p:nvPr/>
          </p:nvSpPr>
          <p:spPr>
            <a:xfrm>
              <a:off x="838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 thiểu hóa makespan</a:t>
              </a: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: giảm thiểu quãng đường hoặc chi phí di chuyển lớn nhất của bất kỳ chiếc xe nào để đạt sự cân bằng.</a:t>
              </a:r>
              <a:endParaRPr sz="200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4" name="Google Shape;484;p5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85" name="Google Shape;485;p5"/>
          <p:cNvSpPr txBox="1"/>
          <p:nvPr/>
        </p:nvSpPr>
        <p:spPr>
          <a:xfrm>
            <a:off x="310151" y="1184068"/>
            <a:ext cx="4885791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800" b="1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Những thách thức của VRP</a:t>
            </a:r>
            <a:endParaRPr sz="2800" i="1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86" name="Google Shape;486;p5"/>
          <p:cNvSpPr txBox="1"/>
          <p:nvPr/>
        </p:nvSpPr>
        <p:spPr>
          <a:xfrm>
            <a:off x="692075" y="1976230"/>
            <a:ext cx="7798100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Bản chất là bài toán Tối ưu hóa Tổ hợp (Combinatorial Optimization)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Độ khó ngay từ biến thể cơ bản nhất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 Sự phức tạp khi tích hợp các ràng buộc thực tế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Thách thức thiết kế thuật toán cho mục tiêu Min-Max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487" name="Google Shape;48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34286" y="2549562"/>
            <a:ext cx="4765639" cy="34783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e7d980ada2_80_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Google Shape;494;g3e7d980ada2_80_0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5" name="Google Shape;495;g3e7d980ada2_80_0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6" name="Google Shape;496;g3e7d980ada2_80_0"/>
          <p:cNvSpPr txBox="1"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 i="0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97" name="Google Shape;497;g3e7d980ada2_80_0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TSP (Traveling Salesman Problem)- </a:t>
            </a:r>
            <a:r>
              <a:rPr lang="en-US" sz="3200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Nền tảng ban đầu</a:t>
            </a:r>
            <a:endParaRPr sz="2800" i="1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98" name="Google Shape;498;g3e7d980ada2_80_0"/>
          <p:cNvGrpSpPr/>
          <p:nvPr/>
        </p:nvGrpSpPr>
        <p:grpSpPr>
          <a:xfrm>
            <a:off x="571500" y="2095500"/>
            <a:ext cx="5381700" cy="4286400"/>
            <a:chOff x="571500" y="2095500"/>
            <a:chExt cx="5381700" cy="4286400"/>
          </a:xfrm>
        </p:grpSpPr>
        <p:sp>
          <p:nvSpPr>
            <p:cNvPr id="499" name="Google Shape;499;g3e7d980ada2_80_0"/>
            <p:cNvSpPr/>
            <p:nvPr/>
          </p:nvSpPr>
          <p:spPr>
            <a:xfrm>
              <a:off x="571500" y="2095500"/>
              <a:ext cx="53817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0" name="Google Shape;500;g3e7d980ada2_80_0"/>
            <p:cNvSpPr/>
            <p:nvPr/>
          </p:nvSpPr>
          <p:spPr>
            <a:xfrm>
              <a:off x="571500" y="209550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1" name="Google Shape;501;g3e7d980ada2_80_0"/>
            <p:cNvSpPr txBox="1"/>
            <p:nvPr/>
          </p:nvSpPr>
          <p:spPr>
            <a:xfrm>
              <a:off x="809625" y="2095500"/>
              <a:ext cx="4905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&amp; Ví dụ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02" name="Google Shape;502;g3e7d980ada2_80_0"/>
            <p:cNvSpPr txBox="1"/>
            <p:nvPr/>
          </p:nvSpPr>
          <p:spPr>
            <a:xfrm>
              <a:off x="809625" y="2762250"/>
              <a:ext cx="49053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(Bài toán người chào hàng) là bài toán tìm chu trình ngắn nhất đi qua tất cả các thành phố </a:t>
              </a: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đúng một lần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rồi quay lại điểm xuất phát.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800" b="1" i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Ví dụ:</a:t>
              </a:r>
              <a:endParaRPr sz="1800" b="1" i="1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 nhân viên giao hàng cần giao hàng đến 5 cửa hàng trong thành phố và quay lại kho. Anh ta muốn tìm tuyến đường ngắn nhất đi qua cả 5 cửa hàng.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03" name="Google Shape;503;g3e7d980ada2_80_0"/>
          <p:cNvGrpSpPr/>
          <p:nvPr/>
        </p:nvGrpSpPr>
        <p:grpSpPr>
          <a:xfrm>
            <a:off x="6238875" y="2095500"/>
            <a:ext cx="5381700" cy="4286400"/>
            <a:chOff x="6238875" y="2095500"/>
            <a:chExt cx="5381700" cy="4286400"/>
          </a:xfrm>
        </p:grpSpPr>
        <p:sp>
          <p:nvSpPr>
            <p:cNvPr id="504" name="Google Shape;504;g3e7d980ada2_80_0"/>
            <p:cNvSpPr/>
            <p:nvPr/>
          </p:nvSpPr>
          <p:spPr>
            <a:xfrm>
              <a:off x="6238875" y="2095500"/>
              <a:ext cx="53817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5" name="Google Shape;505;g3e7d980ada2_80_0"/>
            <p:cNvSpPr/>
            <p:nvPr/>
          </p:nvSpPr>
          <p:spPr>
            <a:xfrm>
              <a:off x="6238875" y="209550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4DDBF8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6" name="Google Shape;506;g3e7d980ada2_80_0"/>
            <p:cNvSpPr txBox="1"/>
            <p:nvPr/>
          </p:nvSpPr>
          <p:spPr>
            <a:xfrm>
              <a:off x="6477000" y="2095500"/>
              <a:ext cx="4905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8CBA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mạng lưới</a:t>
              </a:r>
              <a:endParaRPr sz="2200" b="1">
                <a:solidFill>
                  <a:srgbClr val="008CBA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507" name="Google Shape;507;g3e7d980ada2_80_0"/>
            <p:cNvPicPr preferRelativeResize="0"/>
            <p:nvPr/>
          </p:nvPicPr>
          <p:blipFill rotWithShape="1">
            <a:blip r:embed="rId3">
              <a:alphaModFix/>
            </a:blip>
            <a:srcRect t="12997" b="12989"/>
            <a:stretch/>
          </p:blipFill>
          <p:spPr>
            <a:xfrm>
              <a:off x="6553200" y="2857500"/>
              <a:ext cx="4762500" cy="3238500"/>
            </a:xfrm>
            <a:prstGeom prst="roundRect">
              <a:avLst>
                <a:gd name="adj" fmla="val 4411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e7d980ada2_80_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" name="Google Shape;514;g3e7d980ada2_80_9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5" name="Google Shape;515;g3e7d980ada2_80_9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6" name="Google Shape;516;g3e7d980ada2_80_9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17" name="Google Shape;517;g3e7d980ada2_80_9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ORIENTEERING PROBLEM (OP)</a:t>
            </a:r>
            <a:endParaRPr sz="2800" b="1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518" name="Google Shape;518;g3e7d980ada2_80_9"/>
          <p:cNvGrpSpPr/>
          <p:nvPr/>
        </p:nvGrpSpPr>
        <p:grpSpPr>
          <a:xfrm>
            <a:off x="571500" y="2095500"/>
            <a:ext cx="6096000" cy="4286400"/>
            <a:chOff x="571500" y="2095500"/>
            <a:chExt cx="6096000" cy="4286400"/>
          </a:xfrm>
        </p:grpSpPr>
        <p:sp>
          <p:nvSpPr>
            <p:cNvPr id="519" name="Google Shape;519;g3e7d980ada2_80_9"/>
            <p:cNvSpPr/>
            <p:nvPr/>
          </p:nvSpPr>
          <p:spPr>
            <a:xfrm>
              <a:off x="571500" y="2095500"/>
              <a:ext cx="60960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0" name="Google Shape;520;g3e7d980ada2_80_9"/>
            <p:cNvSpPr/>
            <p:nvPr/>
          </p:nvSpPr>
          <p:spPr>
            <a:xfrm>
              <a:off x="571500" y="2095500"/>
              <a:ext cx="60960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1" name="Google Shape;521;g3e7d980ada2_80_9"/>
            <p:cNvSpPr txBox="1"/>
            <p:nvPr/>
          </p:nvSpPr>
          <p:spPr>
            <a:xfrm>
              <a:off x="809625" y="2095500"/>
              <a:ext cx="56199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&amp; Mục tiêu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22" name="Google Shape;522;g3e7d980ada2_80_9"/>
            <p:cNvSpPr txBox="1"/>
            <p:nvPr/>
          </p:nvSpPr>
          <p:spPr>
            <a:xfrm>
              <a:off x="809625" y="2762250"/>
              <a:ext cx="56199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OP là bài toán tối ưu hóa trong đó: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Có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 xuất phát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và kết thúc.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Tập các điểm có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giá trị/phần thưởng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7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Giới hạn bởi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ngân sách tối đa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(thời gian/quãng đường).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chính:</a:t>
              </a:r>
              <a:endParaRPr sz="1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 đa hóa tổng giá trị thu được mà không vượt quá ngân sách chi phí cho trước.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pic>
        <p:nvPicPr>
          <p:cNvPr id="523" name="Google Shape;523;g3e7d980ada2_80_9"/>
          <p:cNvPicPr preferRelativeResize="0"/>
          <p:nvPr/>
        </p:nvPicPr>
        <p:blipFill rotWithShape="1">
          <a:blip r:embed="rId3">
            <a:alphaModFix/>
          </a:blip>
          <a:srcRect t="27219" b="27219"/>
          <a:stretch/>
        </p:blipFill>
        <p:spPr>
          <a:xfrm>
            <a:off x="7286625" y="4476750"/>
            <a:ext cx="40959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g3e7d980ada2_80_9"/>
          <p:cNvSpPr/>
          <p:nvPr/>
        </p:nvSpPr>
        <p:spPr>
          <a:xfrm>
            <a:off x="7048500" y="2095500"/>
            <a:ext cx="4572000" cy="428640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5" name="Google Shape;525;g3e7d980ada2_80_9"/>
          <p:cNvSpPr/>
          <p:nvPr/>
        </p:nvSpPr>
        <p:spPr>
          <a:xfrm>
            <a:off x="7048500" y="2095500"/>
            <a:ext cx="4572000" cy="571500"/>
          </a:xfrm>
          <a:prstGeom prst="roundRect">
            <a:avLst>
              <a:gd name="adj" fmla="val 33333"/>
            </a:avLst>
          </a:prstGeom>
          <a:solidFill>
            <a:srgbClr val="4DDBF8">
              <a:alpha val="1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6" name="Google Shape;526;g3e7d980ada2_80_9"/>
          <p:cNvSpPr txBox="1"/>
          <p:nvPr/>
        </p:nvSpPr>
        <p:spPr>
          <a:xfrm>
            <a:off x="7286625" y="2095500"/>
            <a:ext cx="4095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008CBA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 dụ &amp; Đặc điểm</a:t>
            </a:r>
            <a:endParaRPr sz="2200" b="1">
              <a:solidFill>
                <a:srgbClr val="008CBA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27" name="Google Shape;527;g3e7d980ada2_80_9"/>
          <p:cNvSpPr txBox="1"/>
          <p:nvPr/>
        </p:nvSpPr>
        <p:spPr>
          <a:xfrm>
            <a:off x="7286625" y="2762250"/>
            <a:ext cx="4095900" cy="333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 dụ:</a:t>
            </a:r>
            <a:r>
              <a:rPr lang="en-US" sz="2000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Một du khách có 6 giờ tham quan, muốn ghé nhiều điểm nhất có thể.</a:t>
            </a:r>
            <a:endParaRPr sz="2000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Hướng tới mục tiêu giảm thiểu tổng chi phí di chuyển của toàn bộ đội xe.</a:t>
            </a:r>
            <a:endParaRPr sz="1800">
              <a:solidFill>
                <a:srgbClr val="666666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e7d980ada2_80_83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Google Shape;534;g3e7d980ada2_80_836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5" name="Google Shape;535;g3e7d980ada2_80_836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6" name="Google Shape;536;g3e7d980ada2_80_8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2E7D32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</p:txBody>
      </p:sp>
      <p:grpSp>
        <p:nvGrpSpPr>
          <p:cNvPr id="537" name="Google Shape;537;g3e7d980ada2_80_836"/>
          <p:cNvGrpSpPr/>
          <p:nvPr/>
        </p:nvGrpSpPr>
        <p:grpSpPr>
          <a:xfrm>
            <a:off x="571500" y="1257300"/>
            <a:ext cx="11049000" cy="4648201"/>
            <a:chOff x="571500" y="1333498"/>
            <a:chExt cx="11049000" cy="4572002"/>
          </a:xfrm>
        </p:grpSpPr>
        <p:sp>
          <p:nvSpPr>
            <p:cNvPr id="538" name="Google Shape;538;g3e7d980ada2_80_836"/>
            <p:cNvSpPr/>
            <p:nvPr/>
          </p:nvSpPr>
          <p:spPr>
            <a:xfrm>
              <a:off x="571500" y="1333500"/>
              <a:ext cx="11049000" cy="4572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9" name="Google Shape;539;g3e7d980ada2_80_836"/>
            <p:cNvSpPr/>
            <p:nvPr/>
          </p:nvSpPr>
          <p:spPr>
            <a:xfrm>
              <a:off x="571500" y="1333499"/>
              <a:ext cx="11049000" cy="736599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0" name="Google Shape;540;g3e7d980ada2_80_836"/>
            <p:cNvSpPr txBox="1"/>
            <p:nvPr/>
          </p:nvSpPr>
          <p:spPr>
            <a:xfrm>
              <a:off x="809625" y="1333498"/>
              <a:ext cx="10572900" cy="5715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MIN-MAX VEHICLE ROUTING (MMVRP)-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Sự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chuyển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dịch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sang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tiêu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Min-Max (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Makespan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)</a:t>
              </a:r>
              <a:endParaRPr sz="22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41" name="Google Shape;541;g3e7d980ada2_80_836"/>
            <p:cNvSpPr txBox="1"/>
            <p:nvPr/>
          </p:nvSpPr>
          <p:spPr>
            <a:xfrm>
              <a:off x="809625" y="2520950"/>
              <a:ext cx="6191400" cy="319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Mặc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dù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việc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giảm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tổng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chi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phí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rất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phổ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biến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,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nhưng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trong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vận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hành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thực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tế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,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thiểu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hóa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mục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tiêu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tự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nhiên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thiết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thực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hơn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Đặc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điểm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MMVRP (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Bài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toán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Bao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phủ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):</a:t>
              </a:r>
              <a:endParaRPr sz="17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Nhiều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xuất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phát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từ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kho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(depot).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Mỗi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khách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được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phục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vụ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đúng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một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lần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Mỗi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một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tuyến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quay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về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kho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Mục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tiêu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: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thiểu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hóa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quãng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đường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dài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nhất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trong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các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b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  <p:sp>
          <p:nvSpPr>
            <p:cNvPr id="542" name="Google Shape;542;g3e7d980ada2_80_836"/>
            <p:cNvSpPr/>
            <p:nvPr/>
          </p:nvSpPr>
          <p:spPr>
            <a:xfrm>
              <a:off x="7239000" y="2286000"/>
              <a:ext cx="4095900" cy="3333900"/>
            </a:xfrm>
            <a:prstGeom prst="roundRect">
              <a:avLst>
                <a:gd name="adj" fmla="val 4285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3" name="Google Shape;543;g3e7d980ada2_80_836"/>
            <p:cNvSpPr txBox="1"/>
            <p:nvPr/>
          </p:nvSpPr>
          <p:spPr>
            <a:xfrm>
              <a:off x="7429500" y="2286000"/>
              <a:ext cx="3714900" cy="314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Ví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dụ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minh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họa</a:t>
              </a:r>
              <a:endParaRPr sz="1700" b="1" i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Công ty </a:t>
              </a:r>
              <a:r>
                <a:rPr lang="en-US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có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2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6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khách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hàng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Phương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1:</a:t>
              </a:r>
              <a:endParaRPr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 1: 60 km | Xe 2: 20 km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 err="1">
                  <a:solidFill>
                    <a:srgbClr val="E53E3E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dirty="0">
                  <a:solidFill>
                    <a:srgbClr val="E53E3E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= 60 km</a:t>
              </a:r>
              <a:endParaRPr dirty="0">
                <a:solidFill>
                  <a:srgbClr val="E53E3E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Phương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2 (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ưu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):</a:t>
              </a:r>
              <a:endParaRPr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 1: 40 km | Xe 2: 38 km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= 40 km</a:t>
              </a:r>
              <a:endParaRPr b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Kết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luận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: Phương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2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hơn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vì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giảm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được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tải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trọng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cho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dài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nhất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300" i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0" name="Google Shape;550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2. VRPCC VỚI RÀNG BUỘC TƯƠNG THÍCH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cxnSp>
        <p:nvCxnSpPr>
          <p:cNvPr id="551" name="Google Shape;551;p6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52" name="Google Shape;552;p6"/>
          <p:cNvGrpSpPr/>
          <p:nvPr/>
        </p:nvGrpSpPr>
        <p:grpSpPr>
          <a:xfrm>
            <a:off x="571500" y="1238250"/>
            <a:ext cx="11049000" cy="952500"/>
            <a:chOff x="571500" y="1238250"/>
            <a:chExt cx="11049000" cy="952500"/>
          </a:xfrm>
        </p:grpSpPr>
        <p:sp>
          <p:nvSpPr>
            <p:cNvPr id="553" name="Google Shape;553;p6"/>
            <p:cNvSpPr/>
            <p:nvPr/>
          </p:nvSpPr>
          <p:spPr>
            <a:xfrm>
              <a:off x="571500" y="1238250"/>
              <a:ext cx="11049000" cy="952500"/>
            </a:xfrm>
            <a:prstGeom prst="roundRect">
              <a:avLst>
                <a:gd name="adj" fmla="val 15000"/>
              </a:avLst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4" name="Google Shape;554;p6"/>
            <p:cNvSpPr txBox="1"/>
            <p:nvPr/>
          </p:nvSpPr>
          <p:spPr>
            <a:xfrm>
              <a:off x="762000" y="1238250"/>
              <a:ext cx="10668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i="1">
                  <a:solidFill>
                    <a:srgbClr val="1B5E2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Từ nền tảng trên, bài báo tập trung vào việc nghiên cứu một biến thể phức tạp hơn nhằm lấp đầy khoảng trống học thuật: Bài toán định tuyến nhiều phương tiện với mục tiêu tối thiểu hóa makespan và có thêm ràng buộc tương thích.</a:t>
              </a:r>
              <a:endParaRPr sz="1800" i="1">
                <a:solidFill>
                  <a:srgbClr val="1B5E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55" name="Google Shape;555;p6"/>
          <p:cNvGrpSpPr/>
          <p:nvPr/>
        </p:nvGrpSpPr>
        <p:grpSpPr>
          <a:xfrm>
            <a:off x="571500" y="2381250"/>
            <a:ext cx="5381700" cy="4000500"/>
            <a:chOff x="571500" y="2381250"/>
            <a:chExt cx="5381700" cy="4000500"/>
          </a:xfrm>
        </p:grpSpPr>
        <p:sp>
          <p:nvSpPr>
            <p:cNvPr id="556" name="Google Shape;556;p6"/>
            <p:cNvSpPr/>
            <p:nvPr/>
          </p:nvSpPr>
          <p:spPr>
            <a:xfrm>
              <a:off x="571500" y="2381250"/>
              <a:ext cx="5381700" cy="4000500"/>
            </a:xfrm>
            <a:prstGeom prst="roundRect">
              <a:avLst>
                <a:gd name="adj" fmla="val 4761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571500" y="238125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8" name="Google Shape;558;p6"/>
            <p:cNvSpPr txBox="1"/>
            <p:nvPr/>
          </p:nvSpPr>
          <p:spPr>
            <a:xfrm>
              <a:off x="809625" y="2381250"/>
              <a:ext cx="4905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VRPCC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59" name="Google Shape;559;p6"/>
            <p:cNvSpPr txBox="1"/>
            <p:nvPr/>
          </p:nvSpPr>
          <p:spPr>
            <a:xfrm>
              <a:off x="809625" y="3048000"/>
              <a:ext cx="4905300" cy="314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định tuyến nhiều xe trên một đồ thị, trong đó: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khách hàng phải được phục vụ đúng một lần.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xe chỉ phục vụ một tập con khách hàng nhất định </a:t>
              </a: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(ràng buộc tương thích)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xe xuất phát và quay về depot.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60" name="Google Shape;560;p6"/>
          <p:cNvGrpSpPr/>
          <p:nvPr/>
        </p:nvGrpSpPr>
        <p:grpSpPr>
          <a:xfrm>
            <a:off x="6238875" y="2381250"/>
            <a:ext cx="5381700" cy="1809600"/>
            <a:chOff x="6238875" y="2381250"/>
            <a:chExt cx="5381700" cy="1809600"/>
          </a:xfrm>
        </p:grpSpPr>
        <p:sp>
          <p:nvSpPr>
            <p:cNvPr id="561" name="Google Shape;561;p6"/>
            <p:cNvSpPr/>
            <p:nvPr/>
          </p:nvSpPr>
          <p:spPr>
            <a:xfrm>
              <a:off x="6238875" y="2381250"/>
              <a:ext cx="5381700" cy="180960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2" name="Google Shape;562;p6"/>
            <p:cNvSpPr/>
            <p:nvPr/>
          </p:nvSpPr>
          <p:spPr>
            <a:xfrm>
              <a:off x="6238875" y="238125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1976D2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3" name="Google Shape;563;p6"/>
            <p:cNvSpPr txBox="1"/>
            <p:nvPr/>
          </p:nvSpPr>
          <p:spPr>
            <a:xfrm>
              <a:off x="6477000" y="2381250"/>
              <a:ext cx="4905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1976D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tối ưu</a:t>
              </a:r>
              <a:endParaRPr sz="2200" b="1">
                <a:solidFill>
                  <a:srgbClr val="1976D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64" name="Google Shape;564;p6"/>
            <p:cNvSpPr txBox="1"/>
            <p:nvPr/>
          </p:nvSpPr>
          <p:spPr>
            <a:xfrm>
              <a:off x="6477000" y="3048000"/>
              <a:ext cx="4905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 thiểu hóa tuyến dài nhất </a:t>
              </a:r>
              <a:r>
                <a:rPr lang="en-US" sz="1800" b="1">
                  <a:solidFill>
                    <a:srgbClr val="1976D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(makespan)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nhằm đạt được sự cân bằng tải giữa các phương tiện.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65" name="Google Shape;565;p6"/>
          <p:cNvGrpSpPr/>
          <p:nvPr/>
        </p:nvGrpSpPr>
        <p:grpSpPr>
          <a:xfrm>
            <a:off x="6238875" y="4381500"/>
            <a:ext cx="5381700" cy="2000100"/>
            <a:chOff x="6238875" y="4381500"/>
            <a:chExt cx="5381700" cy="2000100"/>
          </a:xfrm>
        </p:grpSpPr>
        <p:sp>
          <p:nvSpPr>
            <p:cNvPr id="566" name="Google Shape;566;p6"/>
            <p:cNvSpPr/>
            <p:nvPr/>
          </p:nvSpPr>
          <p:spPr>
            <a:xfrm>
              <a:off x="6238875" y="4381500"/>
              <a:ext cx="5381700" cy="2000100"/>
            </a:xfrm>
            <a:prstGeom prst="roundRect">
              <a:avLst>
                <a:gd name="adj" fmla="val 9523"/>
              </a:avLst>
            </a:prstGeom>
            <a:solidFill>
              <a:srgbClr val="F1F5F9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67" name="Google Shape;567;p6" descr="A professional clean 3D illustration of vehicle routing with colored lines connecting a central depot to various customer nodes, emphasizing constrained paths and balanced routes, high-quality corporate style."/>
            <p:cNvPicPr preferRelativeResize="0"/>
            <p:nvPr/>
          </p:nvPicPr>
          <p:blipFill rotWithShape="1">
            <a:blip r:embed="rId4">
              <a:alphaModFix/>
            </a:blip>
            <a:srcRect t="16962" b="16962"/>
            <a:stretch/>
          </p:blipFill>
          <p:spPr>
            <a:xfrm>
              <a:off x="6238875" y="4381500"/>
              <a:ext cx="5381700" cy="2000100"/>
            </a:xfrm>
            <a:prstGeom prst="roundRect">
              <a:avLst>
                <a:gd name="adj" fmla="val 9523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4" name="Google Shape;574;p7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2. VRPCC VỚI RÀNG BUỘC TƯƠNG THÍCH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75" name="Google Shape;575;p7"/>
          <p:cNvSpPr txBox="1"/>
          <p:nvPr/>
        </p:nvSpPr>
        <p:spPr>
          <a:xfrm>
            <a:off x="809514" y="1505666"/>
            <a:ext cx="5720378" cy="424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</a:t>
            </a:r>
            <a:r>
              <a:rPr lang="en-US" sz="2000" b="1" i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i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dụ</a:t>
            </a:r>
            <a:r>
              <a:rPr lang="en-US" sz="2000" b="1" i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công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ty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có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1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, 2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, 4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. Trong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đó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 1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chỉ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A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B. Xe 2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chỉ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C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Yêu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cầu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Mỗi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được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đúng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lần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Xe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phải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từ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quay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về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Phân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tuyến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sao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quãng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đường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dài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nhất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của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hai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là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nhỏ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nhất</a:t>
            </a: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576" name="Google Shape;576;p7"/>
          <p:cNvGrpSpPr/>
          <p:nvPr/>
        </p:nvGrpSpPr>
        <p:grpSpPr>
          <a:xfrm>
            <a:off x="6659177" y="1320037"/>
            <a:ext cx="4522756" cy="4522756"/>
            <a:chOff x="3734134" y="1299701"/>
            <a:chExt cx="4522756" cy="4522756"/>
          </a:xfrm>
        </p:grpSpPr>
        <p:grpSp>
          <p:nvGrpSpPr>
            <p:cNvPr id="577" name="Google Shape;577;p7"/>
            <p:cNvGrpSpPr/>
            <p:nvPr/>
          </p:nvGrpSpPr>
          <p:grpSpPr>
            <a:xfrm>
              <a:off x="3734134" y="1299701"/>
              <a:ext cx="4522756" cy="4522756"/>
              <a:chOff x="3799062" y="1299702"/>
              <a:chExt cx="4522756" cy="4522756"/>
            </a:xfrm>
          </p:grpSpPr>
          <p:sp>
            <p:nvSpPr>
              <p:cNvPr id="578" name="Google Shape;578;p7"/>
              <p:cNvSpPr/>
              <p:nvPr/>
            </p:nvSpPr>
            <p:spPr>
              <a:xfrm rot="1020000">
                <a:off x="4249420" y="1750060"/>
                <a:ext cx="3622040" cy="3622040"/>
              </a:xfrm>
              <a:prstGeom prst="ellipse">
                <a:avLst/>
              </a:prstGeom>
              <a:noFill/>
              <a:ln w="952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79" name="Google Shape;579;p7"/>
              <p:cNvSpPr/>
              <p:nvPr/>
            </p:nvSpPr>
            <p:spPr>
              <a:xfrm rot="10800000">
                <a:off x="4471035" y="1973580"/>
                <a:ext cx="3175000" cy="3175000"/>
              </a:xfrm>
              <a:prstGeom prst="ellipse">
                <a:avLst/>
              </a:prstGeom>
              <a:noFill/>
              <a:ln w="7620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80" name="Google Shape;580;p7"/>
              <p:cNvSpPr/>
              <p:nvPr/>
            </p:nvSpPr>
            <p:spPr>
              <a:xfrm>
                <a:off x="5019675" y="2506980"/>
                <a:ext cx="2242187" cy="2011680"/>
              </a:xfrm>
              <a:prstGeom prst="ellipse">
                <a:avLst/>
              </a:prstGeom>
              <a:gradFill>
                <a:gsLst>
                  <a:gs pos="0">
                    <a:srgbClr val="B1BBCB"/>
                  </a:gs>
                  <a:gs pos="85000">
                    <a:schemeClr val="accent1"/>
                  </a:gs>
                  <a:gs pos="100000">
                    <a:schemeClr val="accent1"/>
                  </a:gs>
                </a:gsLst>
                <a:lin ang="2700000" scaled="0"/>
              </a:gradFill>
              <a:ln>
                <a:noFill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chemeClr val="lt1"/>
                    </a:solidFill>
                    <a:latin typeface="Times New Roman" panose="02020603050405020304" pitchFamily="18" charset="0"/>
                    <a:ea typeface="Inter Black"/>
                    <a:cs typeface="Times New Roman" panose="02020603050405020304" pitchFamily="18" charset="0"/>
                    <a:sym typeface="Inter Black"/>
                  </a:rPr>
                  <a:t>VRPCC</a:t>
                </a:r>
                <a:endParaRPr sz="3200">
                  <a:solidFill>
                    <a:schemeClr val="lt1"/>
                  </a:solidFill>
                  <a:latin typeface="Times New Roman" panose="02020603050405020304" pitchFamily="18" charset="0"/>
                  <a:ea typeface="Inter Black"/>
                  <a:cs typeface="Times New Roman" panose="02020603050405020304" pitchFamily="18" charset="0"/>
                  <a:sym typeface="Inter Black"/>
                </a:endParaRPr>
              </a:p>
            </p:txBody>
          </p:sp>
          <p:grpSp>
            <p:nvGrpSpPr>
              <p:cNvPr id="581" name="Google Shape;581;p7"/>
              <p:cNvGrpSpPr/>
              <p:nvPr/>
            </p:nvGrpSpPr>
            <p:grpSpPr>
              <a:xfrm>
                <a:off x="4625340" y="2202815"/>
                <a:ext cx="2805430" cy="2716530"/>
                <a:chOff x="3907790" y="2007432"/>
                <a:chExt cx="3854131" cy="3627565"/>
              </a:xfrm>
            </p:grpSpPr>
            <p:sp>
              <p:nvSpPr>
                <p:cNvPr id="582" name="Google Shape;582;p7"/>
                <p:cNvSpPr/>
                <p:nvPr/>
              </p:nvSpPr>
              <p:spPr>
                <a:xfrm rot="10800000">
                  <a:off x="3984739" y="2007432"/>
                  <a:ext cx="3777182" cy="3627565"/>
                </a:xfrm>
                <a:prstGeom prst="blockArc">
                  <a:avLst>
                    <a:gd name="adj1" fmla="val 34484"/>
                    <a:gd name="adj2" fmla="val 10794548"/>
                    <a:gd name="adj3" fmla="val 922"/>
                  </a:avLst>
                </a:prstGeom>
                <a:gradFill>
                  <a:gsLst>
                    <a:gs pos="0">
                      <a:srgbClr val="F5F9FC">
                        <a:alpha val="0"/>
                      </a:srgbClr>
                    </a:gs>
                    <a:gs pos="53000">
                      <a:srgbClr val="CAD1DC"/>
                    </a:gs>
                    <a:gs pos="85000">
                      <a:srgbClr val="BED7EC"/>
                    </a:gs>
                    <a:gs pos="100000">
                      <a:srgbClr val="BED7EC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Times New Roman" panose="02020603050405020304" pitchFamily="18" charset="0"/>
                    <a:ea typeface="Calibri"/>
                    <a:cs typeface="Times New Roman" panose="02020603050405020304" pitchFamily="18" charset="0"/>
                    <a:sym typeface="Calibri"/>
                  </a:endParaRPr>
                </a:p>
              </p:txBody>
            </p:sp>
            <p:sp>
              <p:nvSpPr>
                <p:cNvPr id="583" name="Google Shape;583;p7"/>
                <p:cNvSpPr/>
                <p:nvPr/>
              </p:nvSpPr>
              <p:spPr>
                <a:xfrm rot="10800000">
                  <a:off x="3907790" y="3739621"/>
                  <a:ext cx="197107" cy="16319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Times New Roman" panose="02020603050405020304" pitchFamily="18" charset="0"/>
                    <a:ea typeface="Calibri"/>
                    <a:cs typeface="Times New Roman" panose="02020603050405020304" pitchFamily="18" charset="0"/>
                    <a:sym typeface="Calibri"/>
                  </a:endParaRPr>
                </a:p>
              </p:txBody>
            </p:sp>
          </p:grpSp>
        </p:grpSp>
        <p:grpSp>
          <p:nvGrpSpPr>
            <p:cNvPr id="584" name="Google Shape;584;p7"/>
            <p:cNvGrpSpPr/>
            <p:nvPr/>
          </p:nvGrpSpPr>
          <p:grpSpPr>
            <a:xfrm rot="10800000">
              <a:off x="4688840" y="2202815"/>
              <a:ext cx="2805430" cy="2716530"/>
              <a:chOff x="3907790" y="2007432"/>
              <a:chExt cx="3854130" cy="3627565"/>
            </a:xfrm>
          </p:grpSpPr>
          <p:sp>
            <p:nvSpPr>
              <p:cNvPr id="585" name="Google Shape;585;p7"/>
              <p:cNvSpPr/>
              <p:nvPr/>
            </p:nvSpPr>
            <p:spPr>
              <a:xfrm rot="10800000">
                <a:off x="3984738" y="2007432"/>
                <a:ext cx="3777182" cy="3627565"/>
              </a:xfrm>
              <a:prstGeom prst="blockArc">
                <a:avLst>
                  <a:gd name="adj1" fmla="val 34484"/>
                  <a:gd name="adj2" fmla="val 10794548"/>
                  <a:gd name="adj3" fmla="val 922"/>
                </a:avLst>
              </a:prstGeom>
              <a:gradFill>
                <a:gsLst>
                  <a:gs pos="0">
                    <a:srgbClr val="9FC3E3"/>
                  </a:gs>
                  <a:gs pos="26000">
                    <a:srgbClr val="9FC3E3"/>
                  </a:gs>
                  <a:gs pos="53000">
                    <a:srgbClr val="CAD1DC"/>
                  </a:gs>
                  <a:gs pos="100000">
                    <a:srgbClr val="F5F9FC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86" name="Google Shape;586;p7"/>
              <p:cNvSpPr/>
              <p:nvPr/>
            </p:nvSpPr>
            <p:spPr>
              <a:xfrm rot="10800000">
                <a:off x="3907790" y="3739621"/>
                <a:ext cx="197107" cy="163190"/>
              </a:xfrm>
              <a:prstGeom prst="triangle">
                <a:avLst>
                  <a:gd name="adj" fmla="val 50000"/>
                </a:avLst>
              </a:prstGeom>
              <a:gradFill>
                <a:gsLst>
                  <a:gs pos="0">
                    <a:srgbClr val="9FC3E3"/>
                  </a:gs>
                  <a:gs pos="26000">
                    <a:srgbClr val="9FC3E3"/>
                  </a:gs>
                  <a:gs pos="53000">
                    <a:srgbClr val="CAD1DC"/>
                  </a:gs>
                  <a:gs pos="100000">
                    <a:srgbClr val="F5F9FC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3" name="Google Shape;593;p8"/>
          <p:cNvGrpSpPr/>
          <p:nvPr/>
        </p:nvGrpSpPr>
        <p:grpSpPr>
          <a:xfrm>
            <a:off x="0" y="0"/>
            <a:ext cx="12192000" cy="952500"/>
            <a:chOff x="0" y="0"/>
            <a:chExt cx="12192000" cy="952500"/>
          </a:xfrm>
        </p:grpSpPr>
        <p:sp>
          <p:nvSpPr>
            <p:cNvPr id="594" name="Google Shape;594;p8"/>
            <p:cNvSpPr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95" name="Google Shape;595;p8"/>
            <p:cNvCxnSpPr/>
            <p:nvPr/>
          </p:nvCxnSpPr>
          <p:spPr>
            <a:xfrm>
              <a:off x="0" y="952500"/>
              <a:ext cx="12192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96" name="Google Shape;596;p8"/>
            <p:cNvSpPr txBox="1"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2. VRPCC VỚI RÀNG BUỘC TƯƠNG THÍCH</a:t>
              </a:r>
              <a:endParaRPr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97" name="Google Shape;597;p8"/>
          <p:cNvGrpSpPr/>
          <p:nvPr/>
        </p:nvGrpSpPr>
        <p:grpSpPr>
          <a:xfrm>
            <a:off x="571500" y="1333500"/>
            <a:ext cx="5334000" cy="4953000"/>
            <a:chOff x="571500" y="1333500"/>
            <a:chExt cx="5334000" cy="4953000"/>
          </a:xfrm>
        </p:grpSpPr>
        <p:sp>
          <p:nvSpPr>
            <p:cNvPr id="598" name="Google Shape;598;p8"/>
            <p:cNvSpPr/>
            <p:nvPr/>
          </p:nvSpPr>
          <p:spPr>
            <a:xfrm>
              <a:off x="571500" y="1333500"/>
              <a:ext cx="5334000" cy="49530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9" name="Google Shape;599;p8"/>
            <p:cNvSpPr/>
            <p:nvPr/>
          </p:nvSpPr>
          <p:spPr>
            <a:xfrm>
              <a:off x="571500" y="1333500"/>
              <a:ext cx="53340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0" name="Google Shape;600;p8"/>
            <p:cNvSpPr txBox="1"/>
            <p:nvPr/>
          </p:nvSpPr>
          <p:spPr>
            <a:xfrm>
              <a:off x="762000" y="1333500"/>
              <a:ext cx="49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toán học MIP</a:t>
              </a:r>
              <a:endParaRPr sz="24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01" name="Google Shape;601;p8"/>
            <p:cNvSpPr txBox="1"/>
            <p:nvPr/>
          </p:nvSpPr>
          <p:spPr>
            <a:xfrm>
              <a:off x="762000" y="2000250"/>
              <a:ext cx="4953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00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Quy hoạch nguyên hỗn hợp</a:t>
              </a:r>
              <a:endParaRPr sz="18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Biến: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xᵢⱼₖ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 xe k đi từ i → j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uᵢₖ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 tương thích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Ràng buộc: </a:t>
              </a:r>
              <a:r>
                <a:rPr lang="en-US" sz="1800" b="1">
                  <a:solidFill>
                    <a:srgbClr val="C62828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Subtour Elimination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602" name="Google Shape;602;p8"/>
            <p:cNvPicPr preferRelativeResize="0"/>
            <p:nvPr/>
          </p:nvPicPr>
          <p:blipFill rotWithShape="1">
            <a:blip r:embed="rId4">
              <a:alphaModFix/>
            </a:blip>
            <a:srcRect t="10649" b="10649"/>
            <a:stretch/>
          </p:blipFill>
          <p:spPr>
            <a:xfrm>
              <a:off x="762000" y="3905250"/>
              <a:ext cx="4953000" cy="2190900"/>
            </a:xfrm>
            <a:prstGeom prst="roundRect">
              <a:avLst>
                <a:gd name="adj" fmla="val 4347"/>
              </a:avLst>
            </a:prstGeom>
            <a:noFill/>
            <a:ln>
              <a:noFill/>
            </a:ln>
          </p:spPr>
        </p:pic>
      </p:grpSp>
      <p:grpSp>
        <p:nvGrpSpPr>
          <p:cNvPr id="603" name="Google Shape;603;p8"/>
          <p:cNvGrpSpPr/>
          <p:nvPr/>
        </p:nvGrpSpPr>
        <p:grpSpPr>
          <a:xfrm>
            <a:off x="6286500" y="1333500"/>
            <a:ext cx="5334000" cy="4953000"/>
            <a:chOff x="6286500" y="1333500"/>
            <a:chExt cx="5334000" cy="4953000"/>
          </a:xfrm>
        </p:grpSpPr>
        <p:sp>
          <p:nvSpPr>
            <p:cNvPr id="604" name="Google Shape;604;p8"/>
            <p:cNvSpPr/>
            <p:nvPr/>
          </p:nvSpPr>
          <p:spPr>
            <a:xfrm>
              <a:off x="6286500" y="1333500"/>
              <a:ext cx="5334000" cy="49530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Google Shape;605;p8"/>
            <p:cNvSpPr/>
            <p:nvPr/>
          </p:nvSpPr>
          <p:spPr>
            <a:xfrm>
              <a:off x="6286500" y="1333500"/>
              <a:ext cx="5334000" cy="571500"/>
            </a:xfrm>
            <a:prstGeom prst="roundRect">
              <a:avLst>
                <a:gd name="adj" fmla="val 33333"/>
              </a:avLst>
            </a:prstGeom>
            <a:solidFill>
              <a:srgbClr val="C62828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6" name="Google Shape;606;p8"/>
            <p:cNvSpPr txBox="1"/>
            <p:nvPr/>
          </p:nvSpPr>
          <p:spPr>
            <a:xfrm>
              <a:off x="6477000" y="1333500"/>
              <a:ext cx="49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C62828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Hạn chế của MIP</a:t>
              </a:r>
              <a:endParaRPr sz="2400" b="1">
                <a:solidFill>
                  <a:srgbClr val="C62828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07" name="Google Shape;607;p8"/>
            <p:cNvSpPr txBox="1"/>
            <p:nvPr/>
          </p:nvSpPr>
          <p:spPr>
            <a:xfrm>
              <a:off x="6477000" y="2000250"/>
              <a:ext cx="4953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457200" lvl="0" indent="-342900" algn="l" rtl="0">
                <a:spcBef>
                  <a:spcPts val="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Số ràng buộc </a:t>
              </a: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cực lớn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Tăng theo </a:t>
              </a: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cấp số nhân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Không giải được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bài toán quy mô lớn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C62828"/>
                  </a:solidFill>
                  <a:highlight>
                    <a:srgbClr val="FFF3F3"/>
                  </a:highlight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=&gt; Cần tìm kiếm giải pháp khác hiệu quả hơn</a:t>
              </a:r>
              <a:endParaRPr sz="1800" b="1">
                <a:solidFill>
                  <a:srgbClr val="C62828"/>
                </a:solidFill>
                <a:highlight>
                  <a:srgbClr val="FFF3F3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608" name="Google Shape;608;p8"/>
            <p:cNvPicPr preferRelativeResize="0"/>
            <p:nvPr/>
          </p:nvPicPr>
          <p:blipFill rotWithShape="1">
            <a:blip r:embed="rId5">
              <a:alphaModFix/>
            </a:blip>
            <a:srcRect t="13737" b="13737"/>
            <a:stretch/>
          </p:blipFill>
          <p:spPr>
            <a:xfrm>
              <a:off x="6477000" y="3905250"/>
              <a:ext cx="4953000" cy="2190900"/>
            </a:xfrm>
            <a:prstGeom prst="roundRect">
              <a:avLst>
                <a:gd name="adj" fmla="val 4347"/>
              </a:avLst>
            </a:prstGeom>
            <a:noFill/>
            <a:ln>
              <a:noFill/>
            </a:ln>
          </p:spPr>
        </p:pic>
      </p:grpSp>
      <p:sp>
        <p:nvSpPr>
          <p:cNvPr id="609" name="Google Shape;609;p8"/>
          <p:cNvSpPr txBox="1"/>
          <p:nvPr/>
        </p:nvSpPr>
        <p:spPr>
          <a:xfrm>
            <a:off x="10953750" y="6477000"/>
            <a:ext cx="9525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99999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8</a:t>
            </a:r>
            <a:endParaRPr sz="1200">
              <a:solidFill>
                <a:srgbClr val="999999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5" name="Google Shape;615;p9"/>
          <p:cNvGrpSpPr/>
          <p:nvPr/>
        </p:nvGrpSpPr>
        <p:grpSpPr>
          <a:xfrm>
            <a:off x="0" y="0"/>
            <a:ext cx="12192000" cy="952500"/>
            <a:chOff x="0" y="0"/>
            <a:chExt cx="12192000" cy="952500"/>
          </a:xfrm>
        </p:grpSpPr>
        <p:sp>
          <p:nvSpPr>
            <p:cNvPr id="616" name="Google Shape;616;p9"/>
            <p:cNvSpPr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7" name="Google Shape;617;p9"/>
            <p:cNvSpPr txBox="1"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3. THUẬT TOÁN ĐỀ XUẤT</a:t>
              </a:r>
              <a:endParaRPr sz="3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cxnSp>
          <p:nvCxnSpPr>
            <p:cNvPr id="618" name="Google Shape;618;p9"/>
            <p:cNvCxnSpPr/>
            <p:nvPr/>
          </p:nvCxnSpPr>
          <p:spPr>
            <a:xfrm>
              <a:off x="952500" y="952500"/>
              <a:ext cx="10287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19" name="Google Shape;619;p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20" name="Google Shape;620;p9"/>
          <p:cNvGrpSpPr/>
          <p:nvPr/>
        </p:nvGrpSpPr>
        <p:grpSpPr>
          <a:xfrm>
            <a:off x="952500" y="1428750"/>
            <a:ext cx="3048000" cy="4572000"/>
            <a:chOff x="952500" y="1428750"/>
            <a:chExt cx="3048000" cy="4572000"/>
          </a:xfrm>
        </p:grpSpPr>
        <p:sp>
          <p:nvSpPr>
            <p:cNvPr id="621" name="Google Shape;621;p9"/>
            <p:cNvSpPr/>
            <p:nvPr/>
          </p:nvSpPr>
          <p:spPr>
            <a:xfrm>
              <a:off x="9525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E8F5E9"/>
            </a:solidFill>
            <a:ln w="9525" cap="flat" cmpd="sng">
              <a:solidFill>
                <a:srgbClr val="C8E6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2" name="Google Shape;622;p9"/>
            <p:cNvSpPr txBox="1"/>
            <p:nvPr/>
          </p:nvSpPr>
          <p:spPr>
            <a:xfrm>
              <a:off x="11430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1: KHỞI TẠO</a:t>
              </a:r>
              <a:endParaRPr sz="2200" b="1">
                <a:solidFill>
                  <a:srgbClr val="2E7D3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23" name="Google Shape;623;p9"/>
            <p:cNvSpPr txBox="1"/>
            <p:nvPr/>
          </p:nvSpPr>
          <p:spPr>
            <a:xfrm>
              <a:off x="11430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Bắt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đầu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với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một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"</a:t>
              </a:r>
              <a:r>
                <a:rPr lang="en-US" sz="20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phỏng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đoán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" B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về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ưu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0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này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được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kiểm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chứng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thông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qua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chế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Binary Search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(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kiếm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phân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).</a:t>
              </a:r>
              <a:endParaRPr sz="20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24" name="Google Shape;624;p9"/>
          <p:cNvGrpSpPr/>
          <p:nvPr/>
        </p:nvGrpSpPr>
        <p:grpSpPr>
          <a:xfrm>
            <a:off x="4572000" y="1428750"/>
            <a:ext cx="3048000" cy="4572000"/>
            <a:chOff x="4572000" y="1428750"/>
            <a:chExt cx="3048000" cy="4572000"/>
          </a:xfrm>
        </p:grpSpPr>
        <p:sp>
          <p:nvSpPr>
            <p:cNvPr id="625" name="Google Shape;625;p9"/>
            <p:cNvSpPr/>
            <p:nvPr/>
          </p:nvSpPr>
          <p:spPr>
            <a:xfrm>
              <a:off x="45720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E3F2FD"/>
            </a:solidFill>
            <a:ln w="9525" cap="flat" cmpd="sng">
              <a:solidFill>
                <a:srgbClr val="BBDE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6" name="Google Shape;626;p9"/>
            <p:cNvSpPr txBox="1"/>
            <p:nvPr/>
          </p:nvSpPr>
          <p:spPr>
            <a:xfrm>
              <a:off x="47625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1565C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2: TỐI ƯU HÓA</a:t>
              </a:r>
              <a:endParaRPr sz="2000" b="1">
                <a:solidFill>
                  <a:srgbClr val="1565C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27" name="Google Shape;627;p9"/>
            <p:cNvSpPr txBox="1"/>
            <p:nvPr/>
          </p:nvSpPr>
          <p:spPr>
            <a:xfrm>
              <a:off x="47625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Thực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hiện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Greedy Search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(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kiếm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tham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lam)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để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chọn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tuyến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đường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cho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mỗi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phương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tiện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1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Mục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tiêu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: Bao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phủ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số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lượng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nút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mới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1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đa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trong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mỗi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lần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lặp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1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28" name="Google Shape;628;p9"/>
          <p:cNvGrpSpPr/>
          <p:nvPr/>
        </p:nvGrpSpPr>
        <p:grpSpPr>
          <a:xfrm>
            <a:off x="8191500" y="1428750"/>
            <a:ext cx="3048000" cy="4572000"/>
            <a:chOff x="8191500" y="1428750"/>
            <a:chExt cx="3048000" cy="4572000"/>
          </a:xfrm>
        </p:grpSpPr>
        <p:sp>
          <p:nvSpPr>
            <p:cNvPr id="629" name="Google Shape;629;p9"/>
            <p:cNvSpPr/>
            <p:nvPr/>
          </p:nvSpPr>
          <p:spPr>
            <a:xfrm>
              <a:off x="81915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FFF3E0"/>
            </a:solidFill>
            <a:ln w="9525" cap="flat" cmpd="sng">
              <a:solidFill>
                <a:srgbClr val="FFE0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0" name="Google Shape;630;p9"/>
            <p:cNvSpPr txBox="1"/>
            <p:nvPr/>
          </p:nvSpPr>
          <p:spPr>
            <a:xfrm>
              <a:off x="83820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>
                  <a:solidFill>
                    <a:srgbClr val="E651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3: KẾT THÚC</a:t>
              </a:r>
              <a:endParaRPr sz="2100" b="1">
                <a:solidFill>
                  <a:srgbClr val="E651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31" name="Google Shape;631;p9"/>
            <p:cNvSpPr txBox="1"/>
            <p:nvPr/>
          </p:nvSpPr>
          <p:spPr>
            <a:xfrm>
              <a:off x="83820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Lặp lại</a:t>
              </a: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toàn bộ quá trình.</a:t>
              </a:r>
              <a:endParaRPr sz="210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Thuật toán dừng lại khi </a:t>
              </a:r>
              <a:r>
                <a:rPr lang="en-US" sz="2100" b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tất cả các nút</a:t>
              </a: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đã được bao phủ hoàn toàn</a:t>
              </a: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32" name="Google Shape;632;p9"/>
          <p:cNvGrpSpPr/>
          <p:nvPr/>
        </p:nvGrpSpPr>
        <p:grpSpPr>
          <a:xfrm>
            <a:off x="4000500" y="3609975"/>
            <a:ext cx="4119600" cy="209700"/>
            <a:chOff x="4000500" y="3609975"/>
            <a:chExt cx="4119600" cy="209700"/>
          </a:xfrm>
        </p:grpSpPr>
        <p:pic>
          <p:nvPicPr>
            <p:cNvPr id="633" name="Google Shape;633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000500" y="3609975"/>
              <a:ext cx="500100" cy="209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620000" y="3609975"/>
              <a:ext cx="500100" cy="209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35" name="Google Shape;635;p9"/>
          <p:cNvSpPr txBox="1"/>
          <p:nvPr/>
        </p:nvSpPr>
        <p:spPr>
          <a:xfrm>
            <a:off x="10953750" y="6477000"/>
            <a:ext cx="9525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9999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</a:t>
            </a:r>
            <a:endParaRPr sz="1000">
              <a:solidFill>
                <a:srgbClr val="99999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2" name="Google Shape;642;p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3" name="Google Shape;643;p10"/>
          <p:cNvSpPr txBox="1"/>
          <p:nvPr/>
        </p:nvSpPr>
        <p:spPr>
          <a:xfrm>
            <a:off x="614253" y="1447464"/>
            <a:ext cx="8461167" cy="461305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793" r="-129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 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44" name="Google Shape;644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67627" y="2431608"/>
            <a:ext cx="3124373" cy="186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1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1" name="Google Shape;651;p1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2" name="Google Shape;652;p11"/>
          <p:cNvSpPr txBox="1"/>
          <p:nvPr/>
        </p:nvSpPr>
        <p:spPr>
          <a:xfrm>
            <a:off x="739302" y="1580005"/>
            <a:ext cx="10843098" cy="424904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450" b="-1291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 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53" name="Google Shape;653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93535" y="3821550"/>
            <a:ext cx="142895" cy="342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11"/>
          <p:cNvPicPr preferRelativeResize="0"/>
          <p:nvPr/>
        </p:nvPicPr>
        <p:blipFill rotWithShape="1">
          <a:blip r:embed="rId5">
            <a:alphaModFix/>
          </a:blip>
          <a:srcRect l="15780" r="11708"/>
          <a:stretch/>
        </p:blipFill>
        <p:spPr>
          <a:xfrm>
            <a:off x="2806781" y="3720720"/>
            <a:ext cx="1347171" cy="638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1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13630" y="3873945"/>
            <a:ext cx="276264" cy="2381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62" name="Google Shape;662;p12"/>
          <p:cNvPicPr preferRelativeResize="0"/>
          <p:nvPr/>
        </p:nvPicPr>
        <p:blipFill rotWithShape="1">
          <a:blip r:embed="rId3">
            <a:alphaModFix/>
          </a:blip>
          <a:srcRect t="3003"/>
          <a:stretch/>
        </p:blipFill>
        <p:spPr>
          <a:xfrm>
            <a:off x="1576777" y="2093007"/>
            <a:ext cx="8733083" cy="3113946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12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3"/>
          <p:cNvSpPr/>
          <p:nvPr/>
        </p:nvSpPr>
        <p:spPr>
          <a:xfrm>
            <a:off x="714375" y="952500"/>
            <a:ext cx="107634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0" name="Google Shape;670;p1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Google Shape;671;p13"/>
          <p:cNvSpPr txBox="1">
            <a:spLocks noGrp="1"/>
          </p:cNvSpPr>
          <p:nvPr>
            <p:ph type="title"/>
          </p:nvPr>
        </p:nvSpPr>
        <p:spPr>
          <a:xfrm>
            <a:off x="714375" y="190500"/>
            <a:ext cx="10763400" cy="7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6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672" name="Google Shape;672;p13"/>
          <p:cNvGrpSpPr/>
          <p:nvPr/>
        </p:nvGrpSpPr>
        <p:grpSpPr>
          <a:xfrm>
            <a:off x="714375" y="1333500"/>
            <a:ext cx="5238900" cy="1905000"/>
            <a:chOff x="714375" y="1333500"/>
            <a:chExt cx="5238900" cy="1905000"/>
          </a:xfrm>
        </p:grpSpPr>
        <p:sp>
          <p:nvSpPr>
            <p:cNvPr id="673" name="Google Shape;673;p13"/>
            <p:cNvSpPr/>
            <p:nvPr/>
          </p:nvSpPr>
          <p:spPr>
            <a:xfrm>
              <a:off x="714375" y="1333500"/>
              <a:ext cx="5238900" cy="1905000"/>
            </a:xfrm>
            <a:prstGeom prst="roundRect">
              <a:avLst>
                <a:gd name="adj" fmla="val 7500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5" name="Google Shape;675;p13"/>
            <p:cNvSpPr txBox="1"/>
            <p:nvPr/>
          </p:nvSpPr>
          <p:spPr>
            <a:xfrm>
              <a:off x="952500" y="1762125"/>
              <a:ext cx="4762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 </a:t>
              </a:r>
              <a:r>
                <a:rPr lang="en-US" sz="16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pháp</a:t>
              </a:r>
              <a:r>
                <a:rPr lang="en-US" sz="16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so </a:t>
              </a:r>
              <a:r>
                <a:rPr lang="en-US" sz="16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sánh</a:t>
              </a:r>
              <a:endParaRPr sz="16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Đánh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giá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thực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nghiệm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xấp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xỉ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đối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chiếu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hình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MIP (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giải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bằng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Gurobi).</a:t>
              </a:r>
              <a:endParaRPr sz="14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676" name="Google Shape;676;p13"/>
          <p:cNvGrpSpPr/>
          <p:nvPr/>
        </p:nvGrpSpPr>
        <p:grpSpPr>
          <a:xfrm>
            <a:off x="6238875" y="1333500"/>
            <a:ext cx="5238900" cy="1905000"/>
            <a:chOff x="6238875" y="1333500"/>
            <a:chExt cx="5238900" cy="1905000"/>
          </a:xfrm>
        </p:grpSpPr>
        <p:sp>
          <p:nvSpPr>
            <p:cNvPr id="677" name="Google Shape;677;p13"/>
            <p:cNvSpPr/>
            <p:nvPr/>
          </p:nvSpPr>
          <p:spPr>
            <a:xfrm>
              <a:off x="6238875" y="1333500"/>
              <a:ext cx="5238900" cy="1905000"/>
            </a:xfrm>
            <a:prstGeom prst="roundRect">
              <a:avLst>
                <a:gd name="adj" fmla="val 7500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9" name="Google Shape;679;p13"/>
            <p:cNvSpPr txBox="1"/>
            <p:nvPr/>
          </p:nvSpPr>
          <p:spPr>
            <a:xfrm>
              <a:off x="6477000" y="1762125"/>
              <a:ext cx="4762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chính</a:t>
              </a:r>
              <a:endParaRPr sz="1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Kiểm tra độ tốt nghiệm (approximation quality)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So sánh thời gian chạy thực tế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Đánh giá tính ứng dụng thực tiễn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680" name="Google Shape;680;p13"/>
          <p:cNvGrpSpPr/>
          <p:nvPr/>
        </p:nvGrpSpPr>
        <p:grpSpPr>
          <a:xfrm>
            <a:off x="714375" y="3429047"/>
            <a:ext cx="10763400" cy="3216679"/>
            <a:chOff x="714375" y="3524250"/>
            <a:chExt cx="10763400" cy="2190900"/>
          </a:xfrm>
        </p:grpSpPr>
        <p:sp>
          <p:nvSpPr>
            <p:cNvPr id="681" name="Google Shape;681;p13"/>
            <p:cNvSpPr/>
            <p:nvPr/>
          </p:nvSpPr>
          <p:spPr>
            <a:xfrm>
              <a:off x="714375" y="3524250"/>
              <a:ext cx="10763400" cy="2190900"/>
            </a:xfrm>
            <a:prstGeom prst="roundRect">
              <a:avLst>
                <a:gd name="adj" fmla="val 6521"/>
              </a:avLst>
            </a:prstGeom>
            <a:solidFill>
              <a:srgbClr val="F0F7F2"/>
            </a:solidFill>
            <a:ln w="952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3" name="Google Shape;683;p13"/>
            <p:cNvSpPr txBox="1"/>
            <p:nvPr/>
          </p:nvSpPr>
          <p:spPr>
            <a:xfrm>
              <a:off x="952500" y="3890600"/>
              <a:ext cx="10287000" cy="175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Thành </a:t>
              </a:r>
              <a:r>
                <a:rPr lang="en-US" sz="148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48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Dataset</a:t>
              </a:r>
              <a:endParaRPr sz="148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bộ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dữ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liệu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được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cấu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trúc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chặt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chẽ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bao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gồm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thông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tin:</a:t>
              </a:r>
              <a:endParaRPr sz="148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Depot (Kho)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xuất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phát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kết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thúc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Khách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hàng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(Nodes)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Danh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sách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giao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nhận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Khoảng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cách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Ma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trận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chi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phí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di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chuyển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Ràng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buộc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Điều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kiện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tương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thích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kỹ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4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690" name="Google Shape;690;p1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Google Shape;691;p14"/>
          <p:cNvSpPr txBox="1"/>
          <p:nvPr/>
        </p:nvSpPr>
        <p:spPr>
          <a:xfrm>
            <a:off x="858822" y="1488446"/>
            <a:ext cx="3786073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Có 3 loại dữ liệu: 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	</a:t>
            </a: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 </a:t>
            </a: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(Random): Rời rạc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 (Clustered): Phân cụm 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RC (Random Clustered): vừa phân cụm vừa rời rạc</a:t>
            </a:r>
            <a:endParaRPr sz="2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pic>
        <p:nvPicPr>
          <p:cNvPr id="692" name="Google Shape;692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0457" y="1716706"/>
            <a:ext cx="3010125" cy="3424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3" name="Google Shape;693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64986" y="1729983"/>
            <a:ext cx="2930015" cy="3398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47970" y="3215482"/>
            <a:ext cx="3010864" cy="3002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15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01" name="Google Shape;701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02" name="Google Shape;70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47609" y="1730855"/>
            <a:ext cx="7242377" cy="369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16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09" name="Google Shape;709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0" name="Google Shape;71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47609" y="1730855"/>
            <a:ext cx="7242377" cy="369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17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17" name="Google Shape;717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8" name="Google Shape;71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9099" y="1861919"/>
            <a:ext cx="8973802" cy="3134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4" name="Google Shape;724;p18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5" name="Google Shape;725;p18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p18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18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8" name="Google Shape;728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29" name="Google Shape;729;p18"/>
          <p:cNvGrpSpPr/>
          <p:nvPr/>
        </p:nvGrpSpPr>
        <p:grpSpPr>
          <a:xfrm>
            <a:off x="0" y="0"/>
            <a:ext cx="12192000" cy="1047900"/>
            <a:chOff x="0" y="0"/>
            <a:chExt cx="12192000" cy="1047900"/>
          </a:xfrm>
        </p:grpSpPr>
        <p:sp>
          <p:nvSpPr>
            <p:cNvPr id="730" name="Google Shape;730;p18"/>
            <p:cNvSpPr/>
            <p:nvPr/>
          </p:nvSpPr>
          <p:spPr>
            <a:xfrm>
              <a:off x="0" y="0"/>
              <a:ext cx="12192000" cy="10479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31" name="Google Shape;731;p18"/>
            <p:cNvCxnSpPr/>
            <p:nvPr/>
          </p:nvCxnSpPr>
          <p:spPr>
            <a:xfrm>
              <a:off x="1619250" y="952500"/>
              <a:ext cx="8953500" cy="0"/>
            </a:xfrm>
            <a:prstGeom prst="straightConnector1">
              <a:avLst/>
            </a:prstGeom>
            <a:solidFill>
              <a:srgbClr val="FFFFFF"/>
            </a:solidFill>
            <a:ln w="2857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32" name="Google Shape;732;p18"/>
          <p:cNvSpPr txBox="1">
            <a:spLocks noGrp="1"/>
          </p:cNvSpPr>
          <p:nvPr>
            <p:ph type="title"/>
          </p:nvPr>
        </p:nvSpPr>
        <p:spPr>
          <a:xfrm>
            <a:off x="809625" y="142875"/>
            <a:ext cx="105729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733" name="Google Shape;733;p18"/>
          <p:cNvGrpSpPr/>
          <p:nvPr/>
        </p:nvGrpSpPr>
        <p:grpSpPr>
          <a:xfrm>
            <a:off x="1143000" y="1524000"/>
            <a:ext cx="9906000" cy="3333900"/>
            <a:chOff x="1143000" y="1524000"/>
            <a:chExt cx="9906000" cy="3333900"/>
          </a:xfrm>
        </p:grpSpPr>
        <p:sp>
          <p:nvSpPr>
            <p:cNvPr id="734" name="Google Shape;734;p18"/>
            <p:cNvSpPr/>
            <p:nvPr/>
          </p:nvSpPr>
          <p:spPr>
            <a:xfrm>
              <a:off x="1143000" y="1524000"/>
              <a:ext cx="4572000" cy="3333900"/>
            </a:xfrm>
            <a:prstGeom prst="roundRect">
              <a:avLst>
                <a:gd name="adj" fmla="val 4285"/>
              </a:avLst>
            </a:prstGeom>
            <a:solidFill>
              <a:srgbClr val="E8F5E9"/>
            </a:solidFill>
            <a:ln w="9525" cap="flat" cmpd="sng">
              <a:solidFill>
                <a:srgbClr val="A5D6A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5" name="Google Shape;735;p18"/>
            <p:cNvSpPr txBox="1"/>
            <p:nvPr/>
          </p:nvSpPr>
          <p:spPr>
            <a:xfrm>
              <a:off x="1333500" y="171450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MIP</a:t>
              </a:r>
              <a:endParaRPr sz="2000" b="1">
                <a:solidFill>
                  <a:srgbClr val="2E7D3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6" name="Google Shape;736;p18"/>
            <p:cNvSpPr txBox="1"/>
            <p:nvPr/>
          </p:nvSpPr>
          <p:spPr>
            <a:xfrm>
              <a:off x="1333500" y="2190750"/>
              <a:ext cx="4191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Cho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nghiệm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hoặc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lớn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instance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nhỏ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vừa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Cận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dưới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cận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trên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như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trùng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nhau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Độ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chính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xác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cao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nhưng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chạy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tăng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mạnh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kích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thước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lớn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7" name="Google Shape;737;p18"/>
            <p:cNvSpPr/>
            <p:nvPr/>
          </p:nvSpPr>
          <p:spPr>
            <a:xfrm>
              <a:off x="6477000" y="1524000"/>
              <a:ext cx="4572000" cy="3333900"/>
            </a:xfrm>
            <a:prstGeom prst="roundRect">
              <a:avLst>
                <a:gd name="adj" fmla="val 4285"/>
              </a:avLst>
            </a:prstGeom>
            <a:solidFill>
              <a:srgbClr val="FFF3E0"/>
            </a:solidFill>
            <a:ln w="9525" cap="flat" cmpd="sng">
              <a:solidFill>
                <a:srgbClr val="FFCC8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8" name="Google Shape;738;p18"/>
            <p:cNvSpPr txBox="1"/>
            <p:nvPr/>
          </p:nvSpPr>
          <p:spPr>
            <a:xfrm>
              <a:off x="6667500" y="171450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EF6C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 toán Xấp xỉ</a:t>
              </a:r>
              <a:endParaRPr sz="2000" b="1">
                <a:solidFill>
                  <a:srgbClr val="EF6C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9" name="Google Shape;739;p18"/>
            <p:cNvSpPr txBox="1"/>
            <p:nvPr/>
          </p:nvSpPr>
          <p:spPr>
            <a:xfrm>
              <a:off x="6667500" y="2190750"/>
              <a:ext cx="4191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Luôn tìm được nghiệm khả thi trong </a:t>
              </a:r>
              <a:r>
                <a:rPr lang="en-US" sz="15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 gian rất ngắn</a:t>
              </a: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Thể hiện ưu thế vượt trội về tốc độ khi kích thước bài toán tăng lên.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Đưa ra lời giải ngay cả trong những trường hợp MIP không thu được kết quả.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740" name="Google Shape;740;p18"/>
          <p:cNvGrpSpPr/>
          <p:nvPr/>
        </p:nvGrpSpPr>
        <p:grpSpPr>
          <a:xfrm>
            <a:off x="1143000" y="5048250"/>
            <a:ext cx="9906000" cy="952500"/>
            <a:chOff x="1143000" y="5048250"/>
            <a:chExt cx="9906000" cy="952500"/>
          </a:xfrm>
        </p:grpSpPr>
        <p:sp>
          <p:nvSpPr>
            <p:cNvPr id="741" name="Google Shape;741;p18"/>
            <p:cNvSpPr/>
            <p:nvPr/>
          </p:nvSpPr>
          <p:spPr>
            <a:xfrm>
              <a:off x="1143000" y="5048250"/>
              <a:ext cx="9906000" cy="952500"/>
            </a:xfrm>
            <a:prstGeom prst="roundRect">
              <a:avLst>
                <a:gd name="adj" fmla="val 10000"/>
              </a:avLst>
            </a:prstGeom>
            <a:solidFill>
              <a:srgbClr val="F0F4F8"/>
            </a:solidFill>
            <a:ln w="9525" cap="flat" cmpd="sng">
              <a:solidFill>
                <a:srgbClr val="CFD8D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42" name="Google Shape;742;p18"/>
            <p:cNvSpPr txBox="1"/>
            <p:nvPr/>
          </p:nvSpPr>
          <p:spPr>
            <a:xfrm>
              <a:off x="1333500" y="5191125"/>
              <a:ext cx="9525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i="1">
                  <a:solidFill>
                    <a:srgbClr val="455A6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Kết luận: Thuật toán xấp xỉ mang lại tính thực tiễn cao nhờ tốc độ xử lý nhanh và khả năng giải quyết các bài toán quy mô lớn.</a:t>
              </a:r>
              <a:endParaRPr sz="1600" i="1">
                <a:solidFill>
                  <a:srgbClr val="455A6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Google Shape;749;p19"/>
          <p:cNvSpPr txBox="1"/>
          <p:nvPr/>
        </p:nvSpPr>
        <p:spPr>
          <a:xfrm>
            <a:off x="4744599" y="3105834"/>
            <a:ext cx="270280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008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Thank you 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1736</Words>
  <Application>Microsoft Macintosh PowerPoint</Application>
  <PresentationFormat>Widescreen</PresentationFormat>
  <Paragraphs>207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Calibri</vt:lpstr>
      <vt:lpstr>Inter</vt:lpstr>
      <vt:lpstr>Noto Sans Symbols</vt:lpstr>
      <vt:lpstr>Quattrocento Sans</vt:lpstr>
      <vt:lpstr>Times New Roman</vt:lpstr>
      <vt:lpstr>Theme1</vt:lpstr>
      <vt:lpstr>Theme1</vt:lpstr>
      <vt:lpstr>Theme1</vt:lpstr>
      <vt:lpstr>Bài Toán Định Tuyến Nhiều Phương Tiện Với Ràng Buộc Tương Thích (VRPCC)</vt:lpstr>
      <vt:lpstr>1. GIỚI THIỆU VRP</vt:lpstr>
      <vt:lpstr>1. GIỚI THIỆU VRP</vt:lpstr>
      <vt:lpstr>1. GIỚI THIỆU VRP</vt:lpstr>
      <vt:lpstr>1. GIỚI THIỆU VRP</vt:lpstr>
      <vt:lpstr>PowerPoint Presentation</vt:lpstr>
      <vt:lpstr>MỘT SỐ BÀI TOÁN LIÊN QUAN</vt:lpstr>
      <vt:lpstr>MỘT SỐ BÀI TOÁN LIÊN QUAN </vt:lpstr>
      <vt:lpstr>2. VRPCC VỚI RÀNG BUỘC TƯƠNG THÍCH</vt:lpstr>
      <vt:lpstr>2. VRPCC VỚI RÀNG BUỘC TƯƠNG THÍCH</vt:lpstr>
      <vt:lpstr>PowerPoint Presentation</vt:lpstr>
      <vt:lpstr>PowerPoint Presentation</vt:lpstr>
      <vt:lpstr>3. THUẬT TOÁN ĐỀ XUẤT</vt:lpstr>
      <vt:lpstr>3. THUẬT TOÁN ĐỀ XUẤT</vt:lpstr>
      <vt:lpstr>3. THUẬT TOÁN ĐỀ XUẤT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Lisa Zheng;Canh V. Pham</dc:creator>
  <cp:lastModifiedBy>NGUYỄN ĐÌNH TUẤN</cp:lastModifiedBy>
  <cp:revision>8</cp:revision>
  <dcterms:created xsi:type="dcterms:W3CDTF">2011-01-16T18:42:29Z</dcterms:created>
  <dcterms:modified xsi:type="dcterms:W3CDTF">2026-05-31T15:37:52Z</dcterms:modified>
</cp:coreProperties>
</file>